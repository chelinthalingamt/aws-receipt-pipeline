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3.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4.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5.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6.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3260a79a-b4d6-7cbb-45eb-f71a0ca2fce0}">
          <p14:sldIdLst>
            <p14:sldId id="256"/>
            <p14:sldId id="257"/>
            <p14:sldId id="258"/>
            <p14:sldId id="259"/>
          </p14:sldIdLst>
        </p14:section>
        <p14:section name="How it works" id="{b870c838-834d-e97d-9cec-55472adb542c}">
          <p14:sldIdLst>
            <p14:sldId id="260"/>
            <p14:sldId id="261"/>
          </p14:sldIdLst>
        </p14:section>
        <p14:section name="Results" id="{bc9d9e2c-a573-2de1-8284-9966543b3d74}">
          <p14:sldIdLst>
            <p14:sldId id="262"/>
            <p14:sldId id="263"/>
            <p14:sldId id="264"/>
            <p14:sldId id="265"/>
            <p14:sldId id="266"/>
            <p14:sldId id="267"/>
            <p14:sldId id="268"/>
            <p14:sldId id="269"/>
          </p14:sldIdLst>
        </p14:section>
        <p14:section name="Wrap-up" id="{b6d63a60-0104-21f7-fbde-131151dd7880}">
          <p14:sldIdLst>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Correct (%)</c:v>
                </c:pt>
              </c:strCache>
            </c:strRef>
          </c:tx>
          <c:spPr>
            <a:solidFill>
              <a:srgbClr val="1B7F79"/>
            </a:solidFill>
            <a:effectLst/>
          </c:spPr>
          <c:invertIfNegative val="0"/>
          <c:dLbls>
            <c:numFmt formatCode="0.0" sourceLinked="0"/>
            <c:txPr>
              <a:bodyPr/>
              <a:lstStyle/>
              <a:p>
                <a:pPr>
                  <a:defRPr b="0" i="0" strike="noStrike" sz="1200" u="none">
                    <a:solidFill>
                      <a:srgbClr val="14252B"/>
                    </a:solidFill>
                    <a:latin typeface="Arial"/>
                  </a:defRPr>
                </a:pPr>
              </a:p>
            </c:txPr>
            <c:showLegendKey val="0"/>
            <c:showVal val="1"/>
            <c:showCatName val="0"/>
            <c:showSerName val="0"/>
            <c:showPercent val="0"/>
            <c:showBubbleSize val="0"/>
            <c:showLeaderLines val="0"/>
          </c:dLbls>
          <c:cat>
            <c:multiLvlStrRef>
              <c:f>Sheet1!$A$2:$A$5</c:f>
              <c:multiLvlStrCache>
                <c:ptCount val="4"/>
                <c:lvl>
                  <c:pt idx="0">
                    <c:v>Vendor</c:v>
                  </c:pt>
                  <c:pt idx="1">
                    <c:v>Total</c:v>
                  </c:pt>
                  <c:pt idx="2">
                    <c:v>Date</c:v>
                  </c:pt>
                  <c:pt idx="3">
                    <c:v>All three</c:v>
                  </c:pt>
                </c:lvl>
              </c:multiLvlStrCache>
            </c:multiLvlStrRef>
          </c:cat>
          <c:val>
            <c:numRef>
              <c:f>Sheet1!$B$2:$B$5</c:f>
              <c:numCache>
                <c:formatCode>General</c:formatCode>
                <c:ptCount val="4"/>
                <c:pt idx="0">
                  <c:v>90.7</c:v>
                </c:pt>
                <c:pt idx="1">
                  <c:v>89.6</c:v>
                </c:pt>
                <c:pt idx="2">
                  <c:v>98.6</c:v>
                </c:pt>
                <c:pt idx="3">
                  <c:v>81.3</c:v>
                </c:pt>
              </c:numCache>
            </c:numRef>
          </c:val>
        </c:ser>
        <c:dLbls>
          <c:numFmt formatCode="0.0" sourceLinked="0"/>
          <c:txPr>
            <a:bodyPr/>
            <a:lstStyle/>
            <a:p>
              <a:pPr>
                <a:defRPr b="0" i="0" strike="noStrike" sz="1200" u="none">
                  <a:solidFill>
                    <a:srgbClr val="14252B"/>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4252B"/>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DDE6E3"/>
              </a:solidFill>
              <a:prstDash val="solid"/>
              <a:round/>
            </a:ln>
          </c:spPr>
        </c:majorGridlines>
        <c:title>
          <c:tx>
            <c:rich>
              <a:bodyPr/>
              <a:lstStyle/>
              <a:p>
                <a:pPr>
                  <a:defRPr sz="1200" b="0" i="0" u="none" strike="noStrike">
                    <a:solidFill>
                      <a:srgbClr val="000000"/>
                    </a:solidFill>
                    <a:latin typeface="Arial"/>
                  </a:defRPr>
                </a:pPr>
                <a:r>
                  <a:rPr sz="1200" b="0" i="0" u="none" strike="noStrike">
                    <a:solidFill>
                      <a:srgbClr val="000000"/>
                    </a:solidFill>
                    <a:latin typeface="Arial"/>
                  </a:rPr>
                  <a:t>% correct, 626 receipts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B73"/>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Load at start-up (kept)</c:v>
                </c:pt>
              </c:strCache>
            </c:strRef>
          </c:tx>
          <c:spPr>
            <a:solidFill>
              <a:srgbClr val="1B7F79"/>
            </a:solidFill>
            <a:effectLst/>
          </c:spPr>
          <c:invertIfNegative val="0"/>
          <c:dLbls>
            <c:numFmt formatCode="0.00" sourceLinked="0"/>
            <c:txPr>
              <a:bodyPr/>
              <a:lstStyle/>
              <a:p>
                <a:pPr>
                  <a:defRPr b="0" i="0" strike="noStrike" sz="1200" u="none">
                    <a:solidFill>
                      <a:srgbClr val="14252B"/>
                    </a:solidFill>
                    <a:latin typeface="Arial"/>
                  </a:defRPr>
                </a:pPr>
              </a:p>
            </c:txPr>
            <c:showLegendKey val="0"/>
            <c:showVal val="1"/>
            <c:showCatName val="0"/>
            <c:showSerName val="0"/>
            <c:showPercent val="0"/>
            <c:showBubbleSize val="0"/>
            <c:showLeaderLines val="0"/>
          </c:dLbls>
          <c:cat>
            <c:multiLvlStrRef>
              <c:f>Sheet1!$A$2:$A$3</c:f>
              <c:multiLvlStrCache>
                <c:ptCount val="2"/>
                <c:lvl>
                  <c:pt idx="0">
                    <c:v>PDF</c:v>
                  </c:pt>
                  <c:pt idx="1">
                    <c:v>Photo</c:v>
                  </c:pt>
                </c:lvl>
              </c:multiLvlStrCache>
            </c:multiLvlStrRef>
          </c:cat>
          <c:val>
            <c:numRef>
              <c:f>Sheet1!$B$2:$B$3</c:f>
              <c:numCache>
                <c:formatCode>General</c:formatCode>
                <c:ptCount val="2"/>
                <c:pt idx="0">
                  <c:v>1.101</c:v>
                </c:pt>
                <c:pt idx="1">
                  <c:v>1.562</c:v>
                </c:pt>
              </c:numCache>
            </c:numRef>
          </c:val>
        </c:ser>
        <c:ser>
          <c:idx val="1"/>
          <c:order val="1"/>
          <c:tx>
            <c:strRef>
              <c:f>Sheet1!$C$1</c:f>
              <c:strCache>
                <c:ptCount val="1"/>
                <c:pt idx="0">
                  <c:v>Load on first use (tried)</c:v>
                </c:pt>
              </c:strCache>
            </c:strRef>
          </c:tx>
          <c:spPr>
            <a:solidFill>
              <a:srgbClr val="E8892B"/>
            </a:solidFill>
            <a:effectLst/>
          </c:spPr>
          <c:invertIfNegative val="0"/>
          <c:dLbls>
            <c:numFmt formatCode="0.00" sourceLinked="0"/>
            <c:txPr>
              <a:bodyPr/>
              <a:lstStyle/>
              <a:p>
                <a:pPr>
                  <a:defRPr b="0" i="0" strike="noStrike" sz="1200" u="none">
                    <a:solidFill>
                      <a:srgbClr val="14252B"/>
                    </a:solidFill>
                    <a:latin typeface="Arial"/>
                  </a:defRPr>
                </a:pPr>
              </a:p>
            </c:txPr>
            <c:showLegendKey val="0"/>
            <c:showVal val="1"/>
            <c:showCatName val="0"/>
            <c:showSerName val="0"/>
            <c:showPercent val="0"/>
            <c:showBubbleSize val="0"/>
            <c:showLeaderLines val="0"/>
          </c:dLbls>
          <c:cat>
            <c:multiLvlStrRef>
              <c:f>Sheet1!$A$2:$A$3</c:f>
              <c:multiLvlStrCache>
                <c:ptCount val="2"/>
                <c:lvl>
                  <c:pt idx="0">
                    <c:v>PDF</c:v>
                  </c:pt>
                  <c:pt idx="1">
                    <c:v>Photo</c:v>
                  </c:pt>
                </c:lvl>
              </c:multiLvlStrCache>
            </c:multiLvlStrRef>
          </c:cat>
          <c:val>
            <c:numRef>
              <c:f>Sheet1!$C$2:$C$3</c:f>
              <c:numCache>
                <c:formatCode>General</c:formatCode>
                <c:ptCount val="2"/>
                <c:pt idx="0">
                  <c:v>4.161</c:v>
                </c:pt>
                <c:pt idx="1">
                  <c:v>2.03</c:v>
                </c:pt>
              </c:numCache>
            </c:numRef>
          </c:val>
        </c:ser>
        <c:dLbls>
          <c:numFmt formatCode="0.00" sourceLinked="0"/>
          <c:txPr>
            <a:bodyPr/>
            <a:lstStyle/>
            <a:p>
              <a:pPr>
                <a:defRPr b="0" i="0" strike="noStrike" sz="1200" u="none">
                  <a:solidFill>
                    <a:srgbClr val="14252B"/>
                  </a:solidFill>
                  <a:latin typeface="Arial"/>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4252B"/>
                </a:solidFill>
                <a:latin typeface="Arial"/>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DDE6E3"/>
              </a:solidFill>
              <a:prstDash val="solid"/>
              <a:round/>
            </a:ln>
          </c:spPr>
        </c:majorGridlines>
        <c:title>
          <c:tx>
            <c:rich>
              <a:bodyPr/>
              <a:lstStyle/>
              <a:p>
                <a:pPr>
                  <a:defRPr sz="1200" b="0" i="0" u="none" strike="noStrike">
                    <a:solidFill>
                      <a:srgbClr val="000000"/>
                    </a:solidFill>
                    <a:latin typeface="Arial"/>
                  </a:defRPr>
                </a:pPr>
                <a:r>
                  <a:rPr sz="1200" b="0" i="0" u="none" strike="noStrike">
                    <a:solidFill>
                      <a:srgbClr val="000000"/>
                    </a:solidFill>
                    <a:latin typeface="Arial"/>
                  </a:rPr>
                  <a:t>Seconds, first receipt after a cold start</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B73"/>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300">
              <a:solidFill>
                <a:srgbClr val="14252B"/>
              </a:solidFil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Intel (x86)</c:v>
                </c:pt>
              </c:strCache>
            </c:strRef>
          </c:tx>
          <c:spPr>
            <a:solidFill>
              <a:srgbClr val="5B6B73"/>
            </a:solidFill>
            <a:ln w="38100" cap="flat">
              <a:solidFill>
                <a:srgbClr val="5B6B73"/>
              </a:solidFill>
              <a:prstDash val="solid"/>
              <a:round/>
            </a:ln>
            <a:effectLst/>
          </c:spPr>
          <c:invertIfNegative val="0"/>
          <c:dLbls>
            <c:numFmt formatCode="#,##0" sourceLinked="0"/>
            <c:txPr>
              <a:bodyPr/>
              <a:lstStyle/>
              <a:p>
                <a:pPr>
                  <a:defRPr b="0" i="0" strike="noStrike" sz="1200" u="none">
                    <a:solidFill>
                      <a:srgbClr val="14252B"/>
                    </a:solidFill>
                    <a:latin typeface="Arial"/>
                  </a:defRPr>
                </a:pPr>
              </a:p>
            </c:txPr>
            <c:showLegendKey val="0"/>
            <c:showVal val="0"/>
            <c:showCatName val="0"/>
            <c:showSerName val="0"/>
            <c:showPercent val="0"/>
            <c:showBubbleSize val="0"/>
            <c:showLeaderLines val="0"/>
          </c:dLbls>
          <c:marker>
            <c:symbol val="circle"/>
            <c:size val="9"/>
            <c:spPr>
              <a:solidFill>
                <a:srgbClr val="5B6B73"/>
              </a:solidFill>
              <a:ln w="9525" cap="flat">
                <a:solidFill>
                  <a:srgbClr val="5B6B73"/>
                </a:solidFill>
                <a:prstDash val="solid"/>
                <a:round/>
              </a:ln>
              <a:effectLst/>
            </c:spPr>
          </c:marker>
          <c:cat>
            <c:multiLvlStrRef>
              <c:f>Sheet1!$A$2:$A$6</c:f>
              <c:multiLvlStrCache>
                <c:ptCount val="5"/>
                <c:lvl>
                  <c:pt idx="0">
                    <c:v>128 MB</c:v>
                  </c:pt>
                  <c:pt idx="1">
                    <c:v>256 MB</c:v>
                  </c:pt>
                  <c:pt idx="2">
                    <c:v>512 MB</c:v>
                  </c:pt>
                  <c:pt idx="3">
                    <c:v>1024 MB</c:v>
                  </c:pt>
                  <c:pt idx="4">
                    <c:v>2048 MB</c:v>
                  </c:pt>
                </c:lvl>
              </c:multiLvlStrCache>
            </c:multiLvlStrRef>
          </c:cat>
          <c:val>
            <c:numRef>
              <c:f>Sheet1!$B$2:$B$6</c:f>
              <c:numCache>
                <c:formatCode>General</c:formatCode>
                <c:ptCount val="5"/>
                <c:pt idx="0">
                  <c:v>292.8</c:v>
                </c:pt>
                <c:pt idx="1">
                  <c:v>196.3</c:v>
                </c:pt>
                <c:pt idx="2">
                  <c:v>169.8</c:v>
                </c:pt>
                <c:pt idx="3">
                  <c:v>149.9</c:v>
                </c:pt>
                <c:pt idx="4">
                  <c:v>151.7</c:v>
                </c:pt>
              </c:numCache>
            </c:numRef>
          </c:val>
          <c:smooth val="0"/>
        </c:ser>
        <c:ser>
          <c:idx val="1"/>
          <c:order val="1"/>
          <c:tx>
            <c:strRef>
              <c:f>Sheet1!$C$1</c:f>
              <c:strCache>
                <c:ptCount val="1"/>
                <c:pt idx="0">
                  <c:v>ARM (Graviton)</c:v>
                </c:pt>
              </c:strCache>
            </c:strRef>
          </c:tx>
          <c:spPr>
            <a:solidFill>
              <a:srgbClr val="1B7F79"/>
            </a:solidFill>
            <a:ln w="38100" cap="flat">
              <a:solidFill>
                <a:srgbClr val="1B7F79"/>
              </a:solidFill>
              <a:prstDash val="solid"/>
              <a:round/>
            </a:ln>
            <a:effectLst/>
          </c:spPr>
          <c:invertIfNegative val="0"/>
          <c:dLbls>
            <c:numFmt formatCode="#,##0" sourceLinked="0"/>
            <c:txPr>
              <a:bodyPr/>
              <a:lstStyle/>
              <a:p>
                <a:pPr>
                  <a:defRPr b="0" i="0" strike="noStrike" sz="1200" u="none">
                    <a:solidFill>
                      <a:srgbClr val="14252B"/>
                    </a:solidFill>
                    <a:latin typeface="Arial"/>
                  </a:defRPr>
                </a:pPr>
              </a:p>
            </c:txPr>
            <c:showLegendKey val="0"/>
            <c:showVal val="0"/>
            <c:showCatName val="0"/>
            <c:showSerName val="0"/>
            <c:showPercent val="0"/>
            <c:showBubbleSize val="0"/>
            <c:showLeaderLines val="0"/>
          </c:dLbls>
          <c:marker>
            <c:symbol val="circle"/>
            <c:size val="9"/>
            <c:spPr>
              <a:solidFill>
                <a:srgbClr val="1B7F79"/>
              </a:solidFill>
              <a:ln w="9525" cap="flat">
                <a:solidFill>
                  <a:srgbClr val="1B7F79"/>
                </a:solidFill>
                <a:prstDash val="solid"/>
                <a:round/>
              </a:ln>
              <a:effectLst/>
            </c:spPr>
          </c:marker>
          <c:cat>
            <c:multiLvlStrRef>
              <c:f>Sheet1!$A$2:$A$6</c:f>
              <c:multiLvlStrCache>
                <c:ptCount val="5"/>
                <c:lvl>
                  <c:pt idx="0">
                    <c:v>128 MB</c:v>
                  </c:pt>
                  <c:pt idx="1">
                    <c:v>256 MB</c:v>
                  </c:pt>
                  <c:pt idx="2">
                    <c:v>512 MB</c:v>
                  </c:pt>
                  <c:pt idx="3">
                    <c:v>1024 MB</c:v>
                  </c:pt>
                  <c:pt idx="4">
                    <c:v>2048 MB</c:v>
                  </c:pt>
                </c:lvl>
              </c:multiLvlStrCache>
            </c:multiLvlStrRef>
          </c:cat>
          <c:val>
            <c:numRef>
              <c:f>Sheet1!$C$2:$C$6</c:f>
              <c:numCache>
                <c:formatCode>General</c:formatCode>
                <c:ptCount val="5"/>
                <c:pt idx="0">
                  <c:v>312</c:v>
                </c:pt>
                <c:pt idx="1">
                  <c:v>203.1</c:v>
                </c:pt>
                <c:pt idx="2">
                  <c:v>153.9</c:v>
                </c:pt>
                <c:pt idx="3">
                  <c:v>146.2</c:v>
                </c:pt>
                <c:pt idx="4">
                  <c:v>148.5</c:v>
                </c:pt>
              </c:numCache>
            </c:numRef>
          </c:val>
          <c:smooth val="0"/>
        </c:ser>
        <c:dLbls>
          <c:numFmt formatCode="#,##0" sourceLinked="0"/>
          <c:txPr>
            <a:bodyPr/>
            <a:lstStyle/>
            <a:p>
              <a:pPr>
                <a:defRPr b="0" i="0" strike="noStrike" sz="1200" u="none">
                  <a:solidFill>
                    <a:srgbClr val="14252B"/>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4252B"/>
                </a:solidFill>
                <a:latin typeface="Arial"/>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DDE6E3"/>
              </a:solidFill>
              <a:prstDash val="solid"/>
              <a:round/>
            </a:ln>
          </c:spPr>
        </c:majorGridlines>
        <c:title>
          <c:tx>
            <c:rich>
              <a:bodyPr/>
              <a:lstStyle/>
              <a:p>
                <a:pPr>
                  <a:defRPr sz="1200" b="0" i="0" u="none" strike="noStrike">
                    <a:solidFill>
                      <a:srgbClr val="000000"/>
                    </a:solidFill>
                    <a:latin typeface="Arial"/>
                  </a:defRPr>
                </a:pPr>
                <a:r>
                  <a:rPr sz="1200" b="0" i="0" u="none" strike="noStrike">
                    <a:solidFill>
                      <a:srgbClr val="000000"/>
                    </a:solidFill>
                    <a:latin typeface="Arial"/>
                  </a:rPr>
                  <a:t>Warm run time (ms)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B73"/>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300">
              <a:solidFill>
                <a:srgbClr val="14252B"/>
              </a:solidFill>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Median</c:v>
                </c:pt>
              </c:strCache>
            </c:strRef>
          </c:tx>
          <c:spPr>
            <a:solidFill>
              <a:srgbClr val="1B7F79"/>
            </a:solidFill>
            <a:effectLst/>
          </c:spPr>
          <c:invertIfNegative val="0"/>
          <c:dLbls>
            <c:numFmt formatCode="0.0" sourceLinked="0"/>
            <c:txPr>
              <a:bodyPr/>
              <a:lstStyle/>
              <a:p>
                <a:pPr>
                  <a:defRPr b="0" i="0" strike="noStrike" sz="1200" u="none">
                    <a:solidFill>
                      <a:srgbClr val="14252B"/>
                    </a:solidFill>
                    <a:latin typeface="Arial"/>
                  </a:defRPr>
                </a:pPr>
              </a:p>
            </c:txPr>
            <c:showLegendKey val="0"/>
            <c:showVal val="1"/>
            <c:showCatName val="0"/>
            <c:showSerName val="0"/>
            <c:showPercent val="0"/>
            <c:showBubbleSize val="0"/>
            <c:showLeaderLines val="0"/>
          </c:dLbls>
          <c:cat>
            <c:multiLvlStrRef>
              <c:f>Sheet1!$A$2:$A$4</c:f>
              <c:multiLvlStrCache>
                <c:ptCount val="3"/>
                <c:lvl>
                  <c:pt idx="0">
                    <c:v>Lambda</c:v>
                  </c:pt>
                  <c:pt idx="1">
                    <c:v>EC2, check every 2 s</c:v>
                  </c:pt>
                  <c:pt idx="2">
                    <c:v>EC2, check every 10 s</c:v>
                  </c:pt>
                </c:lvl>
              </c:multiLvlStrCache>
            </c:multiLvlStrRef>
          </c:cat>
          <c:val>
            <c:numRef>
              <c:f>Sheet1!$B$2:$B$4</c:f>
              <c:numCache>
                <c:formatCode>General</c:formatCode>
                <c:ptCount val="3"/>
                <c:pt idx="0">
                  <c:v>0.994</c:v>
                </c:pt>
                <c:pt idx="1">
                  <c:v>0.942</c:v>
                </c:pt>
                <c:pt idx="2">
                  <c:v>6.158</c:v>
                </c:pt>
              </c:numCache>
            </c:numRef>
          </c:val>
        </c:ser>
        <c:ser>
          <c:idx val="1"/>
          <c:order val="1"/>
          <c:tx>
            <c:strRef>
              <c:f>Sheet1!$C$1</c:f>
              <c:strCache>
                <c:ptCount val="1"/>
                <c:pt idx="0">
                  <c:v>95th percentile</c:v>
                </c:pt>
              </c:strCache>
            </c:strRef>
          </c:tx>
          <c:spPr>
            <a:solidFill>
              <a:srgbClr val="E8892B"/>
            </a:solidFill>
            <a:effectLst/>
          </c:spPr>
          <c:invertIfNegative val="0"/>
          <c:dLbls>
            <c:numFmt formatCode="0.0" sourceLinked="0"/>
            <c:txPr>
              <a:bodyPr/>
              <a:lstStyle/>
              <a:p>
                <a:pPr>
                  <a:defRPr b="0" i="0" strike="noStrike" sz="1200" u="none">
                    <a:solidFill>
                      <a:srgbClr val="14252B"/>
                    </a:solidFill>
                    <a:latin typeface="Arial"/>
                  </a:defRPr>
                </a:pPr>
              </a:p>
            </c:txPr>
            <c:showLegendKey val="0"/>
            <c:showVal val="1"/>
            <c:showCatName val="0"/>
            <c:showSerName val="0"/>
            <c:showPercent val="0"/>
            <c:showBubbleSize val="0"/>
            <c:showLeaderLines val="0"/>
          </c:dLbls>
          <c:cat>
            <c:multiLvlStrRef>
              <c:f>Sheet1!$A$2:$A$4</c:f>
              <c:multiLvlStrCache>
                <c:ptCount val="3"/>
                <c:lvl>
                  <c:pt idx="0">
                    <c:v>Lambda</c:v>
                  </c:pt>
                  <c:pt idx="1">
                    <c:v>EC2, check every 2 s</c:v>
                  </c:pt>
                  <c:pt idx="2">
                    <c:v>EC2, check every 10 s</c:v>
                  </c:pt>
                </c:lvl>
              </c:multiLvlStrCache>
            </c:multiLvlStrRef>
          </c:cat>
          <c:val>
            <c:numRef>
              <c:f>Sheet1!$C$2:$C$4</c:f>
              <c:numCache>
                <c:formatCode>General</c:formatCode>
                <c:ptCount val="3"/>
                <c:pt idx="0">
                  <c:v>1.398</c:v>
                </c:pt>
                <c:pt idx="1">
                  <c:v>1.92</c:v>
                </c:pt>
                <c:pt idx="2">
                  <c:v>10.443</c:v>
                </c:pt>
              </c:numCache>
            </c:numRef>
          </c:val>
        </c:ser>
        <c:dLbls>
          <c:numFmt formatCode="0.0" sourceLinked="0"/>
          <c:txPr>
            <a:bodyPr/>
            <a:lstStyle/>
            <a:p>
              <a:pPr>
                <a:defRPr b="0" i="0" strike="noStrike" sz="1200" u="none">
                  <a:solidFill>
                    <a:srgbClr val="14252B"/>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4252B"/>
                </a:solidFill>
                <a:latin typeface="Arial"/>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DDE6E3"/>
              </a:solidFill>
              <a:prstDash val="solid"/>
              <a:round/>
            </a:ln>
          </c:spPr>
        </c:majorGridlines>
        <c:title>
          <c:tx>
            <c:rich>
              <a:bodyPr/>
              <a:lstStyle/>
              <a:p>
                <a:pPr>
                  <a:defRPr sz="1200" b="0" i="0" u="none" strike="noStrike">
                    <a:solidFill>
                      <a:srgbClr val="000000"/>
                    </a:solidFill>
                    <a:latin typeface="Arial"/>
                  </a:defRPr>
                </a:pPr>
                <a:r>
                  <a:rPr sz="1200" b="0" i="0" u="none" strike="noStrike">
                    <a:solidFill>
                      <a:srgbClr val="000000"/>
                    </a:solidFill>
                    <a:latin typeface="Arial"/>
                  </a:rPr>
                  <a:t>Seconds from upload to saved</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B73"/>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300">
              <a:solidFill>
                <a:srgbClr val="14252B"/>
              </a:solidFill>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Lambda</c:v>
                </c:pt>
              </c:strCache>
            </c:strRef>
          </c:tx>
          <c:spPr>
            <a:solidFill>
              <a:srgbClr val="1B7F79"/>
            </a:solidFill>
            <a:ln w="38100" cap="flat">
              <a:solidFill>
                <a:srgbClr val="1B7F79"/>
              </a:solidFill>
              <a:prstDash val="solid"/>
              <a:round/>
            </a:ln>
            <a:effectLst/>
          </c:spPr>
          <c:invertIfNegative val="0"/>
          <c:dLbls>
            <c:numFmt formatCode="#,##0" sourceLinked="0"/>
            <c:txPr>
              <a:bodyPr/>
              <a:lstStyle/>
              <a:p>
                <a:pPr>
                  <a:defRPr b="0" i="0" strike="noStrike" sz="1200" u="none">
                    <a:solidFill>
                      <a:srgbClr val="14252B"/>
                    </a:solidFill>
                    <a:latin typeface="Arial"/>
                  </a:defRPr>
                </a:pPr>
              </a:p>
            </c:txPr>
            <c:showLegendKey val="0"/>
            <c:showVal val="0"/>
            <c:showCatName val="0"/>
            <c:showSerName val="0"/>
            <c:showPercent val="0"/>
            <c:showBubbleSize val="0"/>
            <c:showLeaderLines val="0"/>
          </c:dLbls>
          <c:marker>
            <c:symbol val="none"/>
            <c:size val="6"/>
            <c:spPr>
              <a:solidFill>
                <a:srgbClr val="1B7F79"/>
              </a:solidFill>
              <a:ln w="9525" cap="flat">
                <a:solidFill>
                  <a:srgbClr val="1B7F79"/>
                </a:solidFill>
                <a:prstDash val="solid"/>
                <a:round/>
              </a:ln>
              <a:effectLst/>
            </c:spPr>
          </c:marker>
          <c:cat>
            <c:multiLvlStrRef>
              <c:f>Sheet1!$A$2:$A$62</c:f>
              <c:multiLvlStrCache>
                <c:ptCount val="61"/>
                <c:lvl>
                  <c:pt idx="0">
                    <c:v>0</c:v>
                  </c:pt>
                  <c:pt idx="1">
                    <c:v/>
                  </c:pt>
                  <c:pt idx="2">
                    <c:v/>
                  </c:pt>
                  <c:pt idx="3">
                    <c:v/>
                  </c:pt>
                  <c:pt idx="4">
                    <c:v/>
                  </c:pt>
                  <c:pt idx="5">
                    <c:v/>
                  </c:pt>
                  <c:pt idx="6">
                    <c:v/>
                  </c:pt>
                  <c:pt idx="7">
                    <c:v/>
                  </c:pt>
                  <c:pt idx="8">
                    <c:v/>
                  </c:pt>
                  <c:pt idx="9">
                    <c:v/>
                  </c:pt>
                  <c:pt idx="10">
                    <c:v>5</c:v>
                  </c:pt>
                  <c:pt idx="11">
                    <c:v/>
                  </c:pt>
                  <c:pt idx="12">
                    <c:v/>
                  </c:pt>
                  <c:pt idx="13">
                    <c:v/>
                  </c:pt>
                  <c:pt idx="14">
                    <c:v/>
                  </c:pt>
                  <c:pt idx="15">
                    <c:v/>
                  </c:pt>
                  <c:pt idx="16">
                    <c:v/>
                  </c:pt>
                  <c:pt idx="17">
                    <c:v/>
                  </c:pt>
                  <c:pt idx="18">
                    <c:v/>
                  </c:pt>
                  <c:pt idx="19">
                    <c:v/>
                  </c:pt>
                  <c:pt idx="20">
                    <c:v>10</c:v>
                  </c:pt>
                  <c:pt idx="21">
                    <c:v/>
                  </c:pt>
                  <c:pt idx="22">
                    <c:v/>
                  </c:pt>
                  <c:pt idx="23">
                    <c:v/>
                  </c:pt>
                  <c:pt idx="24">
                    <c:v/>
                  </c:pt>
                  <c:pt idx="25">
                    <c:v/>
                  </c:pt>
                  <c:pt idx="26">
                    <c:v/>
                  </c:pt>
                  <c:pt idx="27">
                    <c:v/>
                  </c:pt>
                  <c:pt idx="28">
                    <c:v/>
                  </c:pt>
                  <c:pt idx="29">
                    <c:v/>
                  </c:pt>
                  <c:pt idx="30">
                    <c:v>15</c:v>
                  </c:pt>
                  <c:pt idx="31">
                    <c:v/>
                  </c:pt>
                  <c:pt idx="32">
                    <c:v/>
                  </c:pt>
                  <c:pt idx="33">
                    <c:v/>
                  </c:pt>
                  <c:pt idx="34">
                    <c:v/>
                  </c:pt>
                  <c:pt idx="35">
                    <c:v/>
                  </c:pt>
                  <c:pt idx="36">
                    <c:v/>
                  </c:pt>
                  <c:pt idx="37">
                    <c:v/>
                  </c:pt>
                  <c:pt idx="38">
                    <c:v/>
                  </c:pt>
                  <c:pt idx="39">
                    <c:v/>
                  </c:pt>
                  <c:pt idx="40">
                    <c:v>20</c:v>
                  </c:pt>
                  <c:pt idx="41">
                    <c:v/>
                  </c:pt>
                  <c:pt idx="42">
                    <c:v/>
                  </c:pt>
                  <c:pt idx="43">
                    <c:v/>
                  </c:pt>
                  <c:pt idx="44">
                    <c:v/>
                  </c:pt>
                  <c:pt idx="45">
                    <c:v/>
                  </c:pt>
                  <c:pt idx="46">
                    <c:v/>
                  </c:pt>
                  <c:pt idx="47">
                    <c:v/>
                  </c:pt>
                  <c:pt idx="48">
                    <c:v/>
                  </c:pt>
                  <c:pt idx="49">
                    <c:v/>
                  </c:pt>
                  <c:pt idx="50">
                    <c:v>25</c:v>
                  </c:pt>
                  <c:pt idx="51">
                    <c:v/>
                  </c:pt>
                  <c:pt idx="52">
                    <c:v/>
                  </c:pt>
                  <c:pt idx="53">
                    <c:v/>
                  </c:pt>
                  <c:pt idx="54">
                    <c:v/>
                  </c:pt>
                  <c:pt idx="55">
                    <c:v/>
                  </c:pt>
                  <c:pt idx="56">
                    <c:v/>
                  </c:pt>
                  <c:pt idx="57">
                    <c:v/>
                  </c:pt>
                  <c:pt idx="58">
                    <c:v/>
                  </c:pt>
                  <c:pt idx="59">
                    <c:v/>
                  </c:pt>
                  <c:pt idx="60">
                    <c:v>30</c:v>
                  </c:pt>
                </c:lvl>
              </c:multiLvlStrCache>
            </c:multiLvlStrRef>
          </c:cat>
          <c:val>
            <c:numRef>
              <c:f>Sheet1!$B$2:$B$62</c:f>
              <c:numCache>
                <c:formatCode>General</c:formatCode>
                <c:ptCount val="61"/>
                <c:pt idx="0">
                  <c:v>0</c:v>
                </c:pt>
                <c:pt idx="1">
                  <c:v>13</c:v>
                </c:pt>
                <c:pt idx="2">
                  <c:v>13</c:v>
                </c:pt>
                <c:pt idx="3">
                  <c:v>26</c:v>
                </c:pt>
                <c:pt idx="4">
                  <c:v>41</c:v>
                </c:pt>
                <c:pt idx="5">
                  <c:v>44</c:v>
                </c:pt>
                <c:pt idx="6">
                  <c:v>60</c:v>
                </c:pt>
                <c:pt idx="7">
                  <c:v>66</c:v>
                </c:pt>
                <c:pt idx="8">
                  <c:v>72</c:v>
                </c:pt>
                <c:pt idx="9">
                  <c:v>84</c:v>
                </c:pt>
                <c:pt idx="10">
                  <c:v>84</c:v>
                </c:pt>
                <c:pt idx="11">
                  <c:v>97</c:v>
                </c:pt>
                <c:pt idx="12">
                  <c:v>97</c:v>
                </c:pt>
                <c:pt idx="13">
                  <c:v>109</c:v>
                </c:pt>
                <c:pt idx="14">
                  <c:v>117</c:v>
                </c:pt>
                <c:pt idx="15">
                  <c:v>117</c:v>
                </c:pt>
                <c:pt idx="16">
                  <c:v>121</c:v>
                </c:pt>
                <c:pt idx="17">
                  <c:v>121</c:v>
                </c:pt>
                <c:pt idx="18">
                  <c:v>136</c:v>
                </c:pt>
                <c:pt idx="19">
                  <c:v>140</c:v>
                </c:pt>
                <c:pt idx="20">
                  <c:v>144</c:v>
                </c:pt>
                <c:pt idx="21">
                  <c:v>152</c:v>
                </c:pt>
                <c:pt idx="22">
                  <c:v>152</c:v>
                </c:pt>
                <c:pt idx="23">
                  <c:v>155</c:v>
                </c:pt>
                <c:pt idx="24">
                  <c:v>155</c:v>
                </c:pt>
                <c:pt idx="25">
                  <c:v>167</c:v>
                </c:pt>
                <c:pt idx="26">
                  <c:v>186</c:v>
                </c:pt>
                <c:pt idx="27">
                  <c:v>186</c:v>
                </c:pt>
                <c:pt idx="28">
                  <c:v>199</c:v>
                </c:pt>
                <c:pt idx="29">
                  <c:v>199</c:v>
                </c:pt>
                <c:pt idx="30">
                  <c:v>200</c:v>
                </c:pt>
                <c:pt idx="31">
                  <c:v>200</c:v>
                </c:pt>
                <c:pt idx="32">
                  <c:v>200</c:v>
                </c:pt>
                <c:pt idx="33">
                  <c:v>200</c:v>
                </c:pt>
                <c:pt idx="34">
                  <c:v>200</c:v>
                </c:pt>
                <c:pt idx="35">
                  <c:v>200</c:v>
                </c:pt>
                <c:pt idx="36">
                  <c:v>200</c:v>
                </c:pt>
                <c:pt idx="37">
                  <c:v>200</c:v>
                </c:pt>
                <c:pt idx="38">
                  <c:v>200</c:v>
                </c:pt>
                <c:pt idx="39">
                  <c:v>200</c:v>
                </c:pt>
                <c:pt idx="40">
                  <c:v>200</c:v>
                </c:pt>
                <c:pt idx="41">
                  <c:v>200</c:v>
                </c:pt>
                <c:pt idx="42">
                  <c:v>200</c:v>
                </c:pt>
                <c:pt idx="43">
                  <c:v>200</c:v>
                </c:pt>
                <c:pt idx="44">
                  <c:v>200</c:v>
                </c:pt>
                <c:pt idx="45">
                  <c:v>200</c:v>
                </c:pt>
                <c:pt idx="46">
                  <c:v>200</c:v>
                </c:pt>
                <c:pt idx="47">
                  <c:v>200</c:v>
                </c:pt>
                <c:pt idx="48">
                  <c:v>200</c:v>
                </c:pt>
                <c:pt idx="49">
                  <c:v>200</c:v>
                </c:pt>
                <c:pt idx="50">
                  <c:v>200</c:v>
                </c:pt>
                <c:pt idx="51">
                  <c:v>200</c:v>
                </c:pt>
                <c:pt idx="52">
                  <c:v>200</c:v>
                </c:pt>
                <c:pt idx="53">
                  <c:v>200</c:v>
                </c:pt>
                <c:pt idx="54">
                  <c:v>200</c:v>
                </c:pt>
                <c:pt idx="55">
                  <c:v>200</c:v>
                </c:pt>
                <c:pt idx="56">
                  <c:v>200</c:v>
                </c:pt>
                <c:pt idx="57">
                  <c:v>200</c:v>
                </c:pt>
                <c:pt idx="58">
                  <c:v>200</c:v>
                </c:pt>
                <c:pt idx="59">
                  <c:v>200</c:v>
                </c:pt>
                <c:pt idx="60">
                  <c:v>200</c:v>
                </c:pt>
              </c:numCache>
            </c:numRef>
          </c:val>
          <c:smooth val="0"/>
        </c:ser>
        <c:ser>
          <c:idx val="1"/>
          <c:order val="1"/>
          <c:tx>
            <c:strRef>
              <c:f>Sheet1!$C$1</c:f>
              <c:strCache>
                <c:ptCount val="1"/>
                <c:pt idx="0">
                  <c:v>EC2 (10 s check)</c:v>
                </c:pt>
              </c:strCache>
            </c:strRef>
          </c:tx>
          <c:spPr>
            <a:solidFill>
              <a:srgbClr val="E8892B"/>
            </a:solidFill>
            <a:ln w="38100" cap="flat">
              <a:solidFill>
                <a:srgbClr val="E8892B"/>
              </a:solidFill>
              <a:prstDash val="solid"/>
              <a:round/>
            </a:ln>
            <a:effectLst/>
          </c:spPr>
          <c:invertIfNegative val="0"/>
          <c:dLbls>
            <c:numFmt formatCode="#,##0" sourceLinked="0"/>
            <c:txPr>
              <a:bodyPr/>
              <a:lstStyle/>
              <a:p>
                <a:pPr>
                  <a:defRPr b="0" i="0" strike="noStrike" sz="1200" u="none">
                    <a:solidFill>
                      <a:srgbClr val="14252B"/>
                    </a:solidFill>
                    <a:latin typeface="Arial"/>
                  </a:defRPr>
                </a:pPr>
              </a:p>
            </c:txPr>
            <c:showLegendKey val="0"/>
            <c:showVal val="0"/>
            <c:showCatName val="0"/>
            <c:showSerName val="0"/>
            <c:showPercent val="0"/>
            <c:showBubbleSize val="0"/>
            <c:showLeaderLines val="0"/>
          </c:dLbls>
          <c:marker>
            <c:symbol val="none"/>
            <c:size val="6"/>
            <c:spPr>
              <a:solidFill>
                <a:srgbClr val="E8892B"/>
              </a:solidFill>
              <a:ln w="9525" cap="flat">
                <a:solidFill>
                  <a:srgbClr val="E8892B"/>
                </a:solidFill>
                <a:prstDash val="solid"/>
                <a:round/>
              </a:ln>
              <a:effectLst/>
            </c:spPr>
          </c:marker>
          <c:cat>
            <c:multiLvlStrRef>
              <c:f>Sheet1!$A$2:$A$62</c:f>
              <c:multiLvlStrCache>
                <c:ptCount val="61"/>
                <c:lvl>
                  <c:pt idx="0">
                    <c:v>0</c:v>
                  </c:pt>
                  <c:pt idx="1">
                    <c:v/>
                  </c:pt>
                  <c:pt idx="2">
                    <c:v/>
                  </c:pt>
                  <c:pt idx="3">
                    <c:v/>
                  </c:pt>
                  <c:pt idx="4">
                    <c:v/>
                  </c:pt>
                  <c:pt idx="5">
                    <c:v/>
                  </c:pt>
                  <c:pt idx="6">
                    <c:v/>
                  </c:pt>
                  <c:pt idx="7">
                    <c:v/>
                  </c:pt>
                  <c:pt idx="8">
                    <c:v/>
                  </c:pt>
                  <c:pt idx="9">
                    <c:v/>
                  </c:pt>
                  <c:pt idx="10">
                    <c:v>5</c:v>
                  </c:pt>
                  <c:pt idx="11">
                    <c:v/>
                  </c:pt>
                  <c:pt idx="12">
                    <c:v/>
                  </c:pt>
                  <c:pt idx="13">
                    <c:v/>
                  </c:pt>
                  <c:pt idx="14">
                    <c:v/>
                  </c:pt>
                  <c:pt idx="15">
                    <c:v/>
                  </c:pt>
                  <c:pt idx="16">
                    <c:v/>
                  </c:pt>
                  <c:pt idx="17">
                    <c:v/>
                  </c:pt>
                  <c:pt idx="18">
                    <c:v/>
                  </c:pt>
                  <c:pt idx="19">
                    <c:v/>
                  </c:pt>
                  <c:pt idx="20">
                    <c:v>10</c:v>
                  </c:pt>
                  <c:pt idx="21">
                    <c:v/>
                  </c:pt>
                  <c:pt idx="22">
                    <c:v/>
                  </c:pt>
                  <c:pt idx="23">
                    <c:v/>
                  </c:pt>
                  <c:pt idx="24">
                    <c:v/>
                  </c:pt>
                  <c:pt idx="25">
                    <c:v/>
                  </c:pt>
                  <c:pt idx="26">
                    <c:v/>
                  </c:pt>
                  <c:pt idx="27">
                    <c:v/>
                  </c:pt>
                  <c:pt idx="28">
                    <c:v/>
                  </c:pt>
                  <c:pt idx="29">
                    <c:v/>
                  </c:pt>
                  <c:pt idx="30">
                    <c:v>15</c:v>
                  </c:pt>
                  <c:pt idx="31">
                    <c:v/>
                  </c:pt>
                  <c:pt idx="32">
                    <c:v/>
                  </c:pt>
                  <c:pt idx="33">
                    <c:v/>
                  </c:pt>
                  <c:pt idx="34">
                    <c:v/>
                  </c:pt>
                  <c:pt idx="35">
                    <c:v/>
                  </c:pt>
                  <c:pt idx="36">
                    <c:v/>
                  </c:pt>
                  <c:pt idx="37">
                    <c:v/>
                  </c:pt>
                  <c:pt idx="38">
                    <c:v/>
                  </c:pt>
                  <c:pt idx="39">
                    <c:v/>
                  </c:pt>
                  <c:pt idx="40">
                    <c:v>20</c:v>
                  </c:pt>
                  <c:pt idx="41">
                    <c:v/>
                  </c:pt>
                  <c:pt idx="42">
                    <c:v/>
                  </c:pt>
                  <c:pt idx="43">
                    <c:v/>
                  </c:pt>
                  <c:pt idx="44">
                    <c:v/>
                  </c:pt>
                  <c:pt idx="45">
                    <c:v/>
                  </c:pt>
                  <c:pt idx="46">
                    <c:v/>
                  </c:pt>
                  <c:pt idx="47">
                    <c:v/>
                  </c:pt>
                  <c:pt idx="48">
                    <c:v/>
                  </c:pt>
                  <c:pt idx="49">
                    <c:v/>
                  </c:pt>
                  <c:pt idx="50">
                    <c:v>25</c:v>
                  </c:pt>
                  <c:pt idx="51">
                    <c:v/>
                  </c:pt>
                  <c:pt idx="52">
                    <c:v/>
                  </c:pt>
                  <c:pt idx="53">
                    <c:v/>
                  </c:pt>
                  <c:pt idx="54">
                    <c:v/>
                  </c:pt>
                  <c:pt idx="55">
                    <c:v/>
                  </c:pt>
                  <c:pt idx="56">
                    <c:v/>
                  </c:pt>
                  <c:pt idx="57">
                    <c:v/>
                  </c:pt>
                  <c:pt idx="58">
                    <c:v/>
                  </c:pt>
                  <c:pt idx="59">
                    <c:v/>
                  </c:pt>
                  <c:pt idx="60">
                    <c:v>30</c:v>
                  </c:pt>
                </c:lvl>
              </c:multiLvlStrCache>
            </c:multiLvlStrRef>
          </c:cat>
          <c:val>
            <c:numRef>
              <c:f>Sheet1!$C$2:$C$62</c:f>
              <c:numCache>
                <c:formatCode>General</c:formatCode>
                <c:ptCount val="61"/>
                <c:pt idx="0">
                  <c:v>1</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11</c:v>
                </c:pt>
                <c:pt idx="19">
                  <c:v>21</c:v>
                </c:pt>
                <c:pt idx="20">
                  <c:v>33</c:v>
                </c:pt>
                <c:pt idx="21">
                  <c:v>42</c:v>
                </c:pt>
                <c:pt idx="22">
                  <c:v>54</c:v>
                </c:pt>
                <c:pt idx="23">
                  <c:v>66</c:v>
                </c:pt>
                <c:pt idx="24">
                  <c:v>78</c:v>
                </c:pt>
                <c:pt idx="25">
                  <c:v>90</c:v>
                </c:pt>
                <c:pt idx="26">
                  <c:v>101</c:v>
                </c:pt>
                <c:pt idx="27">
                  <c:v>111</c:v>
                </c:pt>
                <c:pt idx="28">
                  <c:v>122</c:v>
                </c:pt>
                <c:pt idx="29">
                  <c:v>133</c:v>
                </c:pt>
                <c:pt idx="30">
                  <c:v>141</c:v>
                </c:pt>
                <c:pt idx="31">
                  <c:v>141</c:v>
                </c:pt>
                <c:pt idx="32">
                  <c:v>141</c:v>
                </c:pt>
                <c:pt idx="33">
                  <c:v>141</c:v>
                </c:pt>
                <c:pt idx="34">
                  <c:v>141</c:v>
                </c:pt>
                <c:pt idx="35">
                  <c:v>141</c:v>
                </c:pt>
                <c:pt idx="36">
                  <c:v>141</c:v>
                </c:pt>
                <c:pt idx="37">
                  <c:v>141</c:v>
                </c:pt>
                <c:pt idx="38">
                  <c:v>141</c:v>
                </c:pt>
                <c:pt idx="39">
                  <c:v>141</c:v>
                </c:pt>
                <c:pt idx="40">
                  <c:v>141</c:v>
                </c:pt>
                <c:pt idx="41">
                  <c:v>141</c:v>
                </c:pt>
                <c:pt idx="42">
                  <c:v>141</c:v>
                </c:pt>
                <c:pt idx="43">
                  <c:v>141</c:v>
                </c:pt>
                <c:pt idx="44">
                  <c:v>141</c:v>
                </c:pt>
                <c:pt idx="45">
                  <c:v>141</c:v>
                </c:pt>
                <c:pt idx="46">
                  <c:v>141</c:v>
                </c:pt>
                <c:pt idx="47">
                  <c:v>141</c:v>
                </c:pt>
                <c:pt idx="48">
                  <c:v>141</c:v>
                </c:pt>
                <c:pt idx="49">
                  <c:v>141</c:v>
                </c:pt>
                <c:pt idx="50">
                  <c:v>141</c:v>
                </c:pt>
                <c:pt idx="51">
                  <c:v>152</c:v>
                </c:pt>
                <c:pt idx="52">
                  <c:v>163</c:v>
                </c:pt>
                <c:pt idx="53">
                  <c:v>174</c:v>
                </c:pt>
                <c:pt idx="54">
                  <c:v>186</c:v>
                </c:pt>
                <c:pt idx="55">
                  <c:v>196</c:v>
                </c:pt>
                <c:pt idx="56">
                  <c:v>200</c:v>
                </c:pt>
                <c:pt idx="57">
                  <c:v>200</c:v>
                </c:pt>
                <c:pt idx="58">
                  <c:v>200</c:v>
                </c:pt>
                <c:pt idx="59">
                  <c:v>200</c:v>
                </c:pt>
                <c:pt idx="60">
                  <c:v>200</c:v>
                </c:pt>
              </c:numCache>
            </c:numRef>
          </c:val>
          <c:smooth val="0"/>
        </c:ser>
        <c:dLbls>
          <c:numFmt formatCode="#,##0" sourceLinked="0"/>
          <c:txPr>
            <a:bodyPr/>
            <a:lstStyle/>
            <a:p>
              <a:pPr>
                <a:defRPr b="0" i="0" strike="noStrike" sz="1200" u="none">
                  <a:solidFill>
                    <a:srgbClr val="14252B"/>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000000"/>
                    </a:solidFill>
                    <a:latin typeface="Arial"/>
                  </a:defRPr>
                </a:pPr>
                <a:r>
                  <a:rPr sz="1200" b="0" i="0" u="none" strike="noStrike">
                    <a:solidFill>
                      <a:srgbClr val="000000"/>
                    </a:solidFill>
                    <a:latin typeface="Arial"/>
                  </a:rPr>
                  <a:t>Seconds since the first receipt started</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4252B"/>
                </a:solidFill>
                <a:latin typeface="Arial"/>
              </a:defRPr>
            </a:pPr>
            <a:endParaRPr lang="en-US"/>
          </a:p>
        </c:txPr>
        <c:crossAx val="2094734552"/>
        <c:crosses val="autoZero"/>
        <c:auto val="1"/>
        <c:lblAlgn val="ctr"/>
        <c:noMultiLvlLbl val="1"/>
      </c:catAx>
      <c:valAx>
        <c:axId val="2094734552"/>
        <c:scaling>
          <c:orientation val="minMax"/>
          <c:max val="200"/>
          <c:min val="0"/>
        </c:scaling>
        <c:delete val="0"/>
        <c:axPos val="l"/>
        <c:majorGridlines>
          <c:spPr>
            <a:ln w="9525" cap="flat">
              <a:solidFill>
                <a:srgbClr val="DDE6E3"/>
              </a:solidFill>
              <a:prstDash val="solid"/>
              <a:round/>
            </a:ln>
          </c:spPr>
        </c:majorGridlines>
        <c:title>
          <c:tx>
            <c:rich>
              <a:bodyPr/>
              <a:lstStyle/>
              <a:p>
                <a:pPr>
                  <a:defRPr sz="1200" b="0" i="0" u="none" strike="noStrike">
                    <a:solidFill>
                      <a:srgbClr val="000000"/>
                    </a:solidFill>
                    <a:latin typeface="Arial"/>
                  </a:defRPr>
                </a:pPr>
                <a:r>
                  <a:rPr sz="1200" b="0" i="0" u="none" strike="noStrike">
                    <a:solidFill>
                      <a:srgbClr val="000000"/>
                    </a:solidFill>
                    <a:latin typeface="Arial"/>
                  </a:rPr>
                  <a:t>Receipts saved so far</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B73"/>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300">
              <a:solidFill>
                <a:srgbClr val="14252B"/>
              </a:solidFill>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Million receipts per month</c:v>
                </c:pt>
              </c:strCache>
            </c:strRef>
          </c:tx>
          <c:spPr>
            <a:solidFill>
              <a:srgbClr val="1B7F79"/>
            </a:solidFill>
            <a:effectLst/>
          </c:spPr>
          <c:invertIfNegative val="0"/>
          <c:dLbls>
            <c:numFmt formatCode="0.0" sourceLinked="0"/>
            <c:txPr>
              <a:bodyPr/>
              <a:lstStyle/>
              <a:p>
                <a:pPr>
                  <a:defRPr b="0" i="0" strike="noStrike" sz="1200" u="none">
                    <a:solidFill>
                      <a:srgbClr val="14252B"/>
                    </a:solidFill>
                    <a:latin typeface="Arial"/>
                  </a:defRPr>
                </a:pPr>
              </a:p>
            </c:txPr>
            <c:showLegendKey val="0"/>
            <c:showVal val="1"/>
            <c:showCatName val="0"/>
            <c:showSerName val="0"/>
            <c:showPercent val="0"/>
            <c:showBubbleSize val="0"/>
            <c:showLeaderLines val="0"/>
          </c:dLbls>
          <c:cat>
            <c:multiLvlStrRef>
              <c:f>Sheet1!$A$2:$A$4</c:f>
              <c:multiLvlStrCache>
                <c:ptCount val="3"/>
                <c:lvl>
                  <c:pt idx="0">
                    <c:v>Warm PDFs</c:v>
                  </c:pt>
                  <c:pt idx="1">
                    <c:v>Every PDF cold</c:v>
                  </c:pt>
                  <c:pt idx="2">
                    <c:v>Long photos (2.4 s)</c:v>
                  </c:pt>
                </c:lvl>
              </c:multiLvlStrCache>
            </c:multiLvlStrRef>
          </c:cat>
          <c:val>
            <c:numRef>
              <c:f>Sheet1!$B$2:$B$4</c:f>
              <c:numCache>
                <c:formatCode>General</c:formatCode>
                <c:ptCount val="3"/>
                <c:pt idx="0">
                  <c:v>23.8</c:v>
                </c:pt>
                <c:pt idx="1">
                  <c:v>5.4</c:v>
                </c:pt>
                <c:pt idx="2">
                  <c:v>2.5</c:v>
                </c:pt>
              </c:numCache>
            </c:numRef>
          </c:val>
        </c:ser>
        <c:dLbls>
          <c:numFmt formatCode="0.0" sourceLinked="0"/>
          <c:txPr>
            <a:bodyPr/>
            <a:lstStyle/>
            <a:p>
              <a:pPr>
                <a:defRPr b="0" i="0" strike="noStrike" sz="1200" u="none">
                  <a:solidFill>
                    <a:srgbClr val="14252B"/>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4252B"/>
                </a:solidFill>
                <a:latin typeface="Arial"/>
              </a:defRPr>
            </a:pPr>
            <a:endParaRPr lang="en-US"/>
          </a:p>
        </c:txPr>
        <c:crossAx val="2094734552"/>
        <c:crosses val="autoZero"/>
        <c:auto val="1"/>
        <c:lblAlgn val="ctr"/>
        <c:noMultiLvlLbl val="1"/>
      </c:catAx>
      <c:valAx>
        <c:axId val="2094734552"/>
        <c:scaling>
          <c:orientation val="minMax"/>
          <c:min val="0"/>
        </c:scaling>
        <c:delete val="0"/>
        <c:axPos val="b"/>
        <c:majorGridlines>
          <c:spPr>
            <a:ln w="9525" cap="flat">
              <a:solidFill>
                <a:srgbClr val="DDE6E3"/>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5B6B73"/>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review. At Review 1 we showed the plan and the shared setup. Today: the finished pipeline, how accurate it is on real receipts, and measured results of the serverless build against the EC2 build. Every number in this deck was measured on live AWS in Sydney (ap-southeast-2).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in one breath: receipts come in as photos or PDFs, the pipeline pulls out vendor, amount and date, stores them and emails the user. The same processing code runs in two builds so the comparison is fair. The website lets anyone try it without the AWS console.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row is the serverless build: the upload itself starts the function. Bottom row is the server build: a program on a t3.micro lists the bucket every few seconds and processes anything new. Both write to the same kind of table and send the same email, so differences in speed and cost come from the architecture, not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upgrades made after Review 1. Each one is implemented in the shared processing code, so both builds get it. The GST checks and the duplicate detection are the parts most other receipt projects do not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Rekognition reads at most 100 words per call, and a long receipt has far more. So the photo is cut into horizontal bands and the bands are read in parallel; this cut the median time for long photos from 5.3 to 2.4 seconds. The parser then scores every total candidate. If the total looks suspicious it is saved as NEEDS_REVIEW so a person checks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SROIE is a public benchmark of real scanned shop receipts from the ICDAR 2019 competition; they are Malaysian. For India we could not find a public set of real GST bill photos, so the GST invoices come from BillBook, which draws them by computer: 20 ship with the project and its own generator made 80 more. We made the tampered and re-shot copies ourselves. State clearly that the GST invoices are synthetic.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626 SROIE receipts were uploaded to S3 and read by the Lambda function with Rekognition; the stored result was compared with the published answer. Date is the strongest field; vendor and total are weaker because OCR on faint or crowded receipts is hard. 362 receipts had more than 100 words and needed the banded reading. 55 were saved as NEEDS_REVIEW instead of PROCESSED. The honest weak point: 37 wrong totals were saved without a flag.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GSTIN is 15 characters and the last is a check character, so a mistyped or edited number fails. We also check the state code, that CGST equals SGST, that IGST is not mixed with them, and that taxable value plus tax equals the total. Of 170 invoices, 110 genuine ones all passed, 59 of 60 tampered ones were caught, and all 10 duplicates were caught. One tampered invoice slipped through because its changed check character matches the program's repair of an ambiguous 1 or I; it also passes with perfect text. Three Malaysian receipts with a GST tax line were flagged by mistake. The invoices are computer-generated.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117 of 626 receipts were not fully right: 33 of them were flagged for review and 84 were saved as PROCESSED, mostly with a wrong vendor. Vendor errors were a cashier name, a footer line or a town read instead of the shop name, or part of a long legal name. Total errors were a total not found (flagged) or a different number picked. Date errors were a missing date or a misread digit. Timing: 40 receipts were uploaded at once, so reads were slower than a single upload would be: median 2.7 s, 95th percentile 9.8 s, slowest 25.2 s against the 30 s Lambda limit.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idea: load the PDF and OCR libraries only when first needed, so start-up is quick. Measured result: the first PDF took 4.16 s instead of 1.10 s. The reason is that AWS gives the start-up phase more CPU than a 256 MB request gets, so heavy loading is cheaper at start-up. We kept loading at start-up as the default and left lazy loading as an experiment switch. This is a good example of testing an assumption instead of trusting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ran the same receipts at five memory sizes on both Intel and ARM. At 128 MB the function used 119 of 128 MB and ran slowly; above 1024 MB it is no faster, so you only pay more. ARM at 256 MB costs about 14 percent less than Intel at 256 MB. Cost here is Lambda compute only; Rekognition is billed separately and is the same for both builds.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Delay means the time from the upload finishing to the result being stored, measured with AWS's own clocks so my laptop's clock error does not matter. Lambda starts at once. The EC2 poller only notices a file at its next check, so with a 10 second check the median is about 6 seconds. Checking every 2 seconds brings EC2 to about the same speed as Lambda but raises the monthly cost. This is the fair way to state the result: EC2 is not slow by nature, it trades cost for speed.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 receipts were uploaded over 16 seconds. Lambda ran up to 17 copies at the same time, with no throttling (the account limit is 400), and finished all 200 at 14.8 seconds. The single EC2 server finished at 27.6 seconds; its median delay was 8.8 s and the worst 16.5 s. The staircase shape on the EC2 line comes from the 10 second check: it picks up a batch each time it looks. EC2 at a 2 second check was not tested in a burst; say that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EC2 server costs the same whether it handles one receipt or a million: $15.37 a month at a 10 second check, including the bucket listing requests. Lambda costs per receipt. The break-even is where the two lines cross. For warm PDFs it is about 23.8 million receipts a month. If every request were a cold PDF it is 5.4 million, and for long photos at 2.4 s it is 2.5 million. A student or small business is nowhere near these numbers. Rekognition costs about $0.001 per photo read and is paid by both builds, so for photos it is the real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limits yourself before a reviewer finds them. The receipts are mostly Malaysian, the GST invoices are computer-generated, only one burst run was a true burst, and we have not tested real Indian shop bills. Future work is optional extras, not required for the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four findings. Offer to show the live website and the CloudWatch dashboard. Remind the panel that all numbers were measured on live AWS in Sydney and that the limits are on the previous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rgbClr val="0F3D3E"/>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600200"/>
            <a:ext cx="6766560" cy="13716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731520" y="3246120"/>
            <a:ext cx="6766560" cy="457200"/>
          </a:xfrm>
          <a:prstGeom prst="rect">
            <a:avLst/>
          </a:prstGeom>
          <a:noFill/>
          <a:ln/>
        </p:spPr>
        <p:txBody>
          <a:bodyPr wrap="square" rtlCol="0"/>
          <a:lstStyle>
            <a:lvl1pPr algn="l" indent="0" marL="0">
              <a:buNone/>
              <a:defRPr lang="en-US" sz="1800" dirty="0">
                <a:solidFill>
                  <a:schemeClr val="accent3"/>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Only">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6868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3" name="Text 0"/>
          <p:cNvSpPr txBox="1"/>
          <p:nvPr/>
        </p:nvSpPr>
        <p:spPr>
          <a:xfrm>
            <a:off x="548640" y="6355080"/>
            <a:ext cx="8229600" cy="274320"/>
          </a:xfrm>
          <a:prstGeom prst="rect">
            <a:avLst/>
          </a:prstGeom>
          <a:noFill/>
          <a:ln/>
        </p:spPr>
        <p:txBody>
          <a:bodyPr wrap="square" lIns="0" tIns="0" rIns="0" bIns="0" rtlCol="0" anchor="ctr"/>
          <a:lstStyle/>
          <a:p>
            <a:pPr indent="0" marL="0">
              <a:buNone/>
            </a:pPr>
            <a:r>
              <a:rPr lang="en-US" sz="1000" dirty="0">
                <a:solidFill>
                  <a:schemeClr val="accent4"/>
                </a:solidFill>
              </a:rPr>
              <a:t>Serverless Receipt Digitization Pipeline on AWS  |  Final Review</a:t>
            </a:r>
            <a:endParaRPr lang="en-US" sz="100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Dark">
    <p:bg>
      <p:bgPr>
        <a:solidFill>
          <a:srgbClr val="0F3D3E"/>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548640"/>
            <a:ext cx="10698480" cy="86868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3.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3.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3.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slideLayout" Target="../slideLayouts/slideLayout3.xml"/><Relationship Id="rId10"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822960"/>
            <a:ext cx="6400800" cy="320040"/>
          </a:xfrm>
          <a:prstGeom prst="rect">
            <a:avLst/>
          </a:prstGeom>
          <a:noFill/>
          <a:ln/>
        </p:spPr>
        <p:txBody>
          <a:bodyPr wrap="square" lIns="0" tIns="0" rIns="0" bIns="0" rtlCol="0" anchor="t"/>
          <a:lstStyle/>
          <a:p>
            <a:pPr algn="l" indent="0" marL="0">
              <a:buNone/>
            </a:pPr>
            <a:r>
              <a:rPr lang="en-US" sz="1400" b="1" spc="300" kern="0" dirty="0">
                <a:solidFill>
                  <a:schemeClr val="accent2"/>
                </a:solidFill>
              </a:rPr>
              <a:t>MINI PROJECT  |  FINAL REVIEW</a:t>
            </a:r>
            <a:endParaRPr lang="en-US" sz="1400" dirty="0"/>
          </a:p>
        </p:txBody>
      </p:sp>
      <p:sp>
        <p:nvSpPr>
          <p:cNvPr id="3" name="Text 0"/>
          <p:cNvSpPr/>
          <p:nvPr>
            <p:ph idx="100" type="title" hasCustomPrompt="1"/>
          </p:nvPr>
        </p:nvSpPr>
        <p:spPr>
          <a:xfrm>
            <a:off x="731520" y="1600200"/>
            <a:ext cx="6766560" cy="1371600"/>
          </a:xfrm>
          <a:prstGeom prst="rect">
            <a:avLst/>
          </a:prstGeom>
          <a:noFill/>
          <a:ln/>
        </p:spPr>
        <p:txBody>
          <a:bodyPr wrap="square" lIns="0" tIns="0" rIns="0" bIns="0" rtlCol="0" anchor="t"/>
          <a:lstStyle/>
          <a:p>
            <a:pPr algn="l" indent="0" marL="0">
              <a:buNone/>
            </a:pPr>
            <a:r>
              <a:rPr lang="en-US" sz="4000" b="1" dirty="0">
                <a:solidFill>
                  <a:schemeClr val="bg1"/>
                </a:solidFill>
              </a:rPr>
              <a:t>Serverless Receipt Digitization Pipeline on AWS</a:t>
            </a:r>
            <a:endParaRPr lang="en-US" sz="4000" dirty="0"/>
          </a:p>
        </p:txBody>
      </p:sp>
      <p:sp>
        <p:nvSpPr>
          <p:cNvPr id="4" name="Text 0"/>
          <p:cNvSpPr/>
          <p:nvPr>
            <p:ph idx="101" type="body" hasCustomPrompt="1"/>
          </p:nvPr>
        </p:nvSpPr>
        <p:spPr>
          <a:xfrm>
            <a:off x="731520" y="3246120"/>
            <a:ext cx="6766560" cy="457200"/>
          </a:xfrm>
          <a:prstGeom prst="rect">
            <a:avLst/>
          </a:prstGeom>
          <a:noFill/>
          <a:ln/>
        </p:spPr>
        <p:txBody>
          <a:bodyPr wrap="square" lIns="0" tIns="0" rIns="0" bIns="0" rtlCol="0" anchor="t"/>
          <a:lstStyle/>
          <a:p>
            <a:pPr algn="l" indent="0" marL="0">
              <a:buNone/>
            </a:pPr>
            <a:r>
              <a:rPr lang="en-US" sz="1800" dirty="0">
                <a:solidFill>
                  <a:schemeClr val="accent3"/>
                </a:solidFill>
              </a:rPr>
              <a:t>Built, tested on live AWS, and compared with an EC2 server</a:t>
            </a:r>
            <a:endParaRPr lang="en-US" sz="1800" dirty="0"/>
          </a:p>
        </p:txBody>
      </p:sp>
      <p:sp>
        <p:nvSpPr>
          <p:cNvPr id="5" name="Text 3"/>
          <p:cNvSpPr txBox="1"/>
          <p:nvPr/>
        </p:nvSpPr>
        <p:spPr>
          <a:xfrm>
            <a:off x="731520" y="5257800"/>
            <a:ext cx="6400800" cy="292608"/>
          </a:xfrm>
          <a:prstGeom prst="rect">
            <a:avLst/>
          </a:prstGeom>
          <a:noFill/>
          <a:ln/>
        </p:spPr>
        <p:txBody>
          <a:bodyPr wrap="square" lIns="0" tIns="0" rIns="0" bIns="0" rtlCol="0" anchor="t"/>
          <a:lstStyle/>
          <a:p>
            <a:pPr algn="l" indent="0" marL="0">
              <a:buNone/>
            </a:pPr>
            <a:r>
              <a:rPr lang="en-US" sz="1400" dirty="0">
                <a:solidFill>
                  <a:schemeClr val="bg1"/>
                </a:solidFill>
              </a:rPr>
              <a:t>Team: add names and register numbers</a:t>
            </a:r>
            <a:endParaRPr lang="en-US" sz="1400" dirty="0"/>
          </a:p>
        </p:txBody>
      </p:sp>
      <p:sp>
        <p:nvSpPr>
          <p:cNvPr id="6" name="Text 4"/>
          <p:cNvSpPr txBox="1"/>
          <p:nvPr/>
        </p:nvSpPr>
        <p:spPr>
          <a:xfrm>
            <a:off x="731520" y="5623560"/>
            <a:ext cx="6400800" cy="292608"/>
          </a:xfrm>
          <a:prstGeom prst="rect">
            <a:avLst/>
          </a:prstGeom>
          <a:noFill/>
          <a:ln/>
        </p:spPr>
        <p:txBody>
          <a:bodyPr wrap="square" lIns="0" tIns="0" rIns="0" bIns="0" rtlCol="0" anchor="t"/>
          <a:lstStyle/>
          <a:p>
            <a:pPr algn="l" indent="0" marL="0">
              <a:buNone/>
            </a:pPr>
            <a:r>
              <a:rPr lang="en-US" sz="1400" dirty="0">
                <a:solidFill>
                  <a:schemeClr val="accent3"/>
                </a:solidFill>
              </a:rPr>
              <a:t>Guide: add name</a:t>
            </a:r>
            <a:endParaRPr lang="en-US" sz="1400" dirty="0"/>
          </a:p>
        </p:txBody>
      </p:sp>
      <p:sp>
        <p:nvSpPr>
          <p:cNvPr id="7" name="Shape 5"/>
          <p:cNvSpPr/>
          <p:nvPr/>
        </p:nvSpPr>
        <p:spPr>
          <a:xfrm>
            <a:off x="9189720" y="1920240"/>
            <a:ext cx="0" cy="411480"/>
          </a:xfrm>
          <a:prstGeom prst="line">
            <a:avLst/>
          </a:prstGeom>
          <a:noFill/>
          <a:ln w="19050">
            <a:solidFill>
              <a:schemeClr val="accent3"/>
            </a:solidFill>
            <a:prstDash val="solid"/>
          </a:ln>
        </p:spPr>
      </p:sp>
      <p:sp>
        <p:nvSpPr>
          <p:cNvPr id="8" name="Shape 6"/>
          <p:cNvSpPr/>
          <p:nvPr/>
        </p:nvSpPr>
        <p:spPr>
          <a:xfrm>
            <a:off x="8778240" y="1097280"/>
            <a:ext cx="822960" cy="822960"/>
          </a:xfrm>
          <a:prstGeom prst="ellipse">
            <a:avLst/>
          </a:prstGeom>
          <a:solidFill>
            <a:schemeClr val="accent1"/>
          </a:solidFill>
          <a:ln/>
        </p:spPr>
      </p:sp>
      <p:pic>
        <p:nvPicPr>
          <p:cNvPr id="9" name="Image 0" descr="preencoded.png">    </p:cNvPr>
          <p:cNvPicPr>
            <a:picLocks noChangeAspect="1"/>
          </p:cNvPicPr>
          <p:nvPr/>
        </p:nvPicPr>
        <p:blipFill>
          <a:blip r:embed="rId1"/>
          <a:stretch>
            <a:fillRect/>
          </a:stretch>
        </p:blipFill>
        <p:spPr>
          <a:xfrm>
            <a:off x="9008669" y="1327709"/>
            <a:ext cx="362102" cy="362102"/>
          </a:xfrm>
          <a:prstGeom prst="rect">
            <a:avLst/>
          </a:prstGeom>
        </p:spPr>
      </p:pic>
      <p:sp>
        <p:nvSpPr>
          <p:cNvPr id="10" name="Text 7"/>
          <p:cNvSpPr txBox="1"/>
          <p:nvPr/>
        </p:nvSpPr>
        <p:spPr>
          <a:xfrm>
            <a:off x="9875520" y="1298448"/>
            <a:ext cx="1828800" cy="411480"/>
          </a:xfrm>
          <a:prstGeom prst="rect">
            <a:avLst/>
          </a:prstGeom>
          <a:noFill/>
          <a:ln/>
        </p:spPr>
        <p:txBody>
          <a:bodyPr wrap="square" lIns="0" tIns="0" rIns="0" bIns="0" rtlCol="0" anchor="ctr"/>
          <a:lstStyle/>
          <a:p>
            <a:pPr algn="l" indent="0" marL="0">
              <a:buNone/>
            </a:pPr>
            <a:r>
              <a:rPr lang="en-US" sz="2000" b="1" dirty="0">
                <a:solidFill>
                  <a:schemeClr val="bg1"/>
                </a:solidFill>
              </a:rPr>
              <a:t>Upload</a:t>
            </a:r>
            <a:endParaRPr lang="en-US" sz="2000" dirty="0"/>
          </a:p>
        </p:txBody>
      </p:sp>
      <p:sp>
        <p:nvSpPr>
          <p:cNvPr id="11" name="Shape 8"/>
          <p:cNvSpPr/>
          <p:nvPr/>
        </p:nvSpPr>
        <p:spPr>
          <a:xfrm>
            <a:off x="9189720" y="3154680"/>
            <a:ext cx="0" cy="411480"/>
          </a:xfrm>
          <a:prstGeom prst="line">
            <a:avLst/>
          </a:prstGeom>
          <a:noFill/>
          <a:ln w="19050">
            <a:solidFill>
              <a:schemeClr val="accent3"/>
            </a:solidFill>
            <a:prstDash val="solid"/>
          </a:ln>
        </p:spPr>
      </p:sp>
      <p:sp>
        <p:nvSpPr>
          <p:cNvPr id="12" name="Shape 9"/>
          <p:cNvSpPr/>
          <p:nvPr/>
        </p:nvSpPr>
        <p:spPr>
          <a:xfrm>
            <a:off x="8778240" y="2331720"/>
            <a:ext cx="822960" cy="822960"/>
          </a:xfrm>
          <a:prstGeom prst="ellipse">
            <a:avLst/>
          </a:prstGeom>
          <a:solidFill>
            <a:schemeClr val="accent1"/>
          </a:solidFill>
          <a:ln/>
        </p:spPr>
      </p:sp>
      <p:pic>
        <p:nvPicPr>
          <p:cNvPr id="13" name="Image 1" descr="preencoded.png">    </p:cNvPr>
          <p:cNvPicPr>
            <a:picLocks noChangeAspect="1"/>
          </p:cNvPicPr>
          <p:nvPr/>
        </p:nvPicPr>
        <p:blipFill>
          <a:blip r:embed="rId2"/>
          <a:stretch>
            <a:fillRect/>
          </a:stretch>
        </p:blipFill>
        <p:spPr>
          <a:xfrm>
            <a:off x="9008669" y="2562149"/>
            <a:ext cx="362102" cy="362102"/>
          </a:xfrm>
          <a:prstGeom prst="rect">
            <a:avLst/>
          </a:prstGeom>
        </p:spPr>
      </p:pic>
      <p:sp>
        <p:nvSpPr>
          <p:cNvPr id="14" name="Text 10"/>
          <p:cNvSpPr txBox="1"/>
          <p:nvPr/>
        </p:nvSpPr>
        <p:spPr>
          <a:xfrm>
            <a:off x="9875520" y="2532888"/>
            <a:ext cx="1828800" cy="411480"/>
          </a:xfrm>
          <a:prstGeom prst="rect">
            <a:avLst/>
          </a:prstGeom>
          <a:noFill/>
          <a:ln/>
        </p:spPr>
        <p:txBody>
          <a:bodyPr wrap="square" lIns="0" tIns="0" rIns="0" bIns="0" rtlCol="0" anchor="ctr"/>
          <a:lstStyle/>
          <a:p>
            <a:pPr algn="l" indent="0" marL="0">
              <a:buNone/>
            </a:pPr>
            <a:r>
              <a:rPr lang="en-US" sz="2000" b="1" dirty="0">
                <a:solidFill>
                  <a:schemeClr val="bg1"/>
                </a:solidFill>
              </a:rPr>
              <a:t>Extract</a:t>
            </a:r>
            <a:endParaRPr lang="en-US" sz="2000" dirty="0"/>
          </a:p>
        </p:txBody>
      </p:sp>
      <p:sp>
        <p:nvSpPr>
          <p:cNvPr id="15" name="Shape 11"/>
          <p:cNvSpPr/>
          <p:nvPr/>
        </p:nvSpPr>
        <p:spPr>
          <a:xfrm>
            <a:off x="9189720" y="4389120"/>
            <a:ext cx="0" cy="411480"/>
          </a:xfrm>
          <a:prstGeom prst="line">
            <a:avLst/>
          </a:prstGeom>
          <a:noFill/>
          <a:ln w="19050">
            <a:solidFill>
              <a:schemeClr val="accent3"/>
            </a:solidFill>
            <a:prstDash val="solid"/>
          </a:ln>
        </p:spPr>
      </p:sp>
      <p:sp>
        <p:nvSpPr>
          <p:cNvPr id="16" name="Shape 12"/>
          <p:cNvSpPr/>
          <p:nvPr/>
        </p:nvSpPr>
        <p:spPr>
          <a:xfrm>
            <a:off x="8778240" y="3566160"/>
            <a:ext cx="822960" cy="822960"/>
          </a:xfrm>
          <a:prstGeom prst="ellipse">
            <a:avLst/>
          </a:prstGeom>
          <a:solidFill>
            <a:schemeClr val="accent1"/>
          </a:solidFill>
          <a:ln/>
        </p:spPr>
      </p:sp>
      <p:pic>
        <p:nvPicPr>
          <p:cNvPr id="17" name="Image 2" descr="preencoded.png">    </p:cNvPr>
          <p:cNvPicPr>
            <a:picLocks noChangeAspect="1"/>
          </p:cNvPicPr>
          <p:nvPr/>
        </p:nvPicPr>
        <p:blipFill>
          <a:blip r:embed="rId3"/>
          <a:stretch>
            <a:fillRect/>
          </a:stretch>
        </p:blipFill>
        <p:spPr>
          <a:xfrm>
            <a:off x="9008669" y="3796589"/>
            <a:ext cx="362102" cy="362102"/>
          </a:xfrm>
          <a:prstGeom prst="rect">
            <a:avLst/>
          </a:prstGeom>
        </p:spPr>
      </p:pic>
      <p:sp>
        <p:nvSpPr>
          <p:cNvPr id="18" name="Text 13"/>
          <p:cNvSpPr txBox="1"/>
          <p:nvPr/>
        </p:nvSpPr>
        <p:spPr>
          <a:xfrm>
            <a:off x="9875520" y="3767328"/>
            <a:ext cx="1828800" cy="411480"/>
          </a:xfrm>
          <a:prstGeom prst="rect">
            <a:avLst/>
          </a:prstGeom>
          <a:noFill/>
          <a:ln/>
        </p:spPr>
        <p:txBody>
          <a:bodyPr wrap="square" lIns="0" tIns="0" rIns="0" bIns="0" rtlCol="0" anchor="ctr"/>
          <a:lstStyle/>
          <a:p>
            <a:pPr algn="l" indent="0" marL="0">
              <a:buNone/>
            </a:pPr>
            <a:r>
              <a:rPr lang="en-US" sz="2000" b="1" dirty="0">
                <a:solidFill>
                  <a:schemeClr val="bg1"/>
                </a:solidFill>
              </a:rPr>
              <a:t>Store</a:t>
            </a:r>
            <a:endParaRPr lang="en-US" sz="2000" dirty="0"/>
          </a:p>
        </p:txBody>
      </p:sp>
      <p:sp>
        <p:nvSpPr>
          <p:cNvPr id="19" name="Shape 14"/>
          <p:cNvSpPr/>
          <p:nvPr/>
        </p:nvSpPr>
        <p:spPr>
          <a:xfrm>
            <a:off x="8778240" y="4800600"/>
            <a:ext cx="822960" cy="822960"/>
          </a:xfrm>
          <a:prstGeom prst="ellipse">
            <a:avLst/>
          </a:prstGeom>
          <a:solidFill>
            <a:schemeClr val="accent1"/>
          </a:solidFill>
          <a:ln/>
        </p:spPr>
      </p:sp>
      <p:pic>
        <p:nvPicPr>
          <p:cNvPr id="20" name="Image 3" descr="preencoded.png">    </p:cNvPr>
          <p:cNvPicPr>
            <a:picLocks noChangeAspect="1"/>
          </p:cNvPicPr>
          <p:nvPr/>
        </p:nvPicPr>
        <p:blipFill>
          <a:blip r:embed="rId4"/>
          <a:stretch>
            <a:fillRect/>
          </a:stretch>
        </p:blipFill>
        <p:spPr>
          <a:xfrm>
            <a:off x="9008669" y="5031029"/>
            <a:ext cx="362102" cy="362102"/>
          </a:xfrm>
          <a:prstGeom prst="rect">
            <a:avLst/>
          </a:prstGeom>
        </p:spPr>
      </p:pic>
      <p:sp>
        <p:nvSpPr>
          <p:cNvPr id="21" name="Text 15"/>
          <p:cNvSpPr txBox="1"/>
          <p:nvPr/>
        </p:nvSpPr>
        <p:spPr>
          <a:xfrm>
            <a:off x="9875520" y="5001768"/>
            <a:ext cx="1828800" cy="411480"/>
          </a:xfrm>
          <a:prstGeom prst="rect">
            <a:avLst/>
          </a:prstGeom>
          <a:noFill/>
          <a:ln/>
        </p:spPr>
        <p:txBody>
          <a:bodyPr wrap="square" lIns="0" tIns="0" rIns="0" bIns="0" rtlCol="0" anchor="ctr"/>
          <a:lstStyle/>
          <a:p>
            <a:pPr algn="l" indent="0" marL="0">
              <a:buNone/>
            </a:pPr>
            <a:r>
              <a:rPr lang="en-US" sz="2000" b="1" dirty="0">
                <a:solidFill>
                  <a:schemeClr val="bg1"/>
                </a:solidFill>
              </a:rPr>
              <a:t>Notify</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68680"/>
          </a:xfrm>
          <a:prstGeom prst="rect">
            <a:avLst/>
          </a:prstGeom>
          <a:noFill/>
          <a:ln/>
        </p:spPr>
        <p:txBody>
          <a:bodyPr wrap="square" lIns="0" tIns="0" rIns="0" bIns="0" rtlCol="0" anchor="ctr"/>
          <a:lstStyle/>
          <a:p>
            <a:pPr algn="l" indent="0" marL="0">
              <a:buNone/>
            </a:pPr>
            <a:r>
              <a:rPr lang="en-US" sz="3400" b="1" dirty="0">
                <a:solidFill>
                  <a:schemeClr val="tx2"/>
                </a:solidFill>
              </a:rPr>
              <a:t>What we set out to do, and what is finished</a:t>
            </a:r>
            <a:endParaRPr lang="en-US" sz="3400" dirty="0"/>
          </a:p>
        </p:txBody>
      </p:sp>
      <p:sp>
        <p:nvSpPr>
          <p:cNvPr id="4" name="Card Serverless build"/>
          <p:cNvSpPr/>
          <p:nvPr/>
        </p:nvSpPr>
        <p:spPr>
          <a:xfrm>
            <a:off x="548640" y="1600200"/>
            <a:ext cx="3520440" cy="3017520"/>
          </a:xfrm>
          <a:prstGeom prst="roundRect">
            <a:avLst>
              <a:gd name="adj" fmla="val 2424"/>
            </a:avLst>
          </a:prstGeom>
          <a:solidFill>
            <a:schemeClr val="bg2"/>
          </a:solidFill>
          <a:ln/>
        </p:spPr>
      </p:sp>
      <p:sp>
        <p:nvSpPr>
          <p:cNvPr id="5" name="Shape 2"/>
          <p:cNvSpPr/>
          <p:nvPr/>
        </p:nvSpPr>
        <p:spPr>
          <a:xfrm>
            <a:off x="868680" y="1920240"/>
            <a:ext cx="731520" cy="731520"/>
          </a:xfrm>
          <a:prstGeom prst="ellipse">
            <a:avLst/>
          </a:prstGeom>
          <a:solidFill>
            <a:schemeClr val="accent1"/>
          </a:solidFill>
          <a:ln/>
        </p:spPr>
      </p:sp>
      <p:pic>
        <p:nvPicPr>
          <p:cNvPr id="6" name="Image 0" descr="preencoded.png">    </p:cNvPr>
          <p:cNvPicPr>
            <a:picLocks noChangeAspect="1"/>
          </p:cNvPicPr>
          <p:nvPr/>
        </p:nvPicPr>
        <p:blipFill>
          <a:blip r:embed="rId1"/>
          <a:stretch>
            <a:fillRect/>
          </a:stretch>
        </p:blipFill>
        <p:spPr>
          <a:xfrm>
            <a:off x="1073506" y="2125066"/>
            <a:ext cx="321869" cy="321869"/>
          </a:xfrm>
          <a:prstGeom prst="rect">
            <a:avLst/>
          </a:prstGeom>
        </p:spPr>
      </p:pic>
      <p:sp>
        <p:nvSpPr>
          <p:cNvPr id="7" name="Text 3"/>
          <p:cNvSpPr txBox="1"/>
          <p:nvPr/>
        </p:nvSpPr>
        <p:spPr>
          <a:xfrm>
            <a:off x="868680" y="2834640"/>
            <a:ext cx="2880360" cy="411480"/>
          </a:xfrm>
          <a:prstGeom prst="rect">
            <a:avLst/>
          </a:prstGeom>
          <a:noFill/>
          <a:ln/>
        </p:spPr>
        <p:txBody>
          <a:bodyPr wrap="square" lIns="0" tIns="0" rIns="0" bIns="0" rtlCol="0" anchor="t"/>
          <a:lstStyle/>
          <a:p>
            <a:pPr algn="l" indent="0" marL="0">
              <a:buNone/>
            </a:pPr>
            <a:r>
              <a:rPr lang="en-US" sz="2100" b="1" dirty="0">
                <a:solidFill>
                  <a:schemeClr val="tx2"/>
                </a:solidFill>
              </a:rPr>
              <a:t>Serverless build</a:t>
            </a:r>
            <a:endParaRPr lang="en-US" sz="2100" dirty="0"/>
          </a:p>
        </p:txBody>
      </p:sp>
      <p:sp>
        <p:nvSpPr>
          <p:cNvPr id="8" name="Text 4"/>
          <p:cNvSpPr txBox="1"/>
          <p:nvPr/>
        </p:nvSpPr>
        <p:spPr>
          <a:xfrm>
            <a:off x="868680" y="3337560"/>
            <a:ext cx="2880360" cy="1188720"/>
          </a:xfrm>
          <a:prstGeom prst="rect">
            <a:avLst/>
          </a:prstGeom>
          <a:noFill/>
          <a:ln/>
        </p:spPr>
        <p:txBody>
          <a:bodyPr wrap="square" lIns="0" tIns="0" rIns="0" bIns="0" rtlCol="0" anchor="t"/>
          <a:lstStyle/>
          <a:p>
            <a:pPr algn="l" indent="0" marL="0">
              <a:buNone/>
            </a:pPr>
            <a:r>
              <a:rPr lang="en-US" sz="1500" dirty="0">
                <a:solidFill>
                  <a:schemeClr val="tx1"/>
                </a:solidFill>
              </a:rPr>
              <a:t>S3 upload starts a Lambda function. Runs only when a receipt arrives. Python 3.13 on ARM, 256 MB.</a:t>
            </a:r>
            <a:endParaRPr lang="en-US" sz="1500" dirty="0"/>
          </a:p>
        </p:txBody>
      </p:sp>
      <p:sp>
        <p:nvSpPr>
          <p:cNvPr id="9" name="Card EC2 build"/>
          <p:cNvSpPr/>
          <p:nvPr/>
        </p:nvSpPr>
        <p:spPr>
          <a:xfrm>
            <a:off x="4334256" y="1600200"/>
            <a:ext cx="3520440" cy="3017520"/>
          </a:xfrm>
          <a:prstGeom prst="roundRect">
            <a:avLst>
              <a:gd name="adj" fmla="val 2424"/>
            </a:avLst>
          </a:prstGeom>
          <a:solidFill>
            <a:schemeClr val="bg2"/>
          </a:solidFill>
          <a:ln/>
        </p:spPr>
      </p:sp>
      <p:sp>
        <p:nvSpPr>
          <p:cNvPr id="10" name="Shape 6"/>
          <p:cNvSpPr/>
          <p:nvPr/>
        </p:nvSpPr>
        <p:spPr>
          <a:xfrm>
            <a:off x="4654296" y="1920240"/>
            <a:ext cx="731520" cy="731520"/>
          </a:xfrm>
          <a:prstGeom prst="ellipse">
            <a:avLst/>
          </a:prstGeom>
          <a:solidFill>
            <a:schemeClr val="accent1"/>
          </a:solidFill>
          <a:ln/>
        </p:spPr>
      </p:sp>
      <p:pic>
        <p:nvPicPr>
          <p:cNvPr id="11" name="Image 1" descr="preencoded.png">    </p:cNvPr>
          <p:cNvPicPr>
            <a:picLocks noChangeAspect="1"/>
          </p:cNvPicPr>
          <p:nvPr/>
        </p:nvPicPr>
        <p:blipFill>
          <a:blip r:embed="rId2"/>
          <a:stretch>
            <a:fillRect/>
          </a:stretch>
        </p:blipFill>
        <p:spPr>
          <a:xfrm>
            <a:off x="4859122" y="2125066"/>
            <a:ext cx="321869" cy="321869"/>
          </a:xfrm>
          <a:prstGeom prst="rect">
            <a:avLst/>
          </a:prstGeom>
        </p:spPr>
      </p:pic>
      <p:sp>
        <p:nvSpPr>
          <p:cNvPr id="12" name="Text 7"/>
          <p:cNvSpPr txBox="1"/>
          <p:nvPr/>
        </p:nvSpPr>
        <p:spPr>
          <a:xfrm>
            <a:off x="4654296" y="2834640"/>
            <a:ext cx="2880360" cy="411480"/>
          </a:xfrm>
          <a:prstGeom prst="rect">
            <a:avLst/>
          </a:prstGeom>
          <a:noFill/>
          <a:ln/>
        </p:spPr>
        <p:txBody>
          <a:bodyPr wrap="square" lIns="0" tIns="0" rIns="0" bIns="0" rtlCol="0" anchor="t"/>
          <a:lstStyle/>
          <a:p>
            <a:pPr algn="l" indent="0" marL="0">
              <a:buNone/>
            </a:pPr>
            <a:r>
              <a:rPr lang="en-US" sz="2100" b="1" dirty="0">
                <a:solidFill>
                  <a:schemeClr val="tx2"/>
                </a:solidFill>
              </a:rPr>
              <a:t>EC2 build</a:t>
            </a:r>
            <a:endParaRPr lang="en-US" sz="2100" dirty="0"/>
          </a:p>
        </p:txBody>
      </p:sp>
      <p:sp>
        <p:nvSpPr>
          <p:cNvPr id="13" name="Text 8"/>
          <p:cNvSpPr txBox="1"/>
          <p:nvPr/>
        </p:nvSpPr>
        <p:spPr>
          <a:xfrm>
            <a:off x="4654296" y="3337560"/>
            <a:ext cx="2880360" cy="1188720"/>
          </a:xfrm>
          <a:prstGeom prst="rect">
            <a:avLst/>
          </a:prstGeom>
          <a:noFill/>
          <a:ln/>
        </p:spPr>
        <p:txBody>
          <a:bodyPr wrap="square" lIns="0" tIns="0" rIns="0" bIns="0" rtlCol="0" anchor="t"/>
          <a:lstStyle/>
          <a:p>
            <a:pPr algn="l" indent="0" marL="0">
              <a:buNone/>
            </a:pPr>
            <a:r>
              <a:rPr lang="en-US" sz="1500" dirty="0">
                <a:solidFill>
                  <a:schemeClr val="tx1"/>
                </a:solidFill>
              </a:rPr>
              <a:t>A t3.micro server checks the bucket on a timer and runs the same code. Used as the baseline.</a:t>
            </a:r>
            <a:endParaRPr lang="en-US" sz="1500" dirty="0"/>
          </a:p>
        </p:txBody>
      </p:sp>
      <p:sp>
        <p:nvSpPr>
          <p:cNvPr id="14" name="Card Website and dashboard"/>
          <p:cNvSpPr/>
          <p:nvPr/>
        </p:nvSpPr>
        <p:spPr>
          <a:xfrm>
            <a:off x="8119872" y="1600200"/>
            <a:ext cx="3520440" cy="3017520"/>
          </a:xfrm>
          <a:prstGeom prst="roundRect">
            <a:avLst>
              <a:gd name="adj" fmla="val 2424"/>
            </a:avLst>
          </a:prstGeom>
          <a:solidFill>
            <a:schemeClr val="bg2"/>
          </a:solidFill>
          <a:ln/>
        </p:spPr>
      </p:sp>
      <p:sp>
        <p:nvSpPr>
          <p:cNvPr id="15" name="Shape 10"/>
          <p:cNvSpPr/>
          <p:nvPr/>
        </p:nvSpPr>
        <p:spPr>
          <a:xfrm>
            <a:off x="8439912" y="1920240"/>
            <a:ext cx="731520" cy="731520"/>
          </a:xfrm>
          <a:prstGeom prst="ellipse">
            <a:avLst/>
          </a:prstGeom>
          <a:solidFill>
            <a:schemeClr val="accent2"/>
          </a:solidFill>
          <a:ln/>
        </p:spPr>
      </p:sp>
      <p:pic>
        <p:nvPicPr>
          <p:cNvPr id="16" name="Image 2" descr="preencoded.png">    </p:cNvPr>
          <p:cNvPicPr>
            <a:picLocks noChangeAspect="1"/>
          </p:cNvPicPr>
          <p:nvPr/>
        </p:nvPicPr>
        <p:blipFill>
          <a:blip r:embed="rId3"/>
          <a:stretch>
            <a:fillRect/>
          </a:stretch>
        </p:blipFill>
        <p:spPr>
          <a:xfrm>
            <a:off x="8644738" y="2125066"/>
            <a:ext cx="321869" cy="321869"/>
          </a:xfrm>
          <a:prstGeom prst="rect">
            <a:avLst/>
          </a:prstGeom>
        </p:spPr>
      </p:pic>
      <p:sp>
        <p:nvSpPr>
          <p:cNvPr id="17" name="Text 11"/>
          <p:cNvSpPr txBox="1"/>
          <p:nvPr/>
        </p:nvSpPr>
        <p:spPr>
          <a:xfrm>
            <a:off x="8439912" y="2834640"/>
            <a:ext cx="2880360" cy="411480"/>
          </a:xfrm>
          <a:prstGeom prst="rect">
            <a:avLst/>
          </a:prstGeom>
          <a:noFill/>
          <a:ln/>
        </p:spPr>
        <p:txBody>
          <a:bodyPr wrap="square" lIns="0" tIns="0" rIns="0" bIns="0" rtlCol="0" anchor="t"/>
          <a:lstStyle/>
          <a:p>
            <a:pPr algn="l" indent="0" marL="0">
              <a:buNone/>
            </a:pPr>
            <a:r>
              <a:rPr lang="en-US" sz="2100" b="1" dirty="0">
                <a:solidFill>
                  <a:schemeClr val="tx2"/>
                </a:solidFill>
              </a:rPr>
              <a:t>Website and dashboard</a:t>
            </a:r>
            <a:endParaRPr lang="en-US" sz="2100" dirty="0"/>
          </a:p>
        </p:txBody>
      </p:sp>
      <p:sp>
        <p:nvSpPr>
          <p:cNvPr id="18" name="Text 12"/>
          <p:cNvSpPr txBox="1"/>
          <p:nvPr/>
        </p:nvSpPr>
        <p:spPr>
          <a:xfrm>
            <a:off x="8439912" y="3337560"/>
            <a:ext cx="2880360" cy="1188720"/>
          </a:xfrm>
          <a:prstGeom prst="rect">
            <a:avLst/>
          </a:prstGeom>
          <a:noFill/>
          <a:ln/>
        </p:spPr>
        <p:txBody>
          <a:bodyPr wrap="square" lIns="0" tIns="0" rIns="0" bIns="0" rtlCol="0" anchor="t"/>
          <a:lstStyle/>
          <a:p>
            <a:pPr algn="l" indent="0" marL="0">
              <a:buNone/>
            </a:pPr>
            <a:r>
              <a:rPr lang="en-US" sz="1500" dirty="0">
                <a:solidFill>
                  <a:schemeClr val="tx1"/>
                </a:solidFill>
              </a:rPr>
              <a:t>Upload page, live results, spending summary, CSV export, and a CloudWatch dashboard with an alarm.</a:t>
            </a:r>
            <a:endParaRPr lang="en-US" sz="1500" dirty="0"/>
          </a:p>
        </p:txBody>
      </p:sp>
      <p:sp>
        <p:nvSpPr>
          <p:cNvPr id="19" name="Shape 13"/>
          <p:cNvSpPr/>
          <p:nvPr/>
        </p:nvSpPr>
        <p:spPr>
          <a:xfrm>
            <a:off x="548640" y="4846320"/>
            <a:ext cx="329184" cy="329184"/>
          </a:xfrm>
          <a:prstGeom prst="ellipse">
            <a:avLst/>
          </a:prstGeom>
          <a:solidFill>
            <a:schemeClr val="accent1"/>
          </a:solidFill>
          <a:ln/>
        </p:spPr>
      </p:sp>
      <p:pic>
        <p:nvPicPr>
          <p:cNvPr id="20" name="Image 3" descr="preencoded.png">    </p:cNvPr>
          <p:cNvPicPr>
            <a:picLocks noChangeAspect="1"/>
          </p:cNvPicPr>
          <p:nvPr/>
        </p:nvPicPr>
        <p:blipFill>
          <a:blip r:embed="rId4"/>
          <a:stretch>
            <a:fillRect/>
          </a:stretch>
        </p:blipFill>
        <p:spPr>
          <a:xfrm>
            <a:off x="640812" y="4938492"/>
            <a:ext cx="144841" cy="144841"/>
          </a:xfrm>
          <a:prstGeom prst="rect">
            <a:avLst/>
          </a:prstGeom>
        </p:spPr>
      </p:pic>
      <p:sp>
        <p:nvSpPr>
          <p:cNvPr id="21" name="Text 14"/>
          <p:cNvSpPr txBox="1"/>
          <p:nvPr/>
        </p:nvSpPr>
        <p:spPr>
          <a:xfrm>
            <a:off x="1005840" y="4846320"/>
            <a:ext cx="10515600" cy="329184"/>
          </a:xfrm>
          <a:prstGeom prst="rect">
            <a:avLst/>
          </a:prstGeom>
          <a:noFill/>
          <a:ln/>
        </p:spPr>
        <p:txBody>
          <a:bodyPr wrap="square" lIns="0" tIns="0" rIns="0" bIns="0" rtlCol="0" anchor="ctr"/>
          <a:lstStyle/>
          <a:p>
            <a:pPr algn="l" indent="0" marL="0">
              <a:buNone/>
            </a:pPr>
            <a:r>
              <a:rPr lang="en-US" sz="1500" dirty="0">
                <a:solidFill>
                  <a:schemeClr val="tx1"/>
                </a:solidFill>
              </a:rPr>
              <a:t>Shared setup: private S3 bucket, DynamoDB table, SNS email, least-privilege IAM, budget alerts</a:t>
            </a:r>
            <a:endParaRPr lang="en-US" sz="1500" dirty="0"/>
          </a:p>
        </p:txBody>
      </p:sp>
      <p:sp>
        <p:nvSpPr>
          <p:cNvPr id="22" name="Shape 15"/>
          <p:cNvSpPr/>
          <p:nvPr/>
        </p:nvSpPr>
        <p:spPr>
          <a:xfrm>
            <a:off x="548640" y="5303520"/>
            <a:ext cx="329184" cy="329184"/>
          </a:xfrm>
          <a:prstGeom prst="ellipse">
            <a:avLst/>
          </a:prstGeom>
          <a:solidFill>
            <a:schemeClr val="accent1"/>
          </a:solidFill>
          <a:ln/>
        </p:spPr>
      </p:sp>
      <p:pic>
        <p:nvPicPr>
          <p:cNvPr id="23" name="Image 4" descr="preencoded.png">    </p:cNvPr>
          <p:cNvPicPr>
            <a:picLocks noChangeAspect="1"/>
          </p:cNvPicPr>
          <p:nvPr/>
        </p:nvPicPr>
        <p:blipFill>
          <a:blip r:embed="rId5"/>
          <a:stretch>
            <a:fillRect/>
          </a:stretch>
        </p:blipFill>
        <p:spPr>
          <a:xfrm>
            <a:off x="640812" y="5395692"/>
            <a:ext cx="144841" cy="144841"/>
          </a:xfrm>
          <a:prstGeom prst="rect">
            <a:avLst/>
          </a:prstGeom>
        </p:spPr>
      </p:pic>
      <p:sp>
        <p:nvSpPr>
          <p:cNvPr id="24" name="Text 16"/>
          <p:cNvSpPr txBox="1"/>
          <p:nvPr/>
        </p:nvSpPr>
        <p:spPr>
          <a:xfrm>
            <a:off x="1005840" y="5303520"/>
            <a:ext cx="10515600" cy="329184"/>
          </a:xfrm>
          <a:prstGeom prst="rect">
            <a:avLst/>
          </a:prstGeom>
          <a:noFill/>
          <a:ln/>
        </p:spPr>
        <p:txBody>
          <a:bodyPr wrap="square" lIns="0" tIns="0" rIns="0" bIns="0" rtlCol="0" anchor="ctr"/>
          <a:lstStyle/>
          <a:p>
            <a:pPr algn="l" indent="0" marL="0">
              <a:buNone/>
            </a:pPr>
            <a:r>
              <a:rPr lang="en-US" sz="1500" dirty="0">
                <a:solidFill>
                  <a:schemeClr val="tx1"/>
                </a:solidFill>
              </a:rPr>
              <a:t>Both builds deployed with CloudFormation and one script each</a:t>
            </a:r>
            <a:endParaRPr lang="en-US" sz="1500" dirty="0"/>
          </a:p>
        </p:txBody>
      </p:sp>
      <p:sp>
        <p:nvSpPr>
          <p:cNvPr id="25" name="Shape 17"/>
          <p:cNvSpPr/>
          <p:nvPr/>
        </p:nvSpPr>
        <p:spPr>
          <a:xfrm>
            <a:off x="548640" y="5760720"/>
            <a:ext cx="329184" cy="329184"/>
          </a:xfrm>
          <a:prstGeom prst="ellipse">
            <a:avLst/>
          </a:prstGeom>
          <a:solidFill>
            <a:schemeClr val="accent1"/>
          </a:solidFill>
          <a:ln/>
        </p:spPr>
      </p:sp>
      <p:pic>
        <p:nvPicPr>
          <p:cNvPr id="26" name="Image 5" descr="preencoded.png">    </p:cNvPr>
          <p:cNvPicPr>
            <a:picLocks noChangeAspect="1"/>
          </p:cNvPicPr>
          <p:nvPr/>
        </p:nvPicPr>
        <p:blipFill>
          <a:blip r:embed="rId6"/>
          <a:stretch>
            <a:fillRect/>
          </a:stretch>
        </p:blipFill>
        <p:spPr>
          <a:xfrm>
            <a:off x="640812" y="5852892"/>
            <a:ext cx="144841" cy="144841"/>
          </a:xfrm>
          <a:prstGeom prst="rect">
            <a:avLst/>
          </a:prstGeom>
        </p:spPr>
      </p:pic>
      <p:sp>
        <p:nvSpPr>
          <p:cNvPr id="27" name="Text 18"/>
          <p:cNvSpPr txBox="1"/>
          <p:nvPr/>
        </p:nvSpPr>
        <p:spPr>
          <a:xfrm>
            <a:off x="1005840" y="5760720"/>
            <a:ext cx="10515600" cy="329184"/>
          </a:xfrm>
          <a:prstGeom prst="rect">
            <a:avLst/>
          </a:prstGeom>
          <a:noFill/>
          <a:ln/>
        </p:spPr>
        <p:txBody>
          <a:bodyPr wrap="square" lIns="0" tIns="0" rIns="0" bIns="0" rtlCol="0" anchor="ctr"/>
          <a:lstStyle/>
          <a:p>
            <a:pPr algn="l" indent="0" marL="0">
              <a:buNone/>
            </a:pPr>
            <a:r>
              <a:rPr lang="en-US" sz="1500" dirty="0">
                <a:solidFill>
                  <a:schemeClr val="tx1"/>
                </a:solidFill>
              </a:rPr>
              <a:t>Code checks on a simulated AWS, then every result measured on the real one</a:t>
            </a:r>
            <a:endParaRPr lang="en-US" sz="150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68680"/>
          </a:xfrm>
          <a:prstGeom prst="rect">
            <a:avLst/>
          </a:prstGeom>
          <a:noFill/>
          <a:ln/>
        </p:spPr>
        <p:txBody>
          <a:bodyPr wrap="square" lIns="0" tIns="0" rIns="0" bIns="0" rtlCol="0" anchor="ctr"/>
          <a:lstStyle/>
          <a:p>
            <a:pPr algn="l" indent="0" marL="0">
              <a:buNone/>
            </a:pPr>
            <a:r>
              <a:rPr lang="en-US" sz="3400" b="1" dirty="0">
                <a:solidFill>
                  <a:schemeClr val="tx2"/>
                </a:solidFill>
              </a:rPr>
              <a:t>The same code runs in two architectures</a:t>
            </a:r>
            <a:endParaRPr lang="en-US" sz="3400" dirty="0"/>
          </a:p>
        </p:txBody>
      </p:sp>
      <p:sp>
        <p:nvSpPr>
          <p:cNvPr id="4" name="Text 1"/>
          <p:cNvSpPr txBox="1"/>
          <p:nvPr/>
        </p:nvSpPr>
        <p:spPr>
          <a:xfrm>
            <a:off x="548640" y="1417320"/>
            <a:ext cx="10972800" cy="274320"/>
          </a:xfrm>
          <a:prstGeom prst="rect">
            <a:avLst/>
          </a:prstGeom>
          <a:noFill/>
          <a:ln/>
        </p:spPr>
        <p:txBody>
          <a:bodyPr wrap="square" lIns="0" tIns="0" rIns="0" bIns="0" rtlCol="0" anchor="t"/>
          <a:lstStyle/>
          <a:p>
            <a:pPr algn="l" indent="0" marL="0">
              <a:buNone/>
            </a:pPr>
            <a:r>
              <a:rPr lang="en-US" sz="1200" b="1" spc="200" kern="0" dirty="0">
                <a:solidFill>
                  <a:schemeClr val="accent4"/>
                </a:solidFill>
              </a:rPr>
              <a:t>SERVERLESS: THE UPLOAD STARTS THE WORK</a:t>
            </a:r>
            <a:endParaRPr lang="en-US" sz="1200" dirty="0"/>
          </a:p>
        </p:txBody>
      </p:sp>
      <p:sp>
        <p:nvSpPr>
          <p:cNvPr id="5" name="Node Upload1.55"/>
          <p:cNvSpPr/>
          <p:nvPr/>
        </p:nvSpPr>
        <p:spPr>
          <a:xfrm>
            <a:off x="548640" y="1783080"/>
            <a:ext cx="2468880" cy="1645920"/>
          </a:xfrm>
          <a:prstGeom prst="roundRect">
            <a:avLst>
              <a:gd name="adj" fmla="val 4444"/>
            </a:avLst>
          </a:prstGeom>
          <a:solidFill>
            <a:schemeClr val="bg2"/>
          </a:solidFill>
          <a:ln/>
        </p:spPr>
      </p:sp>
      <p:sp>
        <p:nvSpPr>
          <p:cNvPr id="6" name="Shape 3"/>
          <p:cNvSpPr/>
          <p:nvPr/>
        </p:nvSpPr>
        <p:spPr>
          <a:xfrm>
            <a:off x="731520" y="1965960"/>
            <a:ext cx="548640" cy="548640"/>
          </a:xfrm>
          <a:prstGeom prst="ellipse">
            <a:avLst/>
          </a:prstGeom>
          <a:solidFill>
            <a:schemeClr val="accent1"/>
          </a:solidFill>
          <a:ln/>
        </p:spPr>
      </p:sp>
      <p:pic>
        <p:nvPicPr>
          <p:cNvPr id="7" name="Image 0" descr="preencoded.png">    </p:cNvPr>
          <p:cNvPicPr>
            <a:picLocks noChangeAspect="1"/>
          </p:cNvPicPr>
          <p:nvPr/>
        </p:nvPicPr>
        <p:blipFill>
          <a:blip r:embed="rId1"/>
          <a:stretch>
            <a:fillRect/>
          </a:stretch>
        </p:blipFill>
        <p:spPr>
          <a:xfrm>
            <a:off x="885139" y="2119579"/>
            <a:ext cx="241402" cy="241402"/>
          </a:xfrm>
          <a:prstGeom prst="rect">
            <a:avLst/>
          </a:prstGeom>
        </p:spPr>
      </p:pic>
      <p:sp>
        <p:nvSpPr>
          <p:cNvPr id="8" name="Text 4"/>
          <p:cNvSpPr txBox="1"/>
          <p:nvPr/>
        </p:nvSpPr>
        <p:spPr>
          <a:xfrm>
            <a:off x="1417320" y="1984248"/>
            <a:ext cx="1508760" cy="502920"/>
          </a:xfrm>
          <a:prstGeom prst="rect">
            <a:avLst/>
          </a:prstGeom>
          <a:noFill/>
          <a:ln/>
        </p:spPr>
        <p:txBody>
          <a:bodyPr wrap="square" lIns="0" tIns="0" rIns="0" bIns="0" rtlCol="0" anchor="ctr"/>
          <a:lstStyle/>
          <a:p>
            <a:pPr algn="l" indent="0" marL="0">
              <a:buNone/>
            </a:pPr>
            <a:r>
              <a:rPr lang="en-US" sz="1500" b="1" dirty="0">
                <a:solidFill>
                  <a:schemeClr val="tx2"/>
                </a:solidFill>
              </a:rPr>
              <a:t>Upload</a:t>
            </a:r>
            <a:endParaRPr lang="en-US" sz="1500" dirty="0"/>
          </a:p>
        </p:txBody>
      </p:sp>
      <p:sp>
        <p:nvSpPr>
          <p:cNvPr id="9" name="Text 5"/>
          <p:cNvSpPr txBox="1"/>
          <p:nvPr/>
        </p:nvSpPr>
        <p:spPr>
          <a:xfrm>
            <a:off x="731520" y="2651760"/>
            <a:ext cx="2103120" cy="731520"/>
          </a:xfrm>
          <a:prstGeom prst="rect">
            <a:avLst/>
          </a:prstGeom>
          <a:noFill/>
          <a:ln/>
        </p:spPr>
        <p:txBody>
          <a:bodyPr wrap="square" lIns="0" tIns="0" rIns="0" bIns="0" rtlCol="0" anchor="t"/>
          <a:lstStyle/>
          <a:p>
            <a:pPr algn="l" indent="0" marL="0">
              <a:buNone/>
            </a:pPr>
            <a:r>
              <a:rPr lang="en-US" sz="1250" dirty="0">
                <a:solidFill>
                  <a:schemeClr val="accent4"/>
                </a:solidFill>
              </a:rPr>
              <a:t>Browser or console, PDF or photo</a:t>
            </a:r>
            <a:endParaRPr lang="en-US" sz="1250" dirty="0"/>
          </a:p>
        </p:txBody>
      </p:sp>
      <p:sp>
        <p:nvSpPr>
          <p:cNvPr id="10" name="Shape 6"/>
          <p:cNvSpPr/>
          <p:nvPr/>
        </p:nvSpPr>
        <p:spPr>
          <a:xfrm>
            <a:off x="3090672" y="2606040"/>
            <a:ext cx="265176" cy="0"/>
          </a:xfrm>
          <a:prstGeom prst="line">
            <a:avLst/>
          </a:prstGeom>
          <a:noFill/>
          <a:ln w="22225">
            <a:solidFill>
              <a:schemeClr val="accent4"/>
            </a:solidFill>
            <a:prstDash val="solid"/>
            <a:tailEnd type="triangle"/>
          </a:ln>
        </p:spPr>
      </p:sp>
      <p:sp>
        <p:nvSpPr>
          <p:cNvPr id="11" name="Node Amazon S31.55"/>
          <p:cNvSpPr/>
          <p:nvPr/>
        </p:nvSpPr>
        <p:spPr>
          <a:xfrm>
            <a:off x="3429000" y="1783080"/>
            <a:ext cx="2468880" cy="1645920"/>
          </a:xfrm>
          <a:prstGeom prst="roundRect">
            <a:avLst>
              <a:gd name="adj" fmla="val 4444"/>
            </a:avLst>
          </a:prstGeom>
          <a:solidFill>
            <a:schemeClr val="bg2"/>
          </a:solidFill>
          <a:ln/>
        </p:spPr>
      </p:sp>
      <p:sp>
        <p:nvSpPr>
          <p:cNvPr id="12" name="Shape 8"/>
          <p:cNvSpPr/>
          <p:nvPr/>
        </p:nvSpPr>
        <p:spPr>
          <a:xfrm>
            <a:off x="3611880" y="1965960"/>
            <a:ext cx="548640" cy="548640"/>
          </a:xfrm>
          <a:prstGeom prst="ellipse">
            <a:avLst/>
          </a:prstGeom>
          <a:solidFill>
            <a:schemeClr val="accent1"/>
          </a:solidFill>
          <a:ln/>
        </p:spPr>
      </p:sp>
      <p:pic>
        <p:nvPicPr>
          <p:cNvPr id="13" name="Image 1" descr="preencoded.png">    </p:cNvPr>
          <p:cNvPicPr>
            <a:picLocks noChangeAspect="1"/>
          </p:cNvPicPr>
          <p:nvPr/>
        </p:nvPicPr>
        <p:blipFill>
          <a:blip r:embed="rId2"/>
          <a:stretch>
            <a:fillRect/>
          </a:stretch>
        </p:blipFill>
        <p:spPr>
          <a:xfrm>
            <a:off x="3765499" y="2119579"/>
            <a:ext cx="241402" cy="241402"/>
          </a:xfrm>
          <a:prstGeom prst="rect">
            <a:avLst/>
          </a:prstGeom>
        </p:spPr>
      </p:pic>
      <p:sp>
        <p:nvSpPr>
          <p:cNvPr id="14" name="Text 9"/>
          <p:cNvSpPr txBox="1"/>
          <p:nvPr/>
        </p:nvSpPr>
        <p:spPr>
          <a:xfrm>
            <a:off x="4297680" y="1984248"/>
            <a:ext cx="1508760" cy="502920"/>
          </a:xfrm>
          <a:prstGeom prst="rect">
            <a:avLst/>
          </a:prstGeom>
          <a:noFill/>
          <a:ln/>
        </p:spPr>
        <p:txBody>
          <a:bodyPr wrap="square" lIns="0" tIns="0" rIns="0" bIns="0" rtlCol="0" anchor="ctr"/>
          <a:lstStyle/>
          <a:p>
            <a:pPr algn="l" indent="0" marL="0">
              <a:buNone/>
            </a:pPr>
            <a:r>
              <a:rPr lang="en-US" sz="1500" b="1" dirty="0">
                <a:solidFill>
                  <a:schemeClr val="tx2"/>
                </a:solidFill>
              </a:rPr>
              <a:t>Amazon S3</a:t>
            </a:r>
            <a:endParaRPr lang="en-US" sz="1500" dirty="0"/>
          </a:p>
        </p:txBody>
      </p:sp>
      <p:sp>
        <p:nvSpPr>
          <p:cNvPr id="15" name="Text 10"/>
          <p:cNvSpPr txBox="1"/>
          <p:nvPr/>
        </p:nvSpPr>
        <p:spPr>
          <a:xfrm>
            <a:off x="3611880" y="2651760"/>
            <a:ext cx="2103120" cy="731520"/>
          </a:xfrm>
          <a:prstGeom prst="rect">
            <a:avLst/>
          </a:prstGeom>
          <a:noFill/>
          <a:ln/>
        </p:spPr>
        <p:txBody>
          <a:bodyPr wrap="square" lIns="0" tIns="0" rIns="0" bIns="0" rtlCol="0" anchor="t"/>
          <a:lstStyle/>
          <a:p>
            <a:pPr algn="l" indent="0" marL="0">
              <a:buNone/>
            </a:pPr>
            <a:r>
              <a:rPr lang="en-US" sz="1250" dirty="0">
                <a:solidFill>
                  <a:schemeClr val="accent4"/>
                </a:solidFill>
              </a:rPr>
              <a:t>Raises an event at once</a:t>
            </a:r>
            <a:endParaRPr lang="en-US" sz="1250" dirty="0"/>
          </a:p>
        </p:txBody>
      </p:sp>
      <p:sp>
        <p:nvSpPr>
          <p:cNvPr id="16" name="Shape 11"/>
          <p:cNvSpPr/>
          <p:nvPr/>
        </p:nvSpPr>
        <p:spPr>
          <a:xfrm>
            <a:off x="5971032" y="2606040"/>
            <a:ext cx="265176" cy="0"/>
          </a:xfrm>
          <a:prstGeom prst="line">
            <a:avLst/>
          </a:prstGeom>
          <a:noFill/>
          <a:ln w="22225">
            <a:solidFill>
              <a:schemeClr val="accent4"/>
            </a:solidFill>
            <a:prstDash val="solid"/>
            <a:tailEnd type="triangle"/>
          </a:ln>
        </p:spPr>
      </p:sp>
      <p:sp>
        <p:nvSpPr>
          <p:cNvPr id="17" name="Node Lambda1.55"/>
          <p:cNvSpPr/>
          <p:nvPr/>
        </p:nvSpPr>
        <p:spPr>
          <a:xfrm>
            <a:off x="6309360" y="1783080"/>
            <a:ext cx="2468880" cy="1645920"/>
          </a:xfrm>
          <a:prstGeom prst="roundRect">
            <a:avLst>
              <a:gd name="adj" fmla="val 4444"/>
            </a:avLst>
          </a:prstGeom>
          <a:solidFill>
            <a:schemeClr val="bg2"/>
          </a:solidFill>
          <a:ln/>
        </p:spPr>
      </p:sp>
      <p:sp>
        <p:nvSpPr>
          <p:cNvPr id="18" name="Shape 13"/>
          <p:cNvSpPr/>
          <p:nvPr/>
        </p:nvSpPr>
        <p:spPr>
          <a:xfrm>
            <a:off x="6492240" y="1965960"/>
            <a:ext cx="548640" cy="548640"/>
          </a:xfrm>
          <a:prstGeom prst="ellipse">
            <a:avLst/>
          </a:prstGeom>
          <a:solidFill>
            <a:schemeClr val="accent1"/>
          </a:solidFill>
          <a:ln/>
        </p:spPr>
      </p:sp>
      <p:pic>
        <p:nvPicPr>
          <p:cNvPr id="19" name="Image 2" descr="preencoded.png">    </p:cNvPr>
          <p:cNvPicPr>
            <a:picLocks noChangeAspect="1"/>
          </p:cNvPicPr>
          <p:nvPr/>
        </p:nvPicPr>
        <p:blipFill>
          <a:blip r:embed="rId3"/>
          <a:stretch>
            <a:fillRect/>
          </a:stretch>
        </p:blipFill>
        <p:spPr>
          <a:xfrm>
            <a:off x="6645859" y="2119579"/>
            <a:ext cx="241402" cy="241402"/>
          </a:xfrm>
          <a:prstGeom prst="rect">
            <a:avLst/>
          </a:prstGeom>
        </p:spPr>
      </p:pic>
      <p:sp>
        <p:nvSpPr>
          <p:cNvPr id="20" name="Text 14"/>
          <p:cNvSpPr txBox="1"/>
          <p:nvPr/>
        </p:nvSpPr>
        <p:spPr>
          <a:xfrm>
            <a:off x="7178040" y="1984248"/>
            <a:ext cx="1508760" cy="502920"/>
          </a:xfrm>
          <a:prstGeom prst="rect">
            <a:avLst/>
          </a:prstGeom>
          <a:noFill/>
          <a:ln/>
        </p:spPr>
        <p:txBody>
          <a:bodyPr wrap="square" lIns="0" tIns="0" rIns="0" bIns="0" rtlCol="0" anchor="ctr"/>
          <a:lstStyle/>
          <a:p>
            <a:pPr algn="l" indent="0" marL="0">
              <a:buNone/>
            </a:pPr>
            <a:r>
              <a:rPr lang="en-US" sz="1500" b="1" dirty="0">
                <a:solidFill>
                  <a:schemeClr val="tx2"/>
                </a:solidFill>
              </a:rPr>
              <a:t>Lambda</a:t>
            </a:r>
            <a:endParaRPr lang="en-US" sz="1500" dirty="0"/>
          </a:p>
        </p:txBody>
      </p:sp>
      <p:sp>
        <p:nvSpPr>
          <p:cNvPr id="21" name="Text 15"/>
          <p:cNvSpPr txBox="1"/>
          <p:nvPr/>
        </p:nvSpPr>
        <p:spPr>
          <a:xfrm>
            <a:off x="6492240" y="2651760"/>
            <a:ext cx="2103120" cy="731520"/>
          </a:xfrm>
          <a:prstGeom prst="rect">
            <a:avLst/>
          </a:prstGeom>
          <a:noFill/>
          <a:ln/>
        </p:spPr>
        <p:txBody>
          <a:bodyPr wrap="square" lIns="0" tIns="0" rIns="0" bIns="0" rtlCol="0" anchor="t"/>
          <a:lstStyle/>
          <a:p>
            <a:pPr algn="l" indent="0" marL="0">
              <a:buNone/>
            </a:pPr>
            <a:r>
              <a:rPr lang="en-US" sz="1250" dirty="0">
                <a:solidFill>
                  <a:schemeClr val="accent4"/>
                </a:solidFill>
              </a:rPr>
              <a:t>Reads, parses, checks, saves</a:t>
            </a:r>
            <a:endParaRPr lang="en-US" sz="1250" dirty="0"/>
          </a:p>
        </p:txBody>
      </p:sp>
      <p:sp>
        <p:nvSpPr>
          <p:cNvPr id="22" name="Shape 16"/>
          <p:cNvSpPr/>
          <p:nvPr/>
        </p:nvSpPr>
        <p:spPr>
          <a:xfrm>
            <a:off x="8851392" y="2606040"/>
            <a:ext cx="265176" cy="0"/>
          </a:xfrm>
          <a:prstGeom prst="line">
            <a:avLst/>
          </a:prstGeom>
          <a:noFill/>
          <a:ln w="22225">
            <a:solidFill>
              <a:schemeClr val="accent4"/>
            </a:solidFill>
            <a:prstDash val="solid"/>
            <a:tailEnd type="triangle"/>
          </a:ln>
        </p:spPr>
      </p:sp>
      <p:sp>
        <p:nvSpPr>
          <p:cNvPr id="23" name="Node DynamoDB + SNS1.55"/>
          <p:cNvSpPr/>
          <p:nvPr/>
        </p:nvSpPr>
        <p:spPr>
          <a:xfrm>
            <a:off x="9189720" y="1783080"/>
            <a:ext cx="2468880" cy="1645920"/>
          </a:xfrm>
          <a:prstGeom prst="roundRect">
            <a:avLst>
              <a:gd name="adj" fmla="val 4444"/>
            </a:avLst>
          </a:prstGeom>
          <a:solidFill>
            <a:schemeClr val="bg2"/>
          </a:solidFill>
          <a:ln/>
        </p:spPr>
      </p:sp>
      <p:sp>
        <p:nvSpPr>
          <p:cNvPr id="24" name="Shape 18"/>
          <p:cNvSpPr/>
          <p:nvPr/>
        </p:nvSpPr>
        <p:spPr>
          <a:xfrm>
            <a:off x="9372600" y="1965960"/>
            <a:ext cx="548640" cy="548640"/>
          </a:xfrm>
          <a:prstGeom prst="ellipse">
            <a:avLst/>
          </a:prstGeom>
          <a:solidFill>
            <a:schemeClr val="accent1"/>
          </a:solidFill>
          <a:ln/>
        </p:spPr>
      </p:sp>
      <p:pic>
        <p:nvPicPr>
          <p:cNvPr id="25" name="Image 3" descr="preencoded.png">    </p:cNvPr>
          <p:cNvPicPr>
            <a:picLocks noChangeAspect="1"/>
          </p:cNvPicPr>
          <p:nvPr/>
        </p:nvPicPr>
        <p:blipFill>
          <a:blip r:embed="rId4"/>
          <a:stretch>
            <a:fillRect/>
          </a:stretch>
        </p:blipFill>
        <p:spPr>
          <a:xfrm>
            <a:off x="9526219" y="2119579"/>
            <a:ext cx="241402" cy="241402"/>
          </a:xfrm>
          <a:prstGeom prst="rect">
            <a:avLst/>
          </a:prstGeom>
        </p:spPr>
      </p:pic>
      <p:sp>
        <p:nvSpPr>
          <p:cNvPr id="26" name="Text 19"/>
          <p:cNvSpPr txBox="1"/>
          <p:nvPr/>
        </p:nvSpPr>
        <p:spPr>
          <a:xfrm>
            <a:off x="10058400" y="1984248"/>
            <a:ext cx="1508760" cy="502920"/>
          </a:xfrm>
          <a:prstGeom prst="rect">
            <a:avLst/>
          </a:prstGeom>
          <a:noFill/>
          <a:ln/>
        </p:spPr>
        <p:txBody>
          <a:bodyPr wrap="square" lIns="0" tIns="0" rIns="0" bIns="0" rtlCol="0" anchor="ctr"/>
          <a:lstStyle/>
          <a:p>
            <a:pPr algn="l" indent="0" marL="0">
              <a:buNone/>
            </a:pPr>
            <a:r>
              <a:rPr lang="en-US" sz="1500" b="1" dirty="0">
                <a:solidFill>
                  <a:schemeClr val="tx2"/>
                </a:solidFill>
              </a:rPr>
              <a:t>DynamoDB + SNS</a:t>
            </a:r>
            <a:endParaRPr lang="en-US" sz="1500" dirty="0"/>
          </a:p>
        </p:txBody>
      </p:sp>
      <p:sp>
        <p:nvSpPr>
          <p:cNvPr id="27" name="Text 20"/>
          <p:cNvSpPr txBox="1"/>
          <p:nvPr/>
        </p:nvSpPr>
        <p:spPr>
          <a:xfrm>
            <a:off x="9372600" y="2651760"/>
            <a:ext cx="2103120" cy="731520"/>
          </a:xfrm>
          <a:prstGeom prst="rect">
            <a:avLst/>
          </a:prstGeom>
          <a:noFill/>
          <a:ln/>
        </p:spPr>
        <p:txBody>
          <a:bodyPr wrap="square" lIns="0" tIns="0" rIns="0" bIns="0" rtlCol="0" anchor="t"/>
          <a:lstStyle/>
          <a:p>
            <a:pPr algn="l" indent="0" marL="0">
              <a:buNone/>
            </a:pPr>
            <a:r>
              <a:rPr lang="en-US" sz="1250" dirty="0">
                <a:solidFill>
                  <a:schemeClr val="accent4"/>
                </a:solidFill>
              </a:rPr>
              <a:t>Row saved, email sent</a:t>
            </a:r>
            <a:endParaRPr lang="en-US" sz="1250" dirty="0"/>
          </a:p>
        </p:txBody>
      </p:sp>
      <p:sp>
        <p:nvSpPr>
          <p:cNvPr id="28" name="Text 21"/>
          <p:cNvSpPr txBox="1"/>
          <p:nvPr/>
        </p:nvSpPr>
        <p:spPr>
          <a:xfrm>
            <a:off x="548640" y="3657600"/>
            <a:ext cx="10972800" cy="274320"/>
          </a:xfrm>
          <a:prstGeom prst="rect">
            <a:avLst/>
          </a:prstGeom>
          <a:noFill/>
          <a:ln/>
        </p:spPr>
        <p:txBody>
          <a:bodyPr wrap="square" lIns="0" tIns="0" rIns="0" bIns="0" rtlCol="0" anchor="t"/>
          <a:lstStyle/>
          <a:p>
            <a:pPr algn="l" indent="0" marL="0">
              <a:buNone/>
            </a:pPr>
            <a:r>
              <a:rPr lang="en-US" sz="1200" b="1" spc="200" kern="0" dirty="0">
                <a:solidFill>
                  <a:schemeClr val="accent4"/>
                </a:solidFill>
              </a:rPr>
              <a:t>EC2: A SERVER ASKS THE BUCKET FOR NEW FILES</a:t>
            </a:r>
            <a:endParaRPr lang="en-US" sz="1200" dirty="0"/>
          </a:p>
        </p:txBody>
      </p:sp>
      <p:sp>
        <p:nvSpPr>
          <p:cNvPr id="29" name="Node Upload4"/>
          <p:cNvSpPr/>
          <p:nvPr/>
        </p:nvSpPr>
        <p:spPr>
          <a:xfrm>
            <a:off x="548640" y="4023360"/>
            <a:ext cx="2468880" cy="1645920"/>
          </a:xfrm>
          <a:prstGeom prst="roundRect">
            <a:avLst>
              <a:gd name="adj" fmla="val 4444"/>
            </a:avLst>
          </a:prstGeom>
          <a:solidFill>
            <a:schemeClr val="bg2"/>
          </a:solidFill>
          <a:ln/>
        </p:spPr>
      </p:sp>
      <p:sp>
        <p:nvSpPr>
          <p:cNvPr id="30" name="Shape 23"/>
          <p:cNvSpPr/>
          <p:nvPr/>
        </p:nvSpPr>
        <p:spPr>
          <a:xfrm>
            <a:off x="731520" y="4206240"/>
            <a:ext cx="548640" cy="548640"/>
          </a:xfrm>
          <a:prstGeom prst="ellipse">
            <a:avLst/>
          </a:prstGeom>
          <a:solidFill>
            <a:schemeClr val="accent1"/>
          </a:solidFill>
          <a:ln/>
        </p:spPr>
      </p:sp>
      <p:pic>
        <p:nvPicPr>
          <p:cNvPr id="31" name="Image 4" descr="preencoded.png">    </p:cNvPr>
          <p:cNvPicPr>
            <a:picLocks noChangeAspect="1"/>
          </p:cNvPicPr>
          <p:nvPr/>
        </p:nvPicPr>
        <p:blipFill>
          <a:blip r:embed="rId5"/>
          <a:stretch>
            <a:fillRect/>
          </a:stretch>
        </p:blipFill>
        <p:spPr>
          <a:xfrm>
            <a:off x="885139" y="4359859"/>
            <a:ext cx="241402" cy="241402"/>
          </a:xfrm>
          <a:prstGeom prst="rect">
            <a:avLst/>
          </a:prstGeom>
        </p:spPr>
      </p:pic>
      <p:sp>
        <p:nvSpPr>
          <p:cNvPr id="32" name="Text 24"/>
          <p:cNvSpPr txBox="1"/>
          <p:nvPr/>
        </p:nvSpPr>
        <p:spPr>
          <a:xfrm>
            <a:off x="1417320" y="4224528"/>
            <a:ext cx="1508760" cy="502920"/>
          </a:xfrm>
          <a:prstGeom prst="rect">
            <a:avLst/>
          </a:prstGeom>
          <a:noFill/>
          <a:ln/>
        </p:spPr>
        <p:txBody>
          <a:bodyPr wrap="square" lIns="0" tIns="0" rIns="0" bIns="0" rtlCol="0" anchor="ctr"/>
          <a:lstStyle/>
          <a:p>
            <a:pPr algn="l" indent="0" marL="0">
              <a:buNone/>
            </a:pPr>
            <a:r>
              <a:rPr lang="en-US" sz="1500" b="1" dirty="0">
                <a:solidFill>
                  <a:schemeClr val="tx2"/>
                </a:solidFill>
              </a:rPr>
              <a:t>Upload</a:t>
            </a:r>
            <a:endParaRPr lang="en-US" sz="1500" dirty="0"/>
          </a:p>
        </p:txBody>
      </p:sp>
      <p:sp>
        <p:nvSpPr>
          <p:cNvPr id="33" name="Text 25"/>
          <p:cNvSpPr txBox="1"/>
          <p:nvPr/>
        </p:nvSpPr>
        <p:spPr>
          <a:xfrm>
            <a:off x="731520" y="4892040"/>
            <a:ext cx="2103120" cy="731520"/>
          </a:xfrm>
          <a:prstGeom prst="rect">
            <a:avLst/>
          </a:prstGeom>
          <a:noFill/>
          <a:ln/>
        </p:spPr>
        <p:txBody>
          <a:bodyPr wrap="square" lIns="0" tIns="0" rIns="0" bIns="0" rtlCol="0" anchor="t"/>
          <a:lstStyle/>
          <a:p>
            <a:pPr algn="l" indent="0" marL="0">
              <a:buNone/>
            </a:pPr>
            <a:r>
              <a:rPr lang="en-US" sz="1250" dirty="0">
                <a:solidFill>
                  <a:schemeClr val="accent4"/>
                </a:solidFill>
              </a:rPr>
              <a:t>Same bucket, ec2/ folder</a:t>
            </a:r>
            <a:endParaRPr lang="en-US" sz="1250" dirty="0"/>
          </a:p>
        </p:txBody>
      </p:sp>
      <p:sp>
        <p:nvSpPr>
          <p:cNvPr id="34" name="Shape 26"/>
          <p:cNvSpPr/>
          <p:nvPr/>
        </p:nvSpPr>
        <p:spPr>
          <a:xfrm>
            <a:off x="3090672" y="4846320"/>
            <a:ext cx="265176" cy="0"/>
          </a:xfrm>
          <a:prstGeom prst="line">
            <a:avLst/>
          </a:prstGeom>
          <a:noFill/>
          <a:ln w="22225">
            <a:solidFill>
              <a:schemeClr val="accent4"/>
            </a:solidFill>
            <a:prstDash val="solid"/>
            <a:tailEnd type="triangle"/>
          </a:ln>
        </p:spPr>
      </p:sp>
      <p:sp>
        <p:nvSpPr>
          <p:cNvPr id="35" name="Node Amazon S34"/>
          <p:cNvSpPr/>
          <p:nvPr/>
        </p:nvSpPr>
        <p:spPr>
          <a:xfrm>
            <a:off x="3429000" y="4023360"/>
            <a:ext cx="2468880" cy="1645920"/>
          </a:xfrm>
          <a:prstGeom prst="roundRect">
            <a:avLst>
              <a:gd name="adj" fmla="val 4444"/>
            </a:avLst>
          </a:prstGeom>
          <a:solidFill>
            <a:schemeClr val="bg2"/>
          </a:solidFill>
          <a:ln/>
        </p:spPr>
      </p:sp>
      <p:sp>
        <p:nvSpPr>
          <p:cNvPr id="36" name="Shape 28"/>
          <p:cNvSpPr/>
          <p:nvPr/>
        </p:nvSpPr>
        <p:spPr>
          <a:xfrm>
            <a:off x="3611880" y="4206240"/>
            <a:ext cx="548640" cy="548640"/>
          </a:xfrm>
          <a:prstGeom prst="ellipse">
            <a:avLst/>
          </a:prstGeom>
          <a:solidFill>
            <a:schemeClr val="accent1"/>
          </a:solidFill>
          <a:ln/>
        </p:spPr>
      </p:sp>
      <p:pic>
        <p:nvPicPr>
          <p:cNvPr id="37" name="Image 5" descr="preencoded.png">    </p:cNvPr>
          <p:cNvPicPr>
            <a:picLocks noChangeAspect="1"/>
          </p:cNvPicPr>
          <p:nvPr/>
        </p:nvPicPr>
        <p:blipFill>
          <a:blip r:embed="rId6"/>
          <a:stretch>
            <a:fillRect/>
          </a:stretch>
        </p:blipFill>
        <p:spPr>
          <a:xfrm>
            <a:off x="3765499" y="4359859"/>
            <a:ext cx="241402" cy="241402"/>
          </a:xfrm>
          <a:prstGeom prst="rect">
            <a:avLst/>
          </a:prstGeom>
        </p:spPr>
      </p:pic>
      <p:sp>
        <p:nvSpPr>
          <p:cNvPr id="38" name="Text 29"/>
          <p:cNvSpPr txBox="1"/>
          <p:nvPr/>
        </p:nvSpPr>
        <p:spPr>
          <a:xfrm>
            <a:off x="4297680" y="4224528"/>
            <a:ext cx="1508760" cy="502920"/>
          </a:xfrm>
          <a:prstGeom prst="rect">
            <a:avLst/>
          </a:prstGeom>
          <a:noFill/>
          <a:ln/>
        </p:spPr>
        <p:txBody>
          <a:bodyPr wrap="square" lIns="0" tIns="0" rIns="0" bIns="0" rtlCol="0" anchor="ctr"/>
          <a:lstStyle/>
          <a:p>
            <a:pPr algn="l" indent="0" marL="0">
              <a:buNone/>
            </a:pPr>
            <a:r>
              <a:rPr lang="en-US" sz="1500" b="1" dirty="0">
                <a:solidFill>
                  <a:schemeClr val="tx2"/>
                </a:solidFill>
              </a:rPr>
              <a:t>Amazon S3</a:t>
            </a:r>
            <a:endParaRPr lang="en-US" sz="1500" dirty="0"/>
          </a:p>
        </p:txBody>
      </p:sp>
      <p:sp>
        <p:nvSpPr>
          <p:cNvPr id="39" name="Text 30"/>
          <p:cNvSpPr txBox="1"/>
          <p:nvPr/>
        </p:nvSpPr>
        <p:spPr>
          <a:xfrm>
            <a:off x="3611880" y="4892040"/>
            <a:ext cx="2103120" cy="731520"/>
          </a:xfrm>
          <a:prstGeom prst="rect">
            <a:avLst/>
          </a:prstGeom>
          <a:noFill/>
          <a:ln/>
        </p:spPr>
        <p:txBody>
          <a:bodyPr wrap="square" lIns="0" tIns="0" rIns="0" bIns="0" rtlCol="0" anchor="t"/>
          <a:lstStyle/>
          <a:p>
            <a:pPr algn="l" indent="0" marL="0">
              <a:buNone/>
            </a:pPr>
            <a:r>
              <a:rPr lang="en-US" sz="1250" dirty="0">
                <a:solidFill>
                  <a:schemeClr val="accent4"/>
                </a:solidFill>
              </a:rPr>
              <a:t>Waits to be listed</a:t>
            </a:r>
            <a:endParaRPr lang="en-US" sz="1250" dirty="0"/>
          </a:p>
        </p:txBody>
      </p:sp>
      <p:sp>
        <p:nvSpPr>
          <p:cNvPr id="40" name="Shape 31"/>
          <p:cNvSpPr/>
          <p:nvPr/>
        </p:nvSpPr>
        <p:spPr>
          <a:xfrm>
            <a:off x="5971032" y="4846320"/>
            <a:ext cx="265176" cy="0"/>
          </a:xfrm>
          <a:prstGeom prst="line">
            <a:avLst/>
          </a:prstGeom>
          <a:noFill/>
          <a:ln w="22225">
            <a:solidFill>
              <a:schemeClr val="accent4"/>
            </a:solidFill>
            <a:prstDash val="solid"/>
            <a:tailEnd type="triangle"/>
          </a:ln>
        </p:spPr>
      </p:sp>
      <p:sp>
        <p:nvSpPr>
          <p:cNvPr id="41" name="Node EC2 poller4"/>
          <p:cNvSpPr/>
          <p:nvPr/>
        </p:nvSpPr>
        <p:spPr>
          <a:xfrm>
            <a:off x="6309360" y="4023360"/>
            <a:ext cx="2468880" cy="1645920"/>
          </a:xfrm>
          <a:prstGeom prst="roundRect">
            <a:avLst>
              <a:gd name="adj" fmla="val 4444"/>
            </a:avLst>
          </a:prstGeom>
          <a:solidFill>
            <a:schemeClr val="bg2"/>
          </a:solidFill>
          <a:ln/>
        </p:spPr>
      </p:sp>
      <p:sp>
        <p:nvSpPr>
          <p:cNvPr id="42" name="Shape 33"/>
          <p:cNvSpPr/>
          <p:nvPr/>
        </p:nvSpPr>
        <p:spPr>
          <a:xfrm>
            <a:off x="6492240" y="4206240"/>
            <a:ext cx="548640" cy="548640"/>
          </a:xfrm>
          <a:prstGeom prst="ellipse">
            <a:avLst/>
          </a:prstGeom>
          <a:solidFill>
            <a:schemeClr val="accent2"/>
          </a:solidFill>
          <a:ln/>
        </p:spPr>
      </p:sp>
      <p:pic>
        <p:nvPicPr>
          <p:cNvPr id="43" name="Image 6" descr="preencoded.png">    </p:cNvPr>
          <p:cNvPicPr>
            <a:picLocks noChangeAspect="1"/>
          </p:cNvPicPr>
          <p:nvPr/>
        </p:nvPicPr>
        <p:blipFill>
          <a:blip r:embed="rId7"/>
          <a:stretch>
            <a:fillRect/>
          </a:stretch>
        </p:blipFill>
        <p:spPr>
          <a:xfrm>
            <a:off x="6645859" y="4359859"/>
            <a:ext cx="241402" cy="241402"/>
          </a:xfrm>
          <a:prstGeom prst="rect">
            <a:avLst/>
          </a:prstGeom>
        </p:spPr>
      </p:pic>
      <p:sp>
        <p:nvSpPr>
          <p:cNvPr id="44" name="Text 34"/>
          <p:cNvSpPr txBox="1"/>
          <p:nvPr/>
        </p:nvSpPr>
        <p:spPr>
          <a:xfrm>
            <a:off x="7178040" y="4224528"/>
            <a:ext cx="1508760" cy="502920"/>
          </a:xfrm>
          <a:prstGeom prst="rect">
            <a:avLst/>
          </a:prstGeom>
          <a:noFill/>
          <a:ln/>
        </p:spPr>
        <p:txBody>
          <a:bodyPr wrap="square" lIns="0" tIns="0" rIns="0" bIns="0" rtlCol="0" anchor="ctr"/>
          <a:lstStyle/>
          <a:p>
            <a:pPr algn="l" indent="0" marL="0">
              <a:buNone/>
            </a:pPr>
            <a:r>
              <a:rPr lang="en-US" sz="1500" b="1" dirty="0">
                <a:solidFill>
                  <a:schemeClr val="tx2"/>
                </a:solidFill>
              </a:rPr>
              <a:t>EC2 poller</a:t>
            </a:r>
            <a:endParaRPr lang="en-US" sz="1500" dirty="0"/>
          </a:p>
        </p:txBody>
      </p:sp>
      <p:sp>
        <p:nvSpPr>
          <p:cNvPr id="45" name="Text 35"/>
          <p:cNvSpPr txBox="1"/>
          <p:nvPr/>
        </p:nvSpPr>
        <p:spPr>
          <a:xfrm>
            <a:off x="6492240" y="4892040"/>
            <a:ext cx="2103120" cy="731520"/>
          </a:xfrm>
          <a:prstGeom prst="rect">
            <a:avLst/>
          </a:prstGeom>
          <a:noFill/>
          <a:ln/>
        </p:spPr>
        <p:txBody>
          <a:bodyPr wrap="square" lIns="0" tIns="0" rIns="0" bIns="0" rtlCol="0" anchor="t"/>
          <a:lstStyle/>
          <a:p>
            <a:pPr algn="l" indent="0" marL="0">
              <a:buNone/>
            </a:pPr>
            <a:r>
              <a:rPr lang="en-US" sz="1250" dirty="0">
                <a:solidFill>
                  <a:schemeClr val="accent4"/>
                </a:solidFill>
              </a:rPr>
              <a:t>Lists every N seconds, same code</a:t>
            </a:r>
            <a:endParaRPr lang="en-US" sz="1250" dirty="0"/>
          </a:p>
        </p:txBody>
      </p:sp>
      <p:sp>
        <p:nvSpPr>
          <p:cNvPr id="46" name="Shape 36"/>
          <p:cNvSpPr/>
          <p:nvPr/>
        </p:nvSpPr>
        <p:spPr>
          <a:xfrm>
            <a:off x="8851392" y="4846320"/>
            <a:ext cx="265176" cy="0"/>
          </a:xfrm>
          <a:prstGeom prst="line">
            <a:avLst/>
          </a:prstGeom>
          <a:noFill/>
          <a:ln w="22225">
            <a:solidFill>
              <a:schemeClr val="accent4"/>
            </a:solidFill>
            <a:prstDash val="solid"/>
            <a:tailEnd type="triangle"/>
          </a:ln>
        </p:spPr>
      </p:sp>
      <p:sp>
        <p:nvSpPr>
          <p:cNvPr id="47" name="Node DynamoDB + SNS4"/>
          <p:cNvSpPr/>
          <p:nvPr/>
        </p:nvSpPr>
        <p:spPr>
          <a:xfrm>
            <a:off x="9189720" y="4023360"/>
            <a:ext cx="2468880" cy="1645920"/>
          </a:xfrm>
          <a:prstGeom prst="roundRect">
            <a:avLst>
              <a:gd name="adj" fmla="val 4444"/>
            </a:avLst>
          </a:prstGeom>
          <a:solidFill>
            <a:schemeClr val="bg2"/>
          </a:solidFill>
          <a:ln/>
        </p:spPr>
      </p:sp>
      <p:sp>
        <p:nvSpPr>
          <p:cNvPr id="48" name="Shape 38"/>
          <p:cNvSpPr/>
          <p:nvPr/>
        </p:nvSpPr>
        <p:spPr>
          <a:xfrm>
            <a:off x="9372600" y="4206240"/>
            <a:ext cx="548640" cy="548640"/>
          </a:xfrm>
          <a:prstGeom prst="ellipse">
            <a:avLst/>
          </a:prstGeom>
          <a:solidFill>
            <a:schemeClr val="accent1"/>
          </a:solidFill>
          <a:ln/>
        </p:spPr>
      </p:sp>
      <p:pic>
        <p:nvPicPr>
          <p:cNvPr id="49" name="Image 7" descr="preencoded.png">    </p:cNvPr>
          <p:cNvPicPr>
            <a:picLocks noChangeAspect="1"/>
          </p:cNvPicPr>
          <p:nvPr/>
        </p:nvPicPr>
        <p:blipFill>
          <a:blip r:embed="rId8"/>
          <a:stretch>
            <a:fillRect/>
          </a:stretch>
        </p:blipFill>
        <p:spPr>
          <a:xfrm>
            <a:off x="9526219" y="4359859"/>
            <a:ext cx="241402" cy="241402"/>
          </a:xfrm>
          <a:prstGeom prst="rect">
            <a:avLst/>
          </a:prstGeom>
        </p:spPr>
      </p:pic>
      <p:sp>
        <p:nvSpPr>
          <p:cNvPr id="50" name="Text 39"/>
          <p:cNvSpPr txBox="1"/>
          <p:nvPr/>
        </p:nvSpPr>
        <p:spPr>
          <a:xfrm>
            <a:off x="10058400" y="4224528"/>
            <a:ext cx="1508760" cy="502920"/>
          </a:xfrm>
          <a:prstGeom prst="rect">
            <a:avLst/>
          </a:prstGeom>
          <a:noFill/>
          <a:ln/>
        </p:spPr>
        <p:txBody>
          <a:bodyPr wrap="square" lIns="0" tIns="0" rIns="0" bIns="0" rtlCol="0" anchor="ctr"/>
          <a:lstStyle/>
          <a:p>
            <a:pPr algn="l" indent="0" marL="0">
              <a:buNone/>
            </a:pPr>
            <a:r>
              <a:rPr lang="en-US" sz="1500" b="1" dirty="0">
                <a:solidFill>
                  <a:schemeClr val="tx2"/>
                </a:solidFill>
              </a:rPr>
              <a:t>DynamoDB + SNS</a:t>
            </a:r>
            <a:endParaRPr lang="en-US" sz="1500" dirty="0"/>
          </a:p>
        </p:txBody>
      </p:sp>
      <p:sp>
        <p:nvSpPr>
          <p:cNvPr id="51" name="Text 40"/>
          <p:cNvSpPr txBox="1"/>
          <p:nvPr/>
        </p:nvSpPr>
        <p:spPr>
          <a:xfrm>
            <a:off x="9372600" y="4892040"/>
            <a:ext cx="2103120" cy="731520"/>
          </a:xfrm>
          <a:prstGeom prst="rect">
            <a:avLst/>
          </a:prstGeom>
          <a:noFill/>
          <a:ln/>
        </p:spPr>
        <p:txBody>
          <a:bodyPr wrap="square" lIns="0" tIns="0" rIns="0" bIns="0" rtlCol="0" anchor="t"/>
          <a:lstStyle/>
          <a:p>
            <a:pPr algn="l" indent="0" marL="0">
              <a:buNone/>
            </a:pPr>
            <a:r>
              <a:rPr lang="en-US" sz="1250" dirty="0">
                <a:solidFill>
                  <a:schemeClr val="accent4"/>
                </a:solidFill>
              </a:rPr>
              <a:t>Same table and email</a:t>
            </a:r>
            <a:endParaRPr lang="en-US" sz="125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68680"/>
          </a:xfrm>
          <a:prstGeom prst="rect">
            <a:avLst/>
          </a:prstGeom>
          <a:noFill/>
          <a:ln/>
        </p:spPr>
        <p:txBody>
          <a:bodyPr wrap="square" lIns="0" tIns="0" rIns="0" bIns="0" rtlCol="0" anchor="ctr"/>
          <a:lstStyle/>
          <a:p>
            <a:pPr algn="l" indent="0" marL="0">
              <a:buNone/>
            </a:pPr>
            <a:r>
              <a:rPr lang="en-US" sz="3400" b="1" dirty="0">
                <a:solidFill>
                  <a:schemeClr val="tx2"/>
                </a:solidFill>
              </a:rPr>
              <a:t>Beyond reading three fields</a:t>
            </a:r>
            <a:endParaRPr lang="en-US" sz="3400" dirty="0"/>
          </a:p>
        </p:txBody>
      </p:sp>
      <p:sp>
        <p:nvSpPr>
          <p:cNvPr id="4" name="Tile Scored totals"/>
          <p:cNvSpPr/>
          <p:nvPr/>
        </p:nvSpPr>
        <p:spPr>
          <a:xfrm>
            <a:off x="548640" y="1600200"/>
            <a:ext cx="3520440" cy="1920240"/>
          </a:xfrm>
          <a:prstGeom prst="roundRect">
            <a:avLst>
              <a:gd name="adj" fmla="val 3810"/>
            </a:avLst>
          </a:prstGeom>
          <a:solidFill>
            <a:schemeClr val="bg2"/>
          </a:solidFill>
          <a:ln/>
        </p:spPr>
      </p:sp>
      <p:sp>
        <p:nvSpPr>
          <p:cNvPr id="5" name="Shape 2"/>
          <p:cNvSpPr/>
          <p:nvPr/>
        </p:nvSpPr>
        <p:spPr>
          <a:xfrm>
            <a:off x="822960" y="1874520"/>
            <a:ext cx="640080" cy="640080"/>
          </a:xfrm>
          <a:prstGeom prst="ellipse">
            <a:avLst/>
          </a:prstGeom>
          <a:solidFill>
            <a:schemeClr val="accent1"/>
          </a:solidFill>
          <a:ln/>
        </p:spPr>
      </p:sp>
      <p:pic>
        <p:nvPicPr>
          <p:cNvPr id="6" name="Image 0" descr="preencoded.png">    </p:cNvPr>
          <p:cNvPicPr>
            <a:picLocks noChangeAspect="1"/>
          </p:cNvPicPr>
          <p:nvPr/>
        </p:nvPicPr>
        <p:blipFill>
          <a:blip r:embed="rId1"/>
          <a:stretch>
            <a:fillRect/>
          </a:stretch>
        </p:blipFill>
        <p:spPr>
          <a:xfrm>
            <a:off x="1002182" y="2053742"/>
            <a:ext cx="281635" cy="281635"/>
          </a:xfrm>
          <a:prstGeom prst="rect">
            <a:avLst/>
          </a:prstGeom>
        </p:spPr>
      </p:pic>
      <p:sp>
        <p:nvSpPr>
          <p:cNvPr id="7" name="Text 3"/>
          <p:cNvSpPr txBox="1"/>
          <p:nvPr/>
        </p:nvSpPr>
        <p:spPr>
          <a:xfrm>
            <a:off x="1645920" y="1874520"/>
            <a:ext cx="2240280" cy="640080"/>
          </a:xfrm>
          <a:prstGeom prst="rect">
            <a:avLst/>
          </a:prstGeom>
          <a:noFill/>
          <a:ln/>
        </p:spPr>
        <p:txBody>
          <a:bodyPr wrap="square" lIns="0" tIns="0" rIns="0" bIns="0" rtlCol="0" anchor="ctr"/>
          <a:lstStyle/>
          <a:p>
            <a:pPr algn="l" indent="0" marL="0">
              <a:buNone/>
            </a:pPr>
            <a:r>
              <a:rPr lang="en-US" sz="1800" b="1" dirty="0">
                <a:solidFill>
                  <a:schemeClr val="tx2"/>
                </a:solidFill>
              </a:rPr>
              <a:t>Scored totals</a:t>
            </a:r>
            <a:endParaRPr lang="en-US" sz="1800" dirty="0"/>
          </a:p>
        </p:txBody>
      </p:sp>
      <p:sp>
        <p:nvSpPr>
          <p:cNvPr id="8" name="Text 4"/>
          <p:cNvSpPr txBox="1"/>
          <p:nvPr/>
        </p:nvSpPr>
        <p:spPr>
          <a:xfrm>
            <a:off x="822960" y="2651760"/>
            <a:ext cx="2971800" cy="822960"/>
          </a:xfrm>
          <a:prstGeom prst="rect">
            <a:avLst/>
          </a:prstGeom>
          <a:noFill/>
          <a:ln/>
        </p:spPr>
        <p:txBody>
          <a:bodyPr wrap="square" lIns="0" tIns="0" rIns="0" bIns="0" rtlCol="0" anchor="t"/>
          <a:lstStyle/>
          <a:p>
            <a:pPr algn="l" indent="0" marL="0">
              <a:buNone/>
            </a:pPr>
            <a:r>
              <a:rPr lang="en-US" sz="1400" dirty="0">
                <a:solidFill>
                  <a:schemeClr val="tx1"/>
                </a:solidFill>
              </a:rPr>
              <a:t>Several total candidates are scored; summary tables and tax lines are not mistaken for the total</a:t>
            </a:r>
            <a:endParaRPr lang="en-US" sz="1400" dirty="0"/>
          </a:p>
        </p:txBody>
      </p:sp>
      <p:sp>
        <p:nvSpPr>
          <p:cNvPr id="9" name="Tile GST invoice checks"/>
          <p:cNvSpPr/>
          <p:nvPr/>
        </p:nvSpPr>
        <p:spPr>
          <a:xfrm>
            <a:off x="4334256" y="1600200"/>
            <a:ext cx="3520440" cy="1920240"/>
          </a:xfrm>
          <a:prstGeom prst="roundRect">
            <a:avLst>
              <a:gd name="adj" fmla="val 3810"/>
            </a:avLst>
          </a:prstGeom>
          <a:solidFill>
            <a:schemeClr val="bg2"/>
          </a:solidFill>
          <a:ln/>
        </p:spPr>
      </p:sp>
      <p:sp>
        <p:nvSpPr>
          <p:cNvPr id="10" name="Shape 6"/>
          <p:cNvSpPr/>
          <p:nvPr/>
        </p:nvSpPr>
        <p:spPr>
          <a:xfrm>
            <a:off x="4608576" y="1874520"/>
            <a:ext cx="640080" cy="640080"/>
          </a:xfrm>
          <a:prstGeom prst="ellipse">
            <a:avLst/>
          </a:prstGeom>
          <a:solidFill>
            <a:schemeClr val="accent1"/>
          </a:solidFill>
          <a:ln/>
        </p:spPr>
      </p:sp>
      <p:pic>
        <p:nvPicPr>
          <p:cNvPr id="11" name="Image 1" descr="preencoded.png">    </p:cNvPr>
          <p:cNvPicPr>
            <a:picLocks noChangeAspect="1"/>
          </p:cNvPicPr>
          <p:nvPr/>
        </p:nvPicPr>
        <p:blipFill>
          <a:blip r:embed="rId2"/>
          <a:stretch>
            <a:fillRect/>
          </a:stretch>
        </p:blipFill>
        <p:spPr>
          <a:xfrm>
            <a:off x="4787798" y="2053742"/>
            <a:ext cx="281635" cy="281635"/>
          </a:xfrm>
          <a:prstGeom prst="rect">
            <a:avLst/>
          </a:prstGeom>
        </p:spPr>
      </p:pic>
      <p:sp>
        <p:nvSpPr>
          <p:cNvPr id="12" name="Text 7"/>
          <p:cNvSpPr txBox="1"/>
          <p:nvPr/>
        </p:nvSpPr>
        <p:spPr>
          <a:xfrm>
            <a:off x="5431536" y="1874520"/>
            <a:ext cx="2240280" cy="640080"/>
          </a:xfrm>
          <a:prstGeom prst="rect">
            <a:avLst/>
          </a:prstGeom>
          <a:noFill/>
          <a:ln/>
        </p:spPr>
        <p:txBody>
          <a:bodyPr wrap="square" lIns="0" tIns="0" rIns="0" bIns="0" rtlCol="0" anchor="ctr"/>
          <a:lstStyle/>
          <a:p>
            <a:pPr algn="l" indent="0" marL="0">
              <a:buNone/>
            </a:pPr>
            <a:r>
              <a:rPr lang="en-US" sz="1800" b="1" dirty="0">
                <a:solidFill>
                  <a:schemeClr val="tx2"/>
                </a:solidFill>
              </a:rPr>
              <a:t>GST invoice checks</a:t>
            </a:r>
            <a:endParaRPr lang="en-US" sz="1800" dirty="0"/>
          </a:p>
        </p:txBody>
      </p:sp>
      <p:sp>
        <p:nvSpPr>
          <p:cNvPr id="13" name="Text 8"/>
          <p:cNvSpPr txBox="1"/>
          <p:nvPr/>
        </p:nvSpPr>
        <p:spPr>
          <a:xfrm>
            <a:off x="4608576" y="2651760"/>
            <a:ext cx="2971800" cy="822960"/>
          </a:xfrm>
          <a:prstGeom prst="rect">
            <a:avLst/>
          </a:prstGeom>
          <a:noFill/>
          <a:ln/>
        </p:spPr>
        <p:txBody>
          <a:bodyPr wrap="square" lIns="0" tIns="0" rIns="0" bIns="0" rtlCol="0" anchor="t"/>
          <a:lstStyle/>
          <a:p>
            <a:pPr algn="l" indent="0" marL="0">
              <a:buNone/>
            </a:pPr>
            <a:r>
              <a:rPr lang="en-US" sz="1400" dirty="0">
                <a:solidFill>
                  <a:schemeClr val="tx1"/>
                </a:solidFill>
              </a:rPr>
              <a:t>GSTIN check digit, state code, tax arithmetic. Tampered invoices are flagged</a:t>
            </a:r>
            <a:endParaRPr lang="en-US" sz="1400" dirty="0"/>
          </a:p>
        </p:txBody>
      </p:sp>
      <p:sp>
        <p:nvSpPr>
          <p:cNvPr id="14" name="Tile Duplicate bills"/>
          <p:cNvSpPr/>
          <p:nvPr/>
        </p:nvSpPr>
        <p:spPr>
          <a:xfrm>
            <a:off x="8119872" y="1600200"/>
            <a:ext cx="3520440" cy="1920240"/>
          </a:xfrm>
          <a:prstGeom prst="roundRect">
            <a:avLst>
              <a:gd name="adj" fmla="val 3810"/>
            </a:avLst>
          </a:prstGeom>
          <a:solidFill>
            <a:schemeClr val="bg2"/>
          </a:solidFill>
          <a:ln/>
        </p:spPr>
      </p:sp>
      <p:sp>
        <p:nvSpPr>
          <p:cNvPr id="15" name="Shape 10"/>
          <p:cNvSpPr/>
          <p:nvPr/>
        </p:nvSpPr>
        <p:spPr>
          <a:xfrm>
            <a:off x="8394192" y="1874520"/>
            <a:ext cx="640080" cy="640080"/>
          </a:xfrm>
          <a:prstGeom prst="ellipse">
            <a:avLst/>
          </a:prstGeom>
          <a:solidFill>
            <a:schemeClr val="accent2"/>
          </a:solidFill>
          <a:ln/>
        </p:spPr>
      </p:sp>
      <p:pic>
        <p:nvPicPr>
          <p:cNvPr id="16" name="Image 2" descr="preencoded.png">    </p:cNvPr>
          <p:cNvPicPr>
            <a:picLocks noChangeAspect="1"/>
          </p:cNvPicPr>
          <p:nvPr/>
        </p:nvPicPr>
        <p:blipFill>
          <a:blip r:embed="rId3"/>
          <a:stretch>
            <a:fillRect/>
          </a:stretch>
        </p:blipFill>
        <p:spPr>
          <a:xfrm>
            <a:off x="8573414" y="2053742"/>
            <a:ext cx="281635" cy="281635"/>
          </a:xfrm>
          <a:prstGeom prst="rect">
            <a:avLst/>
          </a:prstGeom>
        </p:spPr>
      </p:pic>
      <p:sp>
        <p:nvSpPr>
          <p:cNvPr id="17" name="Text 11"/>
          <p:cNvSpPr txBox="1"/>
          <p:nvPr/>
        </p:nvSpPr>
        <p:spPr>
          <a:xfrm>
            <a:off x="9217152" y="1874520"/>
            <a:ext cx="2240280" cy="640080"/>
          </a:xfrm>
          <a:prstGeom prst="rect">
            <a:avLst/>
          </a:prstGeom>
          <a:noFill/>
          <a:ln/>
        </p:spPr>
        <p:txBody>
          <a:bodyPr wrap="square" lIns="0" tIns="0" rIns="0" bIns="0" rtlCol="0" anchor="ctr"/>
          <a:lstStyle/>
          <a:p>
            <a:pPr algn="l" indent="0" marL="0">
              <a:buNone/>
            </a:pPr>
            <a:r>
              <a:rPr lang="en-US" sz="1800" b="1" dirty="0">
                <a:solidFill>
                  <a:schemeClr val="tx2"/>
                </a:solidFill>
              </a:rPr>
              <a:t>Duplicate bills</a:t>
            </a:r>
            <a:endParaRPr lang="en-US" sz="1800" dirty="0"/>
          </a:p>
        </p:txBody>
      </p:sp>
      <p:sp>
        <p:nvSpPr>
          <p:cNvPr id="18" name="Text 12"/>
          <p:cNvSpPr txBox="1"/>
          <p:nvPr/>
        </p:nvSpPr>
        <p:spPr>
          <a:xfrm>
            <a:off x="8394192" y="2651760"/>
            <a:ext cx="2971800" cy="822960"/>
          </a:xfrm>
          <a:prstGeom prst="rect">
            <a:avLst/>
          </a:prstGeom>
          <a:noFill/>
          <a:ln/>
        </p:spPr>
        <p:txBody>
          <a:bodyPr wrap="square" lIns="0" tIns="0" rIns="0" bIns="0" rtlCol="0" anchor="t"/>
          <a:lstStyle/>
          <a:p>
            <a:pPr algn="l" indent="0" marL="0">
              <a:buNone/>
            </a:pPr>
            <a:r>
              <a:rPr lang="en-US" sz="1400" dirty="0">
                <a:solidFill>
                  <a:schemeClr val="tx1"/>
                </a:solidFill>
              </a:rPr>
              <a:t>Same vendor, total and date is caught and marked on the second upload</a:t>
            </a:r>
            <a:endParaRPr lang="en-US" sz="1400" dirty="0"/>
          </a:p>
        </p:txBody>
      </p:sp>
      <p:sp>
        <p:nvSpPr>
          <p:cNvPr id="19" name="Tile Spending categories"/>
          <p:cNvSpPr/>
          <p:nvPr/>
        </p:nvSpPr>
        <p:spPr>
          <a:xfrm>
            <a:off x="548640" y="3749040"/>
            <a:ext cx="3520440" cy="1920240"/>
          </a:xfrm>
          <a:prstGeom prst="roundRect">
            <a:avLst>
              <a:gd name="adj" fmla="val 3810"/>
            </a:avLst>
          </a:prstGeom>
          <a:solidFill>
            <a:schemeClr val="bg2"/>
          </a:solidFill>
          <a:ln/>
        </p:spPr>
      </p:sp>
      <p:sp>
        <p:nvSpPr>
          <p:cNvPr id="20" name="Shape 14"/>
          <p:cNvSpPr/>
          <p:nvPr/>
        </p:nvSpPr>
        <p:spPr>
          <a:xfrm>
            <a:off x="822960" y="4023360"/>
            <a:ext cx="640080" cy="640080"/>
          </a:xfrm>
          <a:prstGeom prst="ellipse">
            <a:avLst/>
          </a:prstGeom>
          <a:solidFill>
            <a:schemeClr val="accent1"/>
          </a:solidFill>
          <a:ln/>
        </p:spPr>
      </p:sp>
      <p:pic>
        <p:nvPicPr>
          <p:cNvPr id="21" name="Image 3" descr="preencoded.png">    </p:cNvPr>
          <p:cNvPicPr>
            <a:picLocks noChangeAspect="1"/>
          </p:cNvPicPr>
          <p:nvPr/>
        </p:nvPicPr>
        <p:blipFill>
          <a:blip r:embed="rId4"/>
          <a:stretch>
            <a:fillRect/>
          </a:stretch>
        </p:blipFill>
        <p:spPr>
          <a:xfrm>
            <a:off x="1002182" y="4202582"/>
            <a:ext cx="281635" cy="281635"/>
          </a:xfrm>
          <a:prstGeom prst="rect">
            <a:avLst/>
          </a:prstGeom>
        </p:spPr>
      </p:pic>
      <p:sp>
        <p:nvSpPr>
          <p:cNvPr id="22" name="Text 15"/>
          <p:cNvSpPr txBox="1"/>
          <p:nvPr/>
        </p:nvSpPr>
        <p:spPr>
          <a:xfrm>
            <a:off x="1645920" y="4023360"/>
            <a:ext cx="2240280" cy="640080"/>
          </a:xfrm>
          <a:prstGeom prst="rect">
            <a:avLst/>
          </a:prstGeom>
          <a:noFill/>
          <a:ln/>
        </p:spPr>
        <p:txBody>
          <a:bodyPr wrap="square" lIns="0" tIns="0" rIns="0" bIns="0" rtlCol="0" anchor="ctr"/>
          <a:lstStyle/>
          <a:p>
            <a:pPr algn="l" indent="0" marL="0">
              <a:buNone/>
            </a:pPr>
            <a:r>
              <a:rPr lang="en-US" sz="1800" b="1" dirty="0">
                <a:solidFill>
                  <a:schemeClr val="tx2"/>
                </a:solidFill>
              </a:rPr>
              <a:t>Spending categories</a:t>
            </a:r>
            <a:endParaRPr lang="en-US" sz="1800" dirty="0"/>
          </a:p>
        </p:txBody>
      </p:sp>
      <p:sp>
        <p:nvSpPr>
          <p:cNvPr id="23" name="Text 16"/>
          <p:cNvSpPr txBox="1"/>
          <p:nvPr/>
        </p:nvSpPr>
        <p:spPr>
          <a:xfrm>
            <a:off x="822960" y="4800600"/>
            <a:ext cx="2971800" cy="822960"/>
          </a:xfrm>
          <a:prstGeom prst="rect">
            <a:avLst/>
          </a:prstGeom>
          <a:noFill/>
          <a:ln/>
        </p:spPr>
        <p:txBody>
          <a:bodyPr wrap="square" lIns="0" tIns="0" rIns="0" bIns="0" rtlCol="0" anchor="t"/>
          <a:lstStyle/>
          <a:p>
            <a:pPr algn="l" indent="0" marL="0">
              <a:buNone/>
            </a:pPr>
            <a:r>
              <a:rPr lang="en-US" sz="1400" dirty="0">
                <a:solidFill>
                  <a:schemeClr val="tx1"/>
                </a:solidFill>
              </a:rPr>
              <a:t>Food, travel, shopping and more, assigned from the vendor and items</a:t>
            </a:r>
            <a:endParaRPr lang="en-US" sz="1400" dirty="0"/>
          </a:p>
        </p:txBody>
      </p:sp>
      <p:sp>
        <p:nvSpPr>
          <p:cNvPr id="24" name="Tile Needs-review flag"/>
          <p:cNvSpPr/>
          <p:nvPr/>
        </p:nvSpPr>
        <p:spPr>
          <a:xfrm>
            <a:off x="4334256" y="3749040"/>
            <a:ext cx="3520440" cy="1920240"/>
          </a:xfrm>
          <a:prstGeom prst="roundRect">
            <a:avLst>
              <a:gd name="adj" fmla="val 3810"/>
            </a:avLst>
          </a:prstGeom>
          <a:solidFill>
            <a:schemeClr val="bg2"/>
          </a:solidFill>
          <a:ln/>
        </p:spPr>
      </p:sp>
      <p:sp>
        <p:nvSpPr>
          <p:cNvPr id="25" name="Shape 18"/>
          <p:cNvSpPr/>
          <p:nvPr/>
        </p:nvSpPr>
        <p:spPr>
          <a:xfrm>
            <a:off x="4608576" y="4023360"/>
            <a:ext cx="640080" cy="640080"/>
          </a:xfrm>
          <a:prstGeom prst="ellipse">
            <a:avLst/>
          </a:prstGeom>
          <a:solidFill>
            <a:schemeClr val="accent2"/>
          </a:solidFill>
          <a:ln/>
        </p:spPr>
      </p:sp>
      <p:pic>
        <p:nvPicPr>
          <p:cNvPr id="26" name="Image 4" descr="preencoded.png">    </p:cNvPr>
          <p:cNvPicPr>
            <a:picLocks noChangeAspect="1"/>
          </p:cNvPicPr>
          <p:nvPr/>
        </p:nvPicPr>
        <p:blipFill>
          <a:blip r:embed="rId5"/>
          <a:stretch>
            <a:fillRect/>
          </a:stretch>
        </p:blipFill>
        <p:spPr>
          <a:xfrm>
            <a:off x="4787798" y="4202582"/>
            <a:ext cx="281635" cy="281635"/>
          </a:xfrm>
          <a:prstGeom prst="rect">
            <a:avLst/>
          </a:prstGeom>
        </p:spPr>
      </p:pic>
      <p:sp>
        <p:nvSpPr>
          <p:cNvPr id="27" name="Text 19"/>
          <p:cNvSpPr txBox="1"/>
          <p:nvPr/>
        </p:nvSpPr>
        <p:spPr>
          <a:xfrm>
            <a:off x="5431536" y="4023360"/>
            <a:ext cx="2240280" cy="640080"/>
          </a:xfrm>
          <a:prstGeom prst="rect">
            <a:avLst/>
          </a:prstGeom>
          <a:noFill/>
          <a:ln/>
        </p:spPr>
        <p:txBody>
          <a:bodyPr wrap="square" lIns="0" tIns="0" rIns="0" bIns="0" rtlCol="0" anchor="ctr"/>
          <a:lstStyle/>
          <a:p>
            <a:pPr algn="l" indent="0" marL="0">
              <a:buNone/>
            </a:pPr>
            <a:r>
              <a:rPr lang="en-US" sz="1800" b="1" dirty="0">
                <a:solidFill>
                  <a:schemeClr val="tx2"/>
                </a:solidFill>
              </a:rPr>
              <a:t>Needs-review flag</a:t>
            </a:r>
            <a:endParaRPr lang="en-US" sz="1800" dirty="0"/>
          </a:p>
        </p:txBody>
      </p:sp>
      <p:sp>
        <p:nvSpPr>
          <p:cNvPr id="28" name="Text 20"/>
          <p:cNvSpPr txBox="1"/>
          <p:nvPr/>
        </p:nvSpPr>
        <p:spPr>
          <a:xfrm>
            <a:off x="4608576" y="4800600"/>
            <a:ext cx="2971800" cy="822960"/>
          </a:xfrm>
          <a:prstGeom prst="rect">
            <a:avLst/>
          </a:prstGeom>
          <a:noFill/>
          <a:ln/>
        </p:spPr>
        <p:txBody>
          <a:bodyPr wrap="square" lIns="0" tIns="0" rIns="0" bIns="0" rtlCol="0" anchor="t"/>
          <a:lstStyle/>
          <a:p>
            <a:pPr algn="l" indent="0" marL="0">
              <a:buNone/>
            </a:pPr>
            <a:r>
              <a:rPr lang="en-US" sz="1400" dirty="0">
                <a:solidFill>
                  <a:schemeClr val="tx1"/>
                </a:solidFill>
              </a:rPr>
              <a:t>A doubtful total is saved as NEEDS_REVIEW instead of a silent wrong number</a:t>
            </a:r>
            <a:endParaRPr lang="en-US" sz="1400" dirty="0"/>
          </a:p>
        </p:txBody>
      </p:sp>
      <p:sp>
        <p:nvSpPr>
          <p:cNvPr id="29" name="Tile Dashboard and export"/>
          <p:cNvSpPr/>
          <p:nvPr/>
        </p:nvSpPr>
        <p:spPr>
          <a:xfrm>
            <a:off x="8119872" y="3749040"/>
            <a:ext cx="3520440" cy="1920240"/>
          </a:xfrm>
          <a:prstGeom prst="roundRect">
            <a:avLst>
              <a:gd name="adj" fmla="val 3810"/>
            </a:avLst>
          </a:prstGeom>
          <a:solidFill>
            <a:schemeClr val="bg2"/>
          </a:solidFill>
          <a:ln/>
        </p:spPr>
      </p:sp>
      <p:sp>
        <p:nvSpPr>
          <p:cNvPr id="30" name="Shape 22"/>
          <p:cNvSpPr/>
          <p:nvPr/>
        </p:nvSpPr>
        <p:spPr>
          <a:xfrm>
            <a:off x="8394192" y="4023360"/>
            <a:ext cx="640080" cy="640080"/>
          </a:xfrm>
          <a:prstGeom prst="ellipse">
            <a:avLst/>
          </a:prstGeom>
          <a:solidFill>
            <a:schemeClr val="accent1"/>
          </a:solidFill>
          <a:ln/>
        </p:spPr>
      </p:sp>
      <p:pic>
        <p:nvPicPr>
          <p:cNvPr id="31" name="Image 5" descr="preencoded.png">    </p:cNvPr>
          <p:cNvPicPr>
            <a:picLocks noChangeAspect="1"/>
          </p:cNvPicPr>
          <p:nvPr/>
        </p:nvPicPr>
        <p:blipFill>
          <a:blip r:embed="rId6"/>
          <a:stretch>
            <a:fillRect/>
          </a:stretch>
        </p:blipFill>
        <p:spPr>
          <a:xfrm>
            <a:off x="8573414" y="4202582"/>
            <a:ext cx="281635" cy="281635"/>
          </a:xfrm>
          <a:prstGeom prst="rect">
            <a:avLst/>
          </a:prstGeom>
        </p:spPr>
      </p:pic>
      <p:sp>
        <p:nvSpPr>
          <p:cNvPr id="32" name="Text 23"/>
          <p:cNvSpPr txBox="1"/>
          <p:nvPr/>
        </p:nvSpPr>
        <p:spPr>
          <a:xfrm>
            <a:off x="9217152" y="4023360"/>
            <a:ext cx="2240280" cy="640080"/>
          </a:xfrm>
          <a:prstGeom prst="rect">
            <a:avLst/>
          </a:prstGeom>
          <a:noFill/>
          <a:ln/>
        </p:spPr>
        <p:txBody>
          <a:bodyPr wrap="square" lIns="0" tIns="0" rIns="0" bIns="0" rtlCol="0" anchor="ctr"/>
          <a:lstStyle/>
          <a:p>
            <a:pPr algn="l" indent="0" marL="0">
              <a:buNone/>
            </a:pPr>
            <a:r>
              <a:rPr lang="en-US" sz="1800" b="1" dirty="0">
                <a:solidFill>
                  <a:schemeClr val="tx2"/>
                </a:solidFill>
              </a:rPr>
              <a:t>Dashboard and export</a:t>
            </a:r>
            <a:endParaRPr lang="en-US" sz="1800" dirty="0"/>
          </a:p>
        </p:txBody>
      </p:sp>
      <p:sp>
        <p:nvSpPr>
          <p:cNvPr id="33" name="Text 24"/>
          <p:cNvSpPr txBox="1"/>
          <p:nvPr/>
        </p:nvSpPr>
        <p:spPr>
          <a:xfrm>
            <a:off x="8394192" y="4800600"/>
            <a:ext cx="2971800" cy="822960"/>
          </a:xfrm>
          <a:prstGeom prst="rect">
            <a:avLst/>
          </a:prstGeom>
          <a:noFill/>
          <a:ln/>
        </p:spPr>
        <p:txBody>
          <a:bodyPr wrap="square" lIns="0" tIns="0" rIns="0" bIns="0" rtlCol="0" anchor="t"/>
          <a:lstStyle/>
          <a:p>
            <a:pPr algn="l" indent="0" marL="0">
              <a:buNone/>
            </a:pPr>
            <a:r>
              <a:rPr lang="en-US" sz="1400" dirty="0">
                <a:solidFill>
                  <a:schemeClr val="tx1"/>
                </a:solidFill>
              </a:rPr>
              <a:t>Spending summary on the website, CSV export, CloudWatch dashboard</a:t>
            </a:r>
            <a:endParaRPr lang="en-US" sz="140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68680"/>
          </a:xfrm>
          <a:prstGeom prst="rect">
            <a:avLst/>
          </a:prstGeom>
          <a:noFill/>
          <a:ln/>
        </p:spPr>
        <p:txBody>
          <a:bodyPr wrap="square" lIns="0" tIns="0" rIns="0" bIns="0" rtlCol="0" anchor="ctr"/>
          <a:lstStyle/>
          <a:p>
            <a:pPr algn="l" indent="0" marL="0">
              <a:buNone/>
            </a:pPr>
            <a:r>
              <a:rPr lang="en-US" sz="3400" b="1" dirty="0">
                <a:solidFill>
                  <a:schemeClr val="tx2"/>
                </a:solidFill>
              </a:rPr>
              <a:t>How a photo becomes three fields</a:t>
            </a:r>
            <a:endParaRPr lang="en-US" sz="3400" dirty="0"/>
          </a:p>
        </p:txBody>
      </p:sp>
      <p:sp>
        <p:nvSpPr>
          <p:cNvPr id="4" name="Step Cut into bands"/>
          <p:cNvSpPr/>
          <p:nvPr/>
        </p:nvSpPr>
        <p:spPr>
          <a:xfrm>
            <a:off x="548640" y="1600200"/>
            <a:ext cx="2651760" cy="3017520"/>
          </a:xfrm>
          <a:prstGeom prst="roundRect">
            <a:avLst>
              <a:gd name="adj" fmla="val 2759"/>
            </a:avLst>
          </a:prstGeom>
          <a:solidFill>
            <a:schemeClr val="bg2"/>
          </a:solidFill>
          <a:ln/>
        </p:spPr>
      </p:sp>
      <p:sp>
        <p:nvSpPr>
          <p:cNvPr id="5" name="Text 2"/>
          <p:cNvSpPr txBox="1"/>
          <p:nvPr/>
        </p:nvSpPr>
        <p:spPr>
          <a:xfrm>
            <a:off x="822960" y="1874520"/>
            <a:ext cx="548640" cy="54864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Text 3"/>
          <p:cNvSpPr txBox="1"/>
          <p:nvPr/>
        </p:nvSpPr>
        <p:spPr>
          <a:xfrm>
            <a:off x="822960" y="2606040"/>
            <a:ext cx="2194560" cy="365760"/>
          </a:xfrm>
          <a:prstGeom prst="rect">
            <a:avLst/>
          </a:prstGeom>
          <a:noFill/>
          <a:ln/>
        </p:spPr>
        <p:txBody>
          <a:bodyPr wrap="square" lIns="0" tIns="0" rIns="0" bIns="0" rtlCol="0" anchor="t"/>
          <a:lstStyle/>
          <a:p>
            <a:pPr algn="l" indent="0" marL="0">
              <a:buNone/>
            </a:pPr>
            <a:r>
              <a:rPr lang="en-US" sz="1700" b="1" dirty="0">
                <a:solidFill>
                  <a:schemeClr val="tx2"/>
                </a:solidFill>
              </a:rPr>
              <a:t>Cut into bands</a:t>
            </a:r>
            <a:endParaRPr lang="en-US" sz="1700" dirty="0"/>
          </a:p>
        </p:txBody>
      </p:sp>
      <p:sp>
        <p:nvSpPr>
          <p:cNvPr id="7" name="Text 4"/>
          <p:cNvSpPr txBox="1"/>
          <p:nvPr/>
        </p:nvSpPr>
        <p:spPr>
          <a:xfrm>
            <a:off x="822960" y="3063240"/>
            <a:ext cx="2194560" cy="1463040"/>
          </a:xfrm>
          <a:prstGeom prst="rect">
            <a:avLst/>
          </a:prstGeom>
          <a:noFill/>
          <a:ln/>
        </p:spPr>
        <p:txBody>
          <a:bodyPr wrap="square" lIns="0" tIns="0" rIns="0" bIns="0" rtlCol="0" anchor="t"/>
          <a:lstStyle/>
          <a:p>
            <a:pPr algn="l" indent="0" marL="0">
              <a:buNone/>
            </a:pPr>
            <a:r>
              <a:rPr lang="en-US" sz="1400" dirty="0">
                <a:solidFill>
                  <a:schemeClr val="tx1"/>
                </a:solidFill>
              </a:rPr>
              <a:t>Photo is split into strips so each stays under the 100-word limit</a:t>
            </a:r>
            <a:endParaRPr lang="en-US" sz="1400" dirty="0"/>
          </a:p>
        </p:txBody>
      </p:sp>
      <p:sp>
        <p:nvSpPr>
          <p:cNvPr id="8" name="Shape 5"/>
          <p:cNvSpPr/>
          <p:nvPr/>
        </p:nvSpPr>
        <p:spPr>
          <a:xfrm>
            <a:off x="3227832" y="3108960"/>
            <a:ext cx="109728" cy="0"/>
          </a:xfrm>
          <a:prstGeom prst="line">
            <a:avLst/>
          </a:prstGeom>
          <a:noFill/>
          <a:ln w="22225">
            <a:solidFill>
              <a:schemeClr val="accent4"/>
            </a:solidFill>
            <a:prstDash val="solid"/>
            <a:tailEnd type="triangle"/>
          </a:ln>
        </p:spPr>
      </p:sp>
      <p:sp>
        <p:nvSpPr>
          <p:cNvPr id="9" name="Step Read in parallel"/>
          <p:cNvSpPr/>
          <p:nvPr/>
        </p:nvSpPr>
        <p:spPr>
          <a:xfrm>
            <a:off x="3364992" y="1600200"/>
            <a:ext cx="2651760" cy="3017520"/>
          </a:xfrm>
          <a:prstGeom prst="roundRect">
            <a:avLst>
              <a:gd name="adj" fmla="val 2759"/>
            </a:avLst>
          </a:prstGeom>
          <a:solidFill>
            <a:schemeClr val="bg2"/>
          </a:solidFill>
          <a:ln/>
        </p:spPr>
      </p:sp>
      <p:sp>
        <p:nvSpPr>
          <p:cNvPr id="10" name="Text 7"/>
          <p:cNvSpPr txBox="1"/>
          <p:nvPr/>
        </p:nvSpPr>
        <p:spPr>
          <a:xfrm>
            <a:off x="3639312" y="1874520"/>
            <a:ext cx="548640" cy="54864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1" name="Text 8"/>
          <p:cNvSpPr txBox="1"/>
          <p:nvPr/>
        </p:nvSpPr>
        <p:spPr>
          <a:xfrm>
            <a:off x="3639312" y="2606040"/>
            <a:ext cx="2194560" cy="365760"/>
          </a:xfrm>
          <a:prstGeom prst="rect">
            <a:avLst/>
          </a:prstGeom>
          <a:noFill/>
          <a:ln/>
        </p:spPr>
        <p:txBody>
          <a:bodyPr wrap="square" lIns="0" tIns="0" rIns="0" bIns="0" rtlCol="0" anchor="t"/>
          <a:lstStyle/>
          <a:p>
            <a:pPr algn="l" indent="0" marL="0">
              <a:buNone/>
            </a:pPr>
            <a:r>
              <a:rPr lang="en-US" sz="1700" b="1" dirty="0">
                <a:solidFill>
                  <a:schemeClr val="tx2"/>
                </a:solidFill>
              </a:rPr>
              <a:t>Read in parallel</a:t>
            </a:r>
            <a:endParaRPr lang="en-US" sz="1700" dirty="0"/>
          </a:p>
        </p:txBody>
      </p:sp>
      <p:sp>
        <p:nvSpPr>
          <p:cNvPr id="12" name="Text 9"/>
          <p:cNvSpPr txBox="1"/>
          <p:nvPr/>
        </p:nvSpPr>
        <p:spPr>
          <a:xfrm>
            <a:off x="3639312" y="3063240"/>
            <a:ext cx="2194560" cy="1463040"/>
          </a:xfrm>
          <a:prstGeom prst="rect">
            <a:avLst/>
          </a:prstGeom>
          <a:noFill/>
          <a:ln/>
        </p:spPr>
        <p:txBody>
          <a:bodyPr wrap="square" lIns="0" tIns="0" rIns="0" bIns="0" rtlCol="0" anchor="t"/>
          <a:lstStyle/>
          <a:p>
            <a:pPr algn="l" indent="0" marL="0">
              <a:buNone/>
            </a:pPr>
            <a:r>
              <a:rPr lang="en-US" sz="1400" dirty="0">
                <a:solidFill>
                  <a:schemeClr val="tx1"/>
                </a:solidFill>
              </a:rPr>
              <a:t>Strips go to Rekognition together, not one after another</a:t>
            </a:r>
            <a:endParaRPr lang="en-US" sz="1400" dirty="0"/>
          </a:p>
        </p:txBody>
      </p:sp>
      <p:sp>
        <p:nvSpPr>
          <p:cNvPr id="13" name="Shape 10"/>
          <p:cNvSpPr/>
          <p:nvPr/>
        </p:nvSpPr>
        <p:spPr>
          <a:xfrm>
            <a:off x="6044184" y="3108960"/>
            <a:ext cx="109728" cy="0"/>
          </a:xfrm>
          <a:prstGeom prst="line">
            <a:avLst/>
          </a:prstGeom>
          <a:noFill/>
          <a:ln w="22225">
            <a:solidFill>
              <a:schemeClr val="accent4"/>
            </a:solidFill>
            <a:prstDash val="solid"/>
            <a:tailEnd type="triangle"/>
          </a:ln>
        </p:spPr>
      </p:sp>
      <p:sp>
        <p:nvSpPr>
          <p:cNvPr id="14" name="Step Score the totals"/>
          <p:cNvSpPr/>
          <p:nvPr/>
        </p:nvSpPr>
        <p:spPr>
          <a:xfrm>
            <a:off x="6181344" y="1600200"/>
            <a:ext cx="2651760" cy="3017520"/>
          </a:xfrm>
          <a:prstGeom prst="roundRect">
            <a:avLst>
              <a:gd name="adj" fmla="val 2759"/>
            </a:avLst>
          </a:prstGeom>
          <a:solidFill>
            <a:schemeClr val="bg2"/>
          </a:solidFill>
          <a:ln/>
        </p:spPr>
      </p:sp>
      <p:sp>
        <p:nvSpPr>
          <p:cNvPr id="15" name="Text 12"/>
          <p:cNvSpPr txBox="1"/>
          <p:nvPr/>
        </p:nvSpPr>
        <p:spPr>
          <a:xfrm>
            <a:off x="6455664" y="1874520"/>
            <a:ext cx="548640" cy="54864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6" name="Text 13"/>
          <p:cNvSpPr txBox="1"/>
          <p:nvPr/>
        </p:nvSpPr>
        <p:spPr>
          <a:xfrm>
            <a:off x="6455664" y="2606040"/>
            <a:ext cx="2194560" cy="365760"/>
          </a:xfrm>
          <a:prstGeom prst="rect">
            <a:avLst/>
          </a:prstGeom>
          <a:noFill/>
          <a:ln/>
        </p:spPr>
        <p:txBody>
          <a:bodyPr wrap="square" lIns="0" tIns="0" rIns="0" bIns="0" rtlCol="0" anchor="t"/>
          <a:lstStyle/>
          <a:p>
            <a:pPr algn="l" indent="0" marL="0">
              <a:buNone/>
            </a:pPr>
            <a:r>
              <a:rPr lang="en-US" sz="1700" b="1" dirty="0">
                <a:solidFill>
                  <a:schemeClr val="tx2"/>
                </a:solidFill>
              </a:rPr>
              <a:t>Score the totals</a:t>
            </a:r>
            <a:endParaRPr lang="en-US" sz="1700" dirty="0"/>
          </a:p>
        </p:txBody>
      </p:sp>
      <p:sp>
        <p:nvSpPr>
          <p:cNvPr id="17" name="Text 14"/>
          <p:cNvSpPr txBox="1"/>
          <p:nvPr/>
        </p:nvSpPr>
        <p:spPr>
          <a:xfrm>
            <a:off x="6455664" y="3063240"/>
            <a:ext cx="2194560" cy="1463040"/>
          </a:xfrm>
          <a:prstGeom prst="rect">
            <a:avLst/>
          </a:prstGeom>
          <a:noFill/>
          <a:ln/>
        </p:spPr>
        <p:txBody>
          <a:bodyPr wrap="square" lIns="0" tIns="0" rIns="0" bIns="0" rtlCol="0" anchor="t"/>
          <a:lstStyle/>
          <a:p>
            <a:pPr algn="l" indent="0" marL="0">
              <a:buNone/>
            </a:pPr>
            <a:r>
              <a:rPr lang="en-US" sz="1400" dirty="0">
                <a:solidFill>
                  <a:schemeClr val="tx1"/>
                </a:solidFill>
              </a:rPr>
              <a:t>Words like TOTAL and cash-minus-change raise a candidate; summary tables lower it</a:t>
            </a:r>
            <a:endParaRPr lang="en-US" sz="1400" dirty="0"/>
          </a:p>
        </p:txBody>
      </p:sp>
      <p:sp>
        <p:nvSpPr>
          <p:cNvPr id="18" name="Shape 15"/>
          <p:cNvSpPr/>
          <p:nvPr/>
        </p:nvSpPr>
        <p:spPr>
          <a:xfrm>
            <a:off x="8860536" y="3108960"/>
            <a:ext cx="109728" cy="0"/>
          </a:xfrm>
          <a:prstGeom prst="line">
            <a:avLst/>
          </a:prstGeom>
          <a:noFill/>
          <a:ln w="22225">
            <a:solidFill>
              <a:schemeClr val="accent4"/>
            </a:solidFill>
            <a:prstDash val="solid"/>
            <a:tailEnd type="triangle"/>
          </a:ln>
        </p:spPr>
      </p:sp>
      <p:sp>
        <p:nvSpPr>
          <p:cNvPr id="19" name="Step Sanity check"/>
          <p:cNvSpPr/>
          <p:nvPr/>
        </p:nvSpPr>
        <p:spPr>
          <a:xfrm>
            <a:off x="8997696" y="1600200"/>
            <a:ext cx="2651760" cy="3017520"/>
          </a:xfrm>
          <a:prstGeom prst="roundRect">
            <a:avLst>
              <a:gd name="adj" fmla="val 2759"/>
            </a:avLst>
          </a:prstGeom>
          <a:solidFill>
            <a:schemeClr val="bg2"/>
          </a:solidFill>
          <a:ln/>
        </p:spPr>
      </p:sp>
      <p:sp>
        <p:nvSpPr>
          <p:cNvPr id="20" name="Text 17"/>
          <p:cNvSpPr txBox="1"/>
          <p:nvPr/>
        </p:nvSpPr>
        <p:spPr>
          <a:xfrm>
            <a:off x="9272016" y="1874520"/>
            <a:ext cx="548640" cy="54864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1" name="Text 18"/>
          <p:cNvSpPr txBox="1"/>
          <p:nvPr/>
        </p:nvSpPr>
        <p:spPr>
          <a:xfrm>
            <a:off x="9272016" y="2606040"/>
            <a:ext cx="2194560" cy="365760"/>
          </a:xfrm>
          <a:prstGeom prst="rect">
            <a:avLst/>
          </a:prstGeom>
          <a:noFill/>
          <a:ln/>
        </p:spPr>
        <p:txBody>
          <a:bodyPr wrap="square" lIns="0" tIns="0" rIns="0" bIns="0" rtlCol="0" anchor="t"/>
          <a:lstStyle/>
          <a:p>
            <a:pPr algn="l" indent="0" marL="0">
              <a:buNone/>
            </a:pPr>
            <a:r>
              <a:rPr lang="en-US" sz="1700" b="1" dirty="0">
                <a:solidFill>
                  <a:schemeClr val="tx2"/>
                </a:solidFill>
              </a:rPr>
              <a:t>Sanity check</a:t>
            </a:r>
            <a:endParaRPr lang="en-US" sz="1700" dirty="0"/>
          </a:p>
        </p:txBody>
      </p:sp>
      <p:sp>
        <p:nvSpPr>
          <p:cNvPr id="22" name="Text 19"/>
          <p:cNvSpPr txBox="1"/>
          <p:nvPr/>
        </p:nvSpPr>
        <p:spPr>
          <a:xfrm>
            <a:off x="9272016" y="3063240"/>
            <a:ext cx="2194560" cy="1463040"/>
          </a:xfrm>
          <a:prstGeom prst="rect">
            <a:avLst/>
          </a:prstGeom>
          <a:noFill/>
          <a:ln/>
        </p:spPr>
        <p:txBody>
          <a:bodyPr wrap="square" lIns="0" tIns="0" rIns="0" bIns="0" rtlCol="0" anchor="t"/>
          <a:lstStyle/>
          <a:p>
            <a:pPr algn="l" indent="0" marL="0">
              <a:buNone/>
            </a:pPr>
            <a:r>
              <a:rPr lang="en-US" sz="1400" dirty="0">
                <a:solidFill>
                  <a:schemeClr val="tx1"/>
                </a:solidFill>
              </a:rPr>
              <a:t>A total below 90% of the subtotal is flagged NEEDS_REVIEW</a:t>
            </a:r>
            <a:endParaRPr lang="en-US" sz="1400" dirty="0"/>
          </a:p>
        </p:txBody>
      </p:sp>
      <p:sp>
        <p:nvSpPr>
          <p:cNvPr id="23" name="Stat median time for a long photo, before and after parallel reading"/>
          <p:cNvSpPr/>
          <p:nvPr/>
        </p:nvSpPr>
        <p:spPr>
          <a:xfrm>
            <a:off x="548640" y="4800600"/>
            <a:ext cx="3520440" cy="1371600"/>
          </a:xfrm>
          <a:prstGeom prst="roundRect">
            <a:avLst>
              <a:gd name="adj" fmla="val 5333"/>
            </a:avLst>
          </a:prstGeom>
          <a:solidFill>
            <a:schemeClr val="accent6"/>
          </a:solidFill>
          <a:ln/>
        </p:spPr>
      </p:sp>
      <p:sp>
        <p:nvSpPr>
          <p:cNvPr id="24" name="Text 21"/>
          <p:cNvSpPr txBox="1"/>
          <p:nvPr/>
        </p:nvSpPr>
        <p:spPr>
          <a:xfrm>
            <a:off x="731520" y="4983480"/>
            <a:ext cx="3154680" cy="77724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5.3 s to 2.4 s</a:t>
            </a:r>
            <a:endParaRPr lang="en-US" sz="3600" dirty="0"/>
          </a:p>
        </p:txBody>
      </p:sp>
      <p:sp>
        <p:nvSpPr>
          <p:cNvPr id="25" name="Text 22"/>
          <p:cNvSpPr txBox="1"/>
          <p:nvPr/>
        </p:nvSpPr>
        <p:spPr>
          <a:xfrm>
            <a:off x="731520" y="5806440"/>
            <a:ext cx="3154680" cy="640080"/>
          </a:xfrm>
          <a:prstGeom prst="rect">
            <a:avLst/>
          </a:prstGeom>
          <a:noFill/>
          <a:ln/>
        </p:spPr>
        <p:txBody>
          <a:bodyPr wrap="square" lIns="0" tIns="0" rIns="0" bIns="0" rtlCol="0" anchor="t"/>
          <a:lstStyle/>
          <a:p>
            <a:pPr algn="l" indent="0" marL="0">
              <a:buNone/>
            </a:pPr>
            <a:r>
              <a:rPr lang="en-US" sz="1400" dirty="0">
                <a:solidFill>
                  <a:schemeClr val="tx1"/>
                </a:solidFill>
              </a:rPr>
              <a:t>median time for a long photo, before and after parallel reading</a:t>
            </a:r>
            <a:endParaRPr lang="en-US" sz="1400" dirty="0"/>
          </a:p>
        </p:txBody>
      </p:sp>
      <p:sp>
        <p:nvSpPr>
          <p:cNvPr id="26" name="Text 23"/>
          <p:cNvSpPr txBox="1"/>
          <p:nvPr/>
        </p:nvSpPr>
        <p:spPr>
          <a:xfrm>
            <a:off x="4389120" y="4800600"/>
            <a:ext cx="7223760" cy="1371600"/>
          </a:xfrm>
          <a:prstGeom prst="rect">
            <a:avLst/>
          </a:prstGeom>
          <a:noFill/>
          <a:ln/>
        </p:spPr>
        <p:txBody>
          <a:bodyPr wrap="square" lIns="0" tIns="0" rIns="0" bIns="0" rtlCol="0" anchor="ctr"/>
          <a:lstStyle/>
          <a:p>
            <a:pPr algn="l" indent="0" marL="0">
              <a:buNone/>
            </a:pPr>
            <a:r>
              <a:rPr lang="en-US" sz="1600" dirty="0">
                <a:solidFill>
                  <a:schemeClr val="tx1"/>
                </a:solidFill>
              </a:rPr>
              <a:t>PDFs skip OCR entirely: the text is read directly from the file, which is why they are the fastest input.</a:t>
            </a:r>
            <a:endParaRPr lang="en-US" sz="160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68680"/>
          </a:xfrm>
          <a:prstGeom prst="rect">
            <a:avLst/>
          </a:prstGeom>
          <a:noFill/>
          <a:ln/>
        </p:spPr>
        <p:txBody>
          <a:bodyPr wrap="square" lIns="0" tIns="0" rIns="0" bIns="0" rtlCol="0" anchor="ctr"/>
          <a:lstStyle/>
          <a:p>
            <a:pPr algn="l" indent="0" marL="0">
              <a:buNone/>
            </a:pPr>
            <a:r>
              <a:rPr lang="en-US" sz="3400" b="1" dirty="0">
                <a:solidFill>
                  <a:schemeClr val="tx2"/>
                </a:solidFill>
              </a:rPr>
              <a:t>The test data: 626 real receipts and 170 GST invoices</a:t>
            </a:r>
            <a:endParaRPr lang="en-US" sz="3400" dirty="0"/>
          </a:p>
        </p:txBody>
      </p:sp>
      <p:sp>
        <p:nvSpPr>
          <p:cNvPr id="4" name="Dataset SROIE receipts"/>
          <p:cNvSpPr/>
          <p:nvPr/>
        </p:nvSpPr>
        <p:spPr>
          <a:xfrm>
            <a:off x="548640" y="1554480"/>
            <a:ext cx="2651760" cy="3611880"/>
          </a:xfrm>
          <a:prstGeom prst="roundRect">
            <a:avLst>
              <a:gd name="adj" fmla="val 2759"/>
            </a:avLst>
          </a:prstGeom>
          <a:solidFill>
            <a:schemeClr val="bg2"/>
          </a:solidFill>
          <a:ln/>
        </p:spPr>
      </p:sp>
      <p:sp>
        <p:nvSpPr>
          <p:cNvPr id="5" name="Shape 2"/>
          <p:cNvSpPr/>
          <p:nvPr/>
        </p:nvSpPr>
        <p:spPr>
          <a:xfrm>
            <a:off x="822960" y="1783080"/>
            <a:ext cx="548640" cy="548640"/>
          </a:xfrm>
          <a:prstGeom prst="ellipse">
            <a:avLst/>
          </a:prstGeom>
          <a:solidFill>
            <a:schemeClr val="accent1"/>
          </a:solidFill>
          <a:ln/>
        </p:spPr>
      </p:sp>
      <p:pic>
        <p:nvPicPr>
          <p:cNvPr id="6" name="Image 0" descr="preencoded.png">    </p:cNvPr>
          <p:cNvPicPr>
            <a:picLocks noChangeAspect="1"/>
          </p:cNvPicPr>
          <p:nvPr/>
        </p:nvPicPr>
        <p:blipFill>
          <a:blip r:embed="rId1"/>
          <a:stretch>
            <a:fillRect/>
          </a:stretch>
        </p:blipFill>
        <p:spPr>
          <a:xfrm>
            <a:off x="976579" y="1936699"/>
            <a:ext cx="241402" cy="241402"/>
          </a:xfrm>
          <a:prstGeom prst="rect">
            <a:avLst/>
          </a:prstGeom>
        </p:spPr>
      </p:pic>
      <p:sp>
        <p:nvSpPr>
          <p:cNvPr id="7" name="Text 3"/>
          <p:cNvSpPr txBox="1"/>
          <p:nvPr/>
        </p:nvSpPr>
        <p:spPr>
          <a:xfrm>
            <a:off x="1508760" y="1783080"/>
            <a:ext cx="1554480" cy="5486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626</a:t>
            </a:r>
            <a:endParaRPr lang="en-US" sz="3200" dirty="0"/>
          </a:p>
        </p:txBody>
      </p:sp>
      <p:sp>
        <p:nvSpPr>
          <p:cNvPr id="8" name="Text 4"/>
          <p:cNvSpPr txBox="1"/>
          <p:nvPr/>
        </p:nvSpPr>
        <p:spPr>
          <a:xfrm>
            <a:off x="822960" y="2560320"/>
            <a:ext cx="2194560" cy="457200"/>
          </a:xfrm>
          <a:prstGeom prst="rect">
            <a:avLst/>
          </a:prstGeom>
          <a:noFill/>
          <a:ln/>
        </p:spPr>
        <p:txBody>
          <a:bodyPr wrap="square" lIns="0" tIns="0" rIns="0" bIns="0" rtlCol="0" anchor="t"/>
          <a:lstStyle/>
          <a:p>
            <a:pPr algn="l" indent="0" marL="0">
              <a:buNone/>
            </a:pPr>
            <a:r>
              <a:rPr lang="en-US" sz="1600" b="1" dirty="0">
                <a:solidFill>
                  <a:schemeClr val="tx2"/>
                </a:solidFill>
              </a:rPr>
              <a:t>SROIE receipts</a:t>
            </a:r>
            <a:endParaRPr lang="en-US" sz="1600" dirty="0"/>
          </a:p>
        </p:txBody>
      </p:sp>
      <p:sp>
        <p:nvSpPr>
          <p:cNvPr id="9" name="Text 5"/>
          <p:cNvSpPr txBox="1"/>
          <p:nvPr/>
        </p:nvSpPr>
        <p:spPr>
          <a:xfrm>
            <a:off x="822960" y="3063240"/>
            <a:ext cx="2194560" cy="2011680"/>
          </a:xfrm>
          <a:prstGeom prst="rect">
            <a:avLst/>
          </a:prstGeom>
          <a:noFill/>
          <a:ln/>
        </p:spPr>
        <p:txBody>
          <a:bodyPr wrap="square" lIns="0" tIns="0" rIns="0" bIns="0" rtlCol="0" anchor="t"/>
          <a:lstStyle/>
          <a:p>
            <a:pPr algn="l" indent="0" marL="0">
              <a:buNone/>
            </a:pPr>
            <a:r>
              <a:rPr lang="en-US" sz="1300" dirty="0">
                <a:solidFill>
                  <a:schemeClr val="tx1"/>
                </a:solidFill>
              </a:rPr>
              <a:t>Real scanned shop receipts with the correct vendor, total and date. Mostly Malaysian. ICDAR 2019; MIT licence</a:t>
            </a:r>
            <a:endParaRPr lang="en-US" sz="1300" dirty="0"/>
          </a:p>
        </p:txBody>
      </p:sp>
      <p:sp>
        <p:nvSpPr>
          <p:cNvPr id="10" name="Dataset Genuine GST invoices"/>
          <p:cNvSpPr/>
          <p:nvPr/>
        </p:nvSpPr>
        <p:spPr>
          <a:xfrm>
            <a:off x="3364992" y="1554480"/>
            <a:ext cx="2651760" cy="3611880"/>
          </a:xfrm>
          <a:prstGeom prst="roundRect">
            <a:avLst>
              <a:gd name="adj" fmla="val 2759"/>
            </a:avLst>
          </a:prstGeom>
          <a:solidFill>
            <a:schemeClr val="bg2"/>
          </a:solidFill>
          <a:ln/>
        </p:spPr>
      </p:sp>
      <p:sp>
        <p:nvSpPr>
          <p:cNvPr id="11" name="Shape 7"/>
          <p:cNvSpPr/>
          <p:nvPr/>
        </p:nvSpPr>
        <p:spPr>
          <a:xfrm>
            <a:off x="3639312" y="1783080"/>
            <a:ext cx="548640" cy="548640"/>
          </a:xfrm>
          <a:prstGeom prst="ellipse">
            <a:avLst/>
          </a:prstGeom>
          <a:solidFill>
            <a:schemeClr val="accent1"/>
          </a:solidFill>
          <a:ln/>
        </p:spPr>
      </p:sp>
      <p:pic>
        <p:nvPicPr>
          <p:cNvPr id="12" name="Image 1" descr="preencoded.png">    </p:cNvPr>
          <p:cNvPicPr>
            <a:picLocks noChangeAspect="1"/>
          </p:cNvPicPr>
          <p:nvPr/>
        </p:nvPicPr>
        <p:blipFill>
          <a:blip r:embed="rId2"/>
          <a:stretch>
            <a:fillRect/>
          </a:stretch>
        </p:blipFill>
        <p:spPr>
          <a:xfrm>
            <a:off x="3792931" y="1936699"/>
            <a:ext cx="241402" cy="241402"/>
          </a:xfrm>
          <a:prstGeom prst="rect">
            <a:avLst/>
          </a:prstGeom>
        </p:spPr>
      </p:pic>
      <p:sp>
        <p:nvSpPr>
          <p:cNvPr id="13" name="Text 8"/>
          <p:cNvSpPr txBox="1"/>
          <p:nvPr/>
        </p:nvSpPr>
        <p:spPr>
          <a:xfrm>
            <a:off x="4325112" y="1783080"/>
            <a:ext cx="1554480" cy="5486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100</a:t>
            </a:r>
            <a:endParaRPr lang="en-US" sz="3200" dirty="0"/>
          </a:p>
        </p:txBody>
      </p:sp>
      <p:sp>
        <p:nvSpPr>
          <p:cNvPr id="14" name="Text 9"/>
          <p:cNvSpPr txBox="1"/>
          <p:nvPr/>
        </p:nvSpPr>
        <p:spPr>
          <a:xfrm>
            <a:off x="3639312" y="2560320"/>
            <a:ext cx="2194560" cy="457200"/>
          </a:xfrm>
          <a:prstGeom prst="rect">
            <a:avLst/>
          </a:prstGeom>
          <a:noFill/>
          <a:ln/>
        </p:spPr>
        <p:txBody>
          <a:bodyPr wrap="square" lIns="0" tIns="0" rIns="0" bIns="0" rtlCol="0" anchor="t"/>
          <a:lstStyle/>
          <a:p>
            <a:pPr algn="l" indent="0" marL="0">
              <a:buNone/>
            </a:pPr>
            <a:r>
              <a:rPr lang="en-US" sz="1600" b="1" dirty="0">
                <a:solidFill>
                  <a:schemeClr val="tx2"/>
                </a:solidFill>
              </a:rPr>
              <a:t>Genuine GST invoices</a:t>
            </a:r>
            <a:endParaRPr lang="en-US" sz="1600" dirty="0"/>
          </a:p>
        </p:txBody>
      </p:sp>
      <p:sp>
        <p:nvSpPr>
          <p:cNvPr id="15" name="Text 10"/>
          <p:cNvSpPr txBox="1"/>
          <p:nvPr/>
        </p:nvSpPr>
        <p:spPr>
          <a:xfrm>
            <a:off x="3639312" y="3063240"/>
            <a:ext cx="2194560" cy="2011680"/>
          </a:xfrm>
          <a:prstGeom prst="rect">
            <a:avLst/>
          </a:prstGeom>
          <a:noFill/>
          <a:ln/>
        </p:spPr>
        <p:txBody>
          <a:bodyPr wrap="square" lIns="0" tIns="0" rIns="0" bIns="0" rtlCol="0" anchor="t"/>
          <a:lstStyle/>
          <a:p>
            <a:pPr algn="l" indent="0" marL="0">
              <a:buNone/>
            </a:pPr>
            <a:r>
              <a:rPr lang="en-US" sz="1300" dirty="0">
                <a:solidFill>
                  <a:schemeClr val="tx1"/>
                </a:solidFill>
              </a:rPr>
              <a:t>From the BillBook project (Apache-2.0): 20 it ships plus 80 from its own generator. Computer-generated</a:t>
            </a:r>
            <a:endParaRPr lang="en-US" sz="1300" dirty="0"/>
          </a:p>
        </p:txBody>
      </p:sp>
      <p:sp>
        <p:nvSpPr>
          <p:cNvPr id="16" name="Dataset Tampered invoices"/>
          <p:cNvSpPr/>
          <p:nvPr/>
        </p:nvSpPr>
        <p:spPr>
          <a:xfrm>
            <a:off x="6181344" y="1554480"/>
            <a:ext cx="2651760" cy="3611880"/>
          </a:xfrm>
          <a:prstGeom prst="roundRect">
            <a:avLst>
              <a:gd name="adj" fmla="val 2759"/>
            </a:avLst>
          </a:prstGeom>
          <a:solidFill>
            <a:schemeClr val="bg2"/>
          </a:solidFill>
          <a:ln/>
        </p:spPr>
      </p:sp>
      <p:sp>
        <p:nvSpPr>
          <p:cNvPr id="17" name="Shape 12"/>
          <p:cNvSpPr/>
          <p:nvPr/>
        </p:nvSpPr>
        <p:spPr>
          <a:xfrm>
            <a:off x="6455664" y="1783080"/>
            <a:ext cx="548640" cy="548640"/>
          </a:xfrm>
          <a:prstGeom prst="ellipse">
            <a:avLst/>
          </a:prstGeom>
          <a:solidFill>
            <a:schemeClr val="accent2"/>
          </a:solidFill>
          <a:ln/>
        </p:spPr>
      </p:sp>
      <p:pic>
        <p:nvPicPr>
          <p:cNvPr id="18" name="Image 2" descr="preencoded.png">    </p:cNvPr>
          <p:cNvPicPr>
            <a:picLocks noChangeAspect="1"/>
          </p:cNvPicPr>
          <p:nvPr/>
        </p:nvPicPr>
        <p:blipFill>
          <a:blip r:embed="rId3"/>
          <a:stretch>
            <a:fillRect/>
          </a:stretch>
        </p:blipFill>
        <p:spPr>
          <a:xfrm>
            <a:off x="6609283" y="1936699"/>
            <a:ext cx="241402" cy="241402"/>
          </a:xfrm>
          <a:prstGeom prst="rect">
            <a:avLst/>
          </a:prstGeom>
        </p:spPr>
      </p:pic>
      <p:sp>
        <p:nvSpPr>
          <p:cNvPr id="19" name="Text 13"/>
          <p:cNvSpPr txBox="1"/>
          <p:nvPr/>
        </p:nvSpPr>
        <p:spPr>
          <a:xfrm>
            <a:off x="7141464" y="1783080"/>
            <a:ext cx="1554480" cy="5486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60</a:t>
            </a:r>
            <a:endParaRPr lang="en-US" sz="3200" dirty="0"/>
          </a:p>
        </p:txBody>
      </p:sp>
      <p:sp>
        <p:nvSpPr>
          <p:cNvPr id="20" name="Text 14"/>
          <p:cNvSpPr txBox="1"/>
          <p:nvPr/>
        </p:nvSpPr>
        <p:spPr>
          <a:xfrm>
            <a:off x="6455664" y="2560320"/>
            <a:ext cx="2194560" cy="457200"/>
          </a:xfrm>
          <a:prstGeom prst="rect">
            <a:avLst/>
          </a:prstGeom>
          <a:noFill/>
          <a:ln/>
        </p:spPr>
        <p:txBody>
          <a:bodyPr wrap="square" lIns="0" tIns="0" rIns="0" bIns="0" rtlCol="0" anchor="t"/>
          <a:lstStyle/>
          <a:p>
            <a:pPr algn="l" indent="0" marL="0">
              <a:buNone/>
            </a:pPr>
            <a:r>
              <a:rPr lang="en-US" sz="1600" b="1" dirty="0">
                <a:solidFill>
                  <a:schemeClr val="tx2"/>
                </a:solidFill>
              </a:rPr>
              <a:t>Tampered invoices</a:t>
            </a:r>
            <a:endParaRPr lang="en-US" sz="1600" dirty="0"/>
          </a:p>
        </p:txBody>
      </p:sp>
      <p:sp>
        <p:nvSpPr>
          <p:cNvPr id="21" name="Text 15"/>
          <p:cNvSpPr txBox="1"/>
          <p:nvPr/>
        </p:nvSpPr>
        <p:spPr>
          <a:xfrm>
            <a:off x="6455664" y="3063240"/>
            <a:ext cx="2194560" cy="2011680"/>
          </a:xfrm>
          <a:prstGeom prst="rect">
            <a:avLst/>
          </a:prstGeom>
          <a:noFill/>
          <a:ln/>
        </p:spPr>
        <p:txBody>
          <a:bodyPr wrap="square" lIns="0" tIns="0" rIns="0" bIns="0" rtlCol="0" anchor="t"/>
          <a:lstStyle/>
          <a:p>
            <a:pPr algn="l" indent="0" marL="0">
              <a:buNone/>
            </a:pPr>
            <a:r>
              <a:rPr lang="en-US" sz="1300" dirty="0">
                <a:solidFill>
                  <a:schemeClr val="tx1"/>
                </a:solidFill>
              </a:rPr>
              <a:t>Six kinds of mistake, ten each: wrong GSTIN check digit, fake state code, CGST not equal to SGST, inflated total, mixed taxes, tax that does not add up</a:t>
            </a:r>
            <a:endParaRPr lang="en-US" sz="1300" dirty="0"/>
          </a:p>
        </p:txBody>
      </p:sp>
      <p:sp>
        <p:nvSpPr>
          <p:cNvPr id="22" name="Dataset Re-shot duplicates"/>
          <p:cNvSpPr/>
          <p:nvPr/>
        </p:nvSpPr>
        <p:spPr>
          <a:xfrm>
            <a:off x="8997696" y="1554480"/>
            <a:ext cx="2651760" cy="3611880"/>
          </a:xfrm>
          <a:prstGeom prst="roundRect">
            <a:avLst>
              <a:gd name="adj" fmla="val 2759"/>
            </a:avLst>
          </a:prstGeom>
          <a:solidFill>
            <a:schemeClr val="bg2"/>
          </a:solidFill>
          <a:ln/>
        </p:spPr>
      </p:sp>
      <p:sp>
        <p:nvSpPr>
          <p:cNvPr id="23" name="Shape 17"/>
          <p:cNvSpPr/>
          <p:nvPr/>
        </p:nvSpPr>
        <p:spPr>
          <a:xfrm>
            <a:off x="9272016" y="1783080"/>
            <a:ext cx="548640" cy="548640"/>
          </a:xfrm>
          <a:prstGeom prst="ellipse">
            <a:avLst/>
          </a:prstGeom>
          <a:solidFill>
            <a:schemeClr val="accent2"/>
          </a:solidFill>
          <a:ln/>
        </p:spPr>
      </p:sp>
      <p:pic>
        <p:nvPicPr>
          <p:cNvPr id="24" name="Image 3" descr="preencoded.png">    </p:cNvPr>
          <p:cNvPicPr>
            <a:picLocks noChangeAspect="1"/>
          </p:cNvPicPr>
          <p:nvPr/>
        </p:nvPicPr>
        <p:blipFill>
          <a:blip r:embed="rId4"/>
          <a:stretch>
            <a:fillRect/>
          </a:stretch>
        </p:blipFill>
        <p:spPr>
          <a:xfrm>
            <a:off x="9425635" y="1936699"/>
            <a:ext cx="241402" cy="241402"/>
          </a:xfrm>
          <a:prstGeom prst="rect">
            <a:avLst/>
          </a:prstGeom>
        </p:spPr>
      </p:pic>
      <p:sp>
        <p:nvSpPr>
          <p:cNvPr id="25" name="Text 18"/>
          <p:cNvSpPr txBox="1"/>
          <p:nvPr/>
        </p:nvSpPr>
        <p:spPr>
          <a:xfrm>
            <a:off x="9957816" y="1783080"/>
            <a:ext cx="1554480" cy="5486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10</a:t>
            </a:r>
            <a:endParaRPr lang="en-US" sz="3200" dirty="0"/>
          </a:p>
        </p:txBody>
      </p:sp>
      <p:sp>
        <p:nvSpPr>
          <p:cNvPr id="26" name="Text 19"/>
          <p:cNvSpPr txBox="1"/>
          <p:nvPr/>
        </p:nvSpPr>
        <p:spPr>
          <a:xfrm>
            <a:off x="9272016" y="2560320"/>
            <a:ext cx="2194560" cy="457200"/>
          </a:xfrm>
          <a:prstGeom prst="rect">
            <a:avLst/>
          </a:prstGeom>
          <a:noFill/>
          <a:ln/>
        </p:spPr>
        <p:txBody>
          <a:bodyPr wrap="square" lIns="0" tIns="0" rIns="0" bIns="0" rtlCol="0" anchor="t"/>
          <a:lstStyle/>
          <a:p>
            <a:pPr algn="l" indent="0" marL="0">
              <a:buNone/>
            </a:pPr>
            <a:r>
              <a:rPr lang="en-US" sz="1600" b="1" dirty="0">
                <a:solidFill>
                  <a:schemeClr val="tx2"/>
                </a:solidFill>
              </a:rPr>
              <a:t>Re-shot duplicates</a:t>
            </a:r>
            <a:endParaRPr lang="en-US" sz="1600" dirty="0"/>
          </a:p>
        </p:txBody>
      </p:sp>
      <p:sp>
        <p:nvSpPr>
          <p:cNvPr id="27" name="Text 20"/>
          <p:cNvSpPr txBox="1"/>
          <p:nvPr/>
        </p:nvSpPr>
        <p:spPr>
          <a:xfrm>
            <a:off x="9272016" y="3063240"/>
            <a:ext cx="2194560" cy="2011680"/>
          </a:xfrm>
          <a:prstGeom prst="rect">
            <a:avLst/>
          </a:prstGeom>
          <a:noFill/>
          <a:ln/>
        </p:spPr>
        <p:txBody>
          <a:bodyPr wrap="square" lIns="0" tIns="0" rIns="0" bIns="0" rtlCol="0" anchor="t"/>
          <a:lstStyle/>
          <a:p>
            <a:pPr algn="l" indent="0" marL="0">
              <a:buNone/>
            </a:pPr>
            <a:r>
              <a:rPr lang="en-US" sz="1300" dirty="0">
                <a:solidFill>
                  <a:schemeClr val="tx1"/>
                </a:solidFill>
              </a:rPr>
              <a:t>The same invoice drawn again with a different tilt, to test duplicate detection</a:t>
            </a:r>
            <a:endParaRPr lang="en-US" sz="1300" dirty="0"/>
          </a:p>
        </p:txBody>
      </p:sp>
      <p:sp>
        <p:nvSpPr>
          <p:cNvPr id="28" name="Takeaway"/>
          <p:cNvSpPr/>
          <p:nvPr/>
        </p:nvSpPr>
        <p:spPr>
          <a:xfrm>
            <a:off x="548640" y="5532120"/>
            <a:ext cx="11091672" cy="640080"/>
          </a:xfrm>
          <a:prstGeom prst="roundRect">
            <a:avLst>
              <a:gd name="adj" fmla="val 11429"/>
            </a:avLst>
          </a:prstGeom>
          <a:solidFill>
            <a:schemeClr val="accent6"/>
          </a:solidFill>
          <a:ln/>
        </p:spPr>
      </p:sp>
      <p:sp>
        <p:nvSpPr>
          <p:cNvPr id="29" name="Text 22"/>
          <p:cNvSpPr txBox="1"/>
          <p:nvPr/>
        </p:nvSpPr>
        <p:spPr>
          <a:xfrm>
            <a:off x="777240" y="5532120"/>
            <a:ext cx="10607040" cy="640080"/>
          </a:xfrm>
          <a:prstGeom prst="rect">
            <a:avLst/>
          </a:prstGeom>
          <a:noFill/>
          <a:ln/>
        </p:spPr>
        <p:txBody>
          <a:bodyPr wrap="square" lIns="0" tIns="0" rIns="0" bIns="0" rtlCol="0" anchor="ctr"/>
          <a:lstStyle/>
          <a:p>
            <a:pPr algn="l" indent="0" marL="0">
              <a:buNone/>
            </a:pPr>
            <a:r>
              <a:rPr lang="en-US" sz="1500" b="1" dirty="0">
                <a:solidFill>
                  <a:schemeClr val="tx1"/>
                </a:solidFill>
              </a:rPr>
              <a:t>Every image was uploaded to S3 and read by the Lambda function on AWS. The GST invoices are computer-generated, not real bills.</a:t>
            </a:r>
            <a:endParaRPr lang="en-US" sz="150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68680"/>
          </a:xfrm>
          <a:prstGeom prst="rect">
            <a:avLst/>
          </a:prstGeom>
          <a:noFill/>
          <a:ln/>
        </p:spPr>
        <p:txBody>
          <a:bodyPr wrap="square" lIns="0" tIns="0" rIns="0" bIns="0" rtlCol="0" anchor="ctr"/>
          <a:lstStyle/>
          <a:p>
            <a:pPr algn="l" indent="0" marL="0">
              <a:buNone/>
            </a:pPr>
            <a:r>
              <a:rPr lang="en-US" sz="3400" b="1" dirty="0">
                <a:solidFill>
                  <a:schemeClr val="tx2"/>
                </a:solidFill>
              </a:rPr>
              <a:t>Live on AWS: 626 real receipts, 81% fully correct</a:t>
            </a:r>
            <a:endParaRPr lang="en-US" sz="3400" dirty="0"/>
          </a:p>
        </p:txBody>
      </p:sp>
      <p:graphicFrame>
        <p:nvGraphicFramePr>
          <p:cNvPr id="4" name="Chart 0" descr=""/>
          <p:cNvGraphicFramePr/>
          <p:nvPr/>
        </p:nvGraphicFramePr>
        <p:xfrm>
          <a:off x="548640" y="1508760"/>
          <a:ext cx="6949440" cy="3931920"/>
        </p:xfrm>
        <a:graphic xmlns:a="http://schemas.openxmlformats.org/drawingml/2006/main">
          <a:graphicData uri="http://schemas.openxmlformats.org/drawingml/2006/chart">
            <c:chart xmlns:c="http://schemas.openxmlformats.org/drawingml/2006/chart" r:id="rId1"/>
          </a:graphicData>
        </a:graphic>
      </p:graphicFrame>
      <p:sp>
        <p:nvSpPr>
          <p:cNvPr id="5" name="Stat all three fields correct: 509 of 626 receipts"/>
          <p:cNvSpPr/>
          <p:nvPr/>
        </p:nvSpPr>
        <p:spPr>
          <a:xfrm>
            <a:off x="7863840" y="1600200"/>
            <a:ext cx="3776472" cy="1737360"/>
          </a:xfrm>
          <a:prstGeom prst="roundRect">
            <a:avLst>
              <a:gd name="adj" fmla="val 4211"/>
            </a:avLst>
          </a:prstGeom>
          <a:solidFill>
            <a:schemeClr val="accent6"/>
          </a:solidFill>
          <a:ln/>
        </p:spPr>
      </p:sp>
      <p:sp>
        <p:nvSpPr>
          <p:cNvPr id="6" name="Text 2"/>
          <p:cNvSpPr txBox="1"/>
          <p:nvPr/>
        </p:nvSpPr>
        <p:spPr>
          <a:xfrm>
            <a:off x="8046720" y="1783080"/>
            <a:ext cx="3410712" cy="77724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81.3%</a:t>
            </a:r>
            <a:endParaRPr lang="en-US" sz="3600" dirty="0"/>
          </a:p>
        </p:txBody>
      </p:sp>
      <p:sp>
        <p:nvSpPr>
          <p:cNvPr id="7" name="Text 3"/>
          <p:cNvSpPr txBox="1"/>
          <p:nvPr/>
        </p:nvSpPr>
        <p:spPr>
          <a:xfrm>
            <a:off x="8046720" y="2606040"/>
            <a:ext cx="3410712" cy="640080"/>
          </a:xfrm>
          <a:prstGeom prst="rect">
            <a:avLst/>
          </a:prstGeom>
          <a:noFill/>
          <a:ln/>
        </p:spPr>
        <p:txBody>
          <a:bodyPr wrap="square" lIns="0" tIns="0" rIns="0" bIns="0" rtlCol="0" anchor="t"/>
          <a:lstStyle/>
          <a:p>
            <a:pPr algn="l" indent="0" marL="0">
              <a:buNone/>
            </a:pPr>
            <a:r>
              <a:rPr lang="en-US" sz="1400" dirty="0">
                <a:solidFill>
                  <a:schemeClr val="tx1"/>
                </a:solidFill>
              </a:rPr>
              <a:t>all three fields correct: 509 of 626 receipts</a:t>
            </a:r>
            <a:endParaRPr lang="en-US" sz="1400" dirty="0"/>
          </a:p>
        </p:txBody>
      </p:sp>
      <p:sp>
        <p:nvSpPr>
          <p:cNvPr id="8" name="Stat saved as NEEDS_REVIEW (8.8%); 362 receipts needed banded reading"/>
          <p:cNvSpPr/>
          <p:nvPr/>
        </p:nvSpPr>
        <p:spPr>
          <a:xfrm>
            <a:off x="7863840" y="3520440"/>
            <a:ext cx="3776472" cy="1737360"/>
          </a:xfrm>
          <a:prstGeom prst="roundRect">
            <a:avLst>
              <a:gd name="adj" fmla="val 4211"/>
            </a:avLst>
          </a:prstGeom>
          <a:solidFill>
            <a:schemeClr val="bg2"/>
          </a:solidFill>
          <a:ln/>
        </p:spPr>
      </p:sp>
      <p:sp>
        <p:nvSpPr>
          <p:cNvPr id="9" name="Text 5"/>
          <p:cNvSpPr txBox="1"/>
          <p:nvPr/>
        </p:nvSpPr>
        <p:spPr>
          <a:xfrm>
            <a:off x="8046720" y="3703320"/>
            <a:ext cx="3410712" cy="777240"/>
          </a:xfrm>
          <a:prstGeom prst="rect">
            <a:avLst/>
          </a:prstGeom>
          <a:noFill/>
          <a:ln/>
        </p:spPr>
        <p:txBody>
          <a:bodyPr wrap="square" lIns="0" tIns="0" rIns="0" bIns="0" rtlCol="0" anchor="ctr"/>
          <a:lstStyle/>
          <a:p>
            <a:pPr algn="l" indent="0" marL="0">
              <a:buNone/>
            </a:pPr>
            <a:r>
              <a:rPr lang="en-US" sz="3600" b="1" dirty="0">
                <a:solidFill>
                  <a:schemeClr val="accent1"/>
                </a:solidFill>
                <a:latin typeface="Cambria" pitchFamily="34" charset="0"/>
                <a:ea typeface="Cambria" pitchFamily="34" charset="-122"/>
                <a:cs typeface="Cambria" pitchFamily="34" charset="-120"/>
              </a:rPr>
              <a:t>55</a:t>
            </a:r>
            <a:endParaRPr lang="en-US" sz="3600" dirty="0"/>
          </a:p>
        </p:txBody>
      </p:sp>
      <p:sp>
        <p:nvSpPr>
          <p:cNvPr id="10" name="Text 6"/>
          <p:cNvSpPr txBox="1"/>
          <p:nvPr/>
        </p:nvSpPr>
        <p:spPr>
          <a:xfrm>
            <a:off x="8046720" y="4526280"/>
            <a:ext cx="3410712" cy="640080"/>
          </a:xfrm>
          <a:prstGeom prst="rect">
            <a:avLst/>
          </a:prstGeom>
          <a:noFill/>
          <a:ln/>
        </p:spPr>
        <p:txBody>
          <a:bodyPr wrap="square" lIns="0" tIns="0" rIns="0" bIns="0" rtlCol="0" anchor="t"/>
          <a:lstStyle/>
          <a:p>
            <a:pPr algn="l" indent="0" marL="0">
              <a:buNone/>
            </a:pPr>
            <a:r>
              <a:rPr lang="en-US" sz="1400" dirty="0">
                <a:solidFill>
                  <a:schemeClr val="tx1"/>
                </a:solidFill>
              </a:rPr>
              <a:t>saved as NEEDS_REVIEW (8.8%); 362 receipts needed banded reading</a:t>
            </a:r>
            <a:endParaRPr lang="en-US" sz="1400" dirty="0"/>
          </a:p>
        </p:txBody>
      </p:sp>
      <p:sp>
        <p:nvSpPr>
          <p:cNvPr id="11" name="Takeaway"/>
          <p:cNvSpPr/>
          <p:nvPr/>
        </p:nvSpPr>
        <p:spPr>
          <a:xfrm>
            <a:off x="548640" y="5532120"/>
            <a:ext cx="11091672" cy="640080"/>
          </a:xfrm>
          <a:prstGeom prst="roundRect">
            <a:avLst>
              <a:gd name="adj" fmla="val 11429"/>
            </a:avLst>
          </a:prstGeom>
          <a:solidFill>
            <a:schemeClr val="accent6"/>
          </a:solidFill>
          <a:ln/>
        </p:spPr>
      </p:sp>
      <p:sp>
        <p:nvSpPr>
          <p:cNvPr id="12" name="Text 8"/>
          <p:cNvSpPr txBox="1"/>
          <p:nvPr/>
        </p:nvSpPr>
        <p:spPr>
          <a:xfrm>
            <a:off x="777240" y="5532120"/>
            <a:ext cx="10607040" cy="640080"/>
          </a:xfrm>
          <a:prstGeom prst="rect">
            <a:avLst/>
          </a:prstGeom>
          <a:noFill/>
          <a:ln/>
        </p:spPr>
        <p:txBody>
          <a:bodyPr wrap="square" lIns="0" tIns="0" rIns="0" bIns="0" rtlCol="0" anchor="ctr"/>
          <a:lstStyle/>
          <a:p>
            <a:pPr algn="l" indent="0" marL="0">
              <a:buNone/>
            </a:pPr>
            <a:r>
              <a:rPr lang="en-US" sz="1500" b="1" dirty="0">
                <a:solidFill>
                  <a:schemeClr val="tx1"/>
                </a:solidFill>
              </a:rPr>
              <a:t>37 wrong totals (5.9% of receipts) were saved without a review flag.</a:t>
            </a:r>
            <a:endParaRPr lang="en-US" sz="150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68680"/>
          </a:xfrm>
          <a:prstGeom prst="rect">
            <a:avLst/>
          </a:prstGeom>
          <a:noFill/>
          <a:ln/>
        </p:spPr>
        <p:txBody>
          <a:bodyPr wrap="square" lIns="0" tIns="0" rIns="0" bIns="0" rtlCol="0" anchor="ctr"/>
          <a:lstStyle/>
          <a:p>
            <a:pPr algn="l" indent="0" marL="0">
              <a:buNone/>
            </a:pPr>
            <a:r>
              <a:rPr lang="en-US" sz="3400" b="1" dirty="0">
                <a:solidFill>
                  <a:schemeClr val="tx2"/>
                </a:solidFill>
              </a:rPr>
              <a:t>GST checks on AWS: 59 of 60 tampered invoices caught</a:t>
            </a:r>
            <a:endParaRPr lang="en-US" sz="3400" dirty="0"/>
          </a:p>
        </p:txBody>
      </p:sp>
      <p:sp>
        <p:nvSpPr>
          <p:cNvPr id="4" name="Text 1"/>
          <p:cNvSpPr txBox="1"/>
          <p:nvPr/>
        </p:nvSpPr>
        <p:spPr>
          <a:xfrm>
            <a:off x="548640" y="1508760"/>
            <a:ext cx="5486400" cy="274320"/>
          </a:xfrm>
          <a:prstGeom prst="rect">
            <a:avLst/>
          </a:prstGeom>
          <a:noFill/>
          <a:ln/>
        </p:spPr>
        <p:txBody>
          <a:bodyPr wrap="square" lIns="0" tIns="0" rIns="0" bIns="0" rtlCol="0" anchor="t"/>
          <a:lstStyle/>
          <a:p>
            <a:pPr algn="l" indent="0" marL="0">
              <a:buNone/>
            </a:pPr>
            <a:r>
              <a:rPr lang="en-US" sz="1200" b="1" spc="200" kern="0" dirty="0">
                <a:solidFill>
                  <a:schemeClr val="accent4"/>
                </a:solidFill>
              </a:rPr>
              <a:t>FIVE CHECKS ON EVERY GST INVOICE</a:t>
            </a:r>
            <a:endParaRPr lang="en-US" sz="1200" dirty="0"/>
          </a:p>
        </p:txBody>
      </p:sp>
      <p:sp>
        <p:nvSpPr>
          <p:cNvPr id="5" name="Check GSTIN check digit"/>
          <p:cNvSpPr/>
          <p:nvPr/>
        </p:nvSpPr>
        <p:spPr>
          <a:xfrm>
            <a:off x="548640" y="1874520"/>
            <a:ext cx="5120640" cy="548640"/>
          </a:xfrm>
          <a:prstGeom prst="roundRect">
            <a:avLst>
              <a:gd name="adj" fmla="val 13333"/>
            </a:avLst>
          </a:prstGeom>
          <a:solidFill>
            <a:schemeClr val="bg2"/>
          </a:solidFill>
          <a:ln/>
        </p:spPr>
      </p:sp>
      <p:sp>
        <p:nvSpPr>
          <p:cNvPr id="6" name="Shape 3"/>
          <p:cNvSpPr/>
          <p:nvPr/>
        </p:nvSpPr>
        <p:spPr>
          <a:xfrm>
            <a:off x="685800" y="1947672"/>
            <a:ext cx="402336" cy="402336"/>
          </a:xfrm>
          <a:prstGeom prst="ellipse">
            <a:avLst/>
          </a:prstGeom>
          <a:solidFill>
            <a:schemeClr val="accent1"/>
          </a:solidFill>
          <a:ln/>
        </p:spPr>
      </p:sp>
      <p:pic>
        <p:nvPicPr>
          <p:cNvPr id="7" name="Image 0" descr="preencoded.png">    </p:cNvPr>
          <p:cNvPicPr>
            <a:picLocks noChangeAspect="1"/>
          </p:cNvPicPr>
          <p:nvPr/>
        </p:nvPicPr>
        <p:blipFill>
          <a:blip r:embed="rId1"/>
          <a:stretch>
            <a:fillRect/>
          </a:stretch>
        </p:blipFill>
        <p:spPr>
          <a:xfrm>
            <a:off x="798454" y="2060326"/>
            <a:ext cx="177028" cy="177028"/>
          </a:xfrm>
          <a:prstGeom prst="rect">
            <a:avLst/>
          </a:prstGeom>
        </p:spPr>
      </p:pic>
      <p:sp>
        <p:nvSpPr>
          <p:cNvPr id="8" name="Text 4"/>
          <p:cNvSpPr txBox="1"/>
          <p:nvPr/>
        </p:nvSpPr>
        <p:spPr>
          <a:xfrm>
            <a:off x="1280160" y="1874520"/>
            <a:ext cx="4297680" cy="548640"/>
          </a:xfrm>
          <a:prstGeom prst="rect">
            <a:avLst/>
          </a:prstGeom>
          <a:noFill/>
          <a:ln/>
        </p:spPr>
        <p:txBody>
          <a:bodyPr wrap="square" lIns="0" tIns="0" rIns="0" bIns="0" rtlCol="0" anchor="ctr"/>
          <a:lstStyle/>
          <a:p>
            <a:pPr algn="l" indent="0" marL="0">
              <a:buNone/>
            </a:pPr>
            <a:r>
              <a:rPr lang="en-US" sz="1600" dirty="0">
                <a:solidFill>
                  <a:schemeClr val="tx1"/>
                </a:solidFill>
              </a:rPr>
              <a:t>GSTIN check digit</a:t>
            </a:r>
            <a:endParaRPr lang="en-US" sz="1600" dirty="0"/>
          </a:p>
        </p:txBody>
      </p:sp>
      <p:sp>
        <p:nvSpPr>
          <p:cNvPr id="9" name="Check State code is real"/>
          <p:cNvSpPr/>
          <p:nvPr/>
        </p:nvSpPr>
        <p:spPr>
          <a:xfrm>
            <a:off x="548640" y="2532888"/>
            <a:ext cx="5120640" cy="548640"/>
          </a:xfrm>
          <a:prstGeom prst="roundRect">
            <a:avLst>
              <a:gd name="adj" fmla="val 13333"/>
            </a:avLst>
          </a:prstGeom>
          <a:solidFill>
            <a:schemeClr val="bg2"/>
          </a:solidFill>
          <a:ln/>
        </p:spPr>
      </p:sp>
      <p:sp>
        <p:nvSpPr>
          <p:cNvPr id="10" name="Shape 6"/>
          <p:cNvSpPr/>
          <p:nvPr/>
        </p:nvSpPr>
        <p:spPr>
          <a:xfrm>
            <a:off x="685800" y="2606040"/>
            <a:ext cx="402336" cy="402336"/>
          </a:xfrm>
          <a:prstGeom prst="ellipse">
            <a:avLst/>
          </a:prstGeom>
          <a:solidFill>
            <a:schemeClr val="accent1"/>
          </a:solidFill>
          <a:ln/>
        </p:spPr>
      </p:sp>
      <p:pic>
        <p:nvPicPr>
          <p:cNvPr id="11" name="Image 1" descr="preencoded.png">    </p:cNvPr>
          <p:cNvPicPr>
            <a:picLocks noChangeAspect="1"/>
          </p:cNvPicPr>
          <p:nvPr/>
        </p:nvPicPr>
        <p:blipFill>
          <a:blip r:embed="rId2"/>
          <a:stretch>
            <a:fillRect/>
          </a:stretch>
        </p:blipFill>
        <p:spPr>
          <a:xfrm>
            <a:off x="798454" y="2718694"/>
            <a:ext cx="177028" cy="177028"/>
          </a:xfrm>
          <a:prstGeom prst="rect">
            <a:avLst/>
          </a:prstGeom>
        </p:spPr>
      </p:pic>
      <p:sp>
        <p:nvSpPr>
          <p:cNvPr id="12" name="Text 7"/>
          <p:cNvSpPr txBox="1"/>
          <p:nvPr/>
        </p:nvSpPr>
        <p:spPr>
          <a:xfrm>
            <a:off x="1280160" y="2532888"/>
            <a:ext cx="4297680" cy="548640"/>
          </a:xfrm>
          <a:prstGeom prst="rect">
            <a:avLst/>
          </a:prstGeom>
          <a:noFill/>
          <a:ln/>
        </p:spPr>
        <p:txBody>
          <a:bodyPr wrap="square" lIns="0" tIns="0" rIns="0" bIns="0" rtlCol="0" anchor="ctr"/>
          <a:lstStyle/>
          <a:p>
            <a:pPr algn="l" indent="0" marL="0">
              <a:buNone/>
            </a:pPr>
            <a:r>
              <a:rPr lang="en-US" sz="1600" dirty="0">
                <a:solidFill>
                  <a:schemeClr val="tx1"/>
                </a:solidFill>
              </a:rPr>
              <a:t>State code is real</a:t>
            </a:r>
            <a:endParaRPr lang="en-US" sz="1600" dirty="0"/>
          </a:p>
        </p:txBody>
      </p:sp>
      <p:sp>
        <p:nvSpPr>
          <p:cNvPr id="13" name="Check CGST equals SGST"/>
          <p:cNvSpPr/>
          <p:nvPr/>
        </p:nvSpPr>
        <p:spPr>
          <a:xfrm>
            <a:off x="548640" y="3191256"/>
            <a:ext cx="5120640" cy="548640"/>
          </a:xfrm>
          <a:prstGeom prst="roundRect">
            <a:avLst>
              <a:gd name="adj" fmla="val 13333"/>
            </a:avLst>
          </a:prstGeom>
          <a:solidFill>
            <a:schemeClr val="bg2"/>
          </a:solidFill>
          <a:ln/>
        </p:spPr>
      </p:sp>
      <p:sp>
        <p:nvSpPr>
          <p:cNvPr id="14" name="Shape 9"/>
          <p:cNvSpPr/>
          <p:nvPr/>
        </p:nvSpPr>
        <p:spPr>
          <a:xfrm>
            <a:off x="685800" y="3264408"/>
            <a:ext cx="402336" cy="402336"/>
          </a:xfrm>
          <a:prstGeom prst="ellipse">
            <a:avLst/>
          </a:prstGeom>
          <a:solidFill>
            <a:schemeClr val="accent1"/>
          </a:solidFill>
          <a:ln/>
        </p:spPr>
      </p:sp>
      <p:pic>
        <p:nvPicPr>
          <p:cNvPr id="15" name="Image 2" descr="preencoded.png">    </p:cNvPr>
          <p:cNvPicPr>
            <a:picLocks noChangeAspect="1"/>
          </p:cNvPicPr>
          <p:nvPr/>
        </p:nvPicPr>
        <p:blipFill>
          <a:blip r:embed="rId3"/>
          <a:stretch>
            <a:fillRect/>
          </a:stretch>
        </p:blipFill>
        <p:spPr>
          <a:xfrm>
            <a:off x="798454" y="3377062"/>
            <a:ext cx="177028" cy="177028"/>
          </a:xfrm>
          <a:prstGeom prst="rect">
            <a:avLst/>
          </a:prstGeom>
        </p:spPr>
      </p:pic>
      <p:sp>
        <p:nvSpPr>
          <p:cNvPr id="16" name="Text 10"/>
          <p:cNvSpPr txBox="1"/>
          <p:nvPr/>
        </p:nvSpPr>
        <p:spPr>
          <a:xfrm>
            <a:off x="1280160" y="3191256"/>
            <a:ext cx="4297680" cy="548640"/>
          </a:xfrm>
          <a:prstGeom prst="rect">
            <a:avLst/>
          </a:prstGeom>
          <a:noFill/>
          <a:ln/>
        </p:spPr>
        <p:txBody>
          <a:bodyPr wrap="square" lIns="0" tIns="0" rIns="0" bIns="0" rtlCol="0" anchor="ctr"/>
          <a:lstStyle/>
          <a:p>
            <a:pPr algn="l" indent="0" marL="0">
              <a:buNone/>
            </a:pPr>
            <a:r>
              <a:rPr lang="en-US" sz="1600" dirty="0">
                <a:solidFill>
                  <a:schemeClr val="tx1"/>
                </a:solidFill>
              </a:rPr>
              <a:t>CGST equals SGST</a:t>
            </a:r>
            <a:endParaRPr lang="en-US" sz="1600" dirty="0"/>
          </a:p>
        </p:txBody>
      </p:sp>
      <p:sp>
        <p:nvSpPr>
          <p:cNvPr id="17" name="Check IGST not with CGST/SGST"/>
          <p:cNvSpPr/>
          <p:nvPr/>
        </p:nvSpPr>
        <p:spPr>
          <a:xfrm>
            <a:off x="548640" y="3849624"/>
            <a:ext cx="5120640" cy="548640"/>
          </a:xfrm>
          <a:prstGeom prst="roundRect">
            <a:avLst>
              <a:gd name="adj" fmla="val 13333"/>
            </a:avLst>
          </a:prstGeom>
          <a:solidFill>
            <a:schemeClr val="bg2"/>
          </a:solidFill>
          <a:ln/>
        </p:spPr>
      </p:sp>
      <p:sp>
        <p:nvSpPr>
          <p:cNvPr id="18" name="Shape 12"/>
          <p:cNvSpPr/>
          <p:nvPr/>
        </p:nvSpPr>
        <p:spPr>
          <a:xfrm>
            <a:off x="685800" y="3922776"/>
            <a:ext cx="402336" cy="402336"/>
          </a:xfrm>
          <a:prstGeom prst="ellipse">
            <a:avLst/>
          </a:prstGeom>
          <a:solidFill>
            <a:schemeClr val="accent1"/>
          </a:solidFill>
          <a:ln/>
        </p:spPr>
      </p:sp>
      <p:pic>
        <p:nvPicPr>
          <p:cNvPr id="19" name="Image 3" descr="preencoded.png">    </p:cNvPr>
          <p:cNvPicPr>
            <a:picLocks noChangeAspect="1"/>
          </p:cNvPicPr>
          <p:nvPr/>
        </p:nvPicPr>
        <p:blipFill>
          <a:blip r:embed="rId4"/>
          <a:stretch>
            <a:fillRect/>
          </a:stretch>
        </p:blipFill>
        <p:spPr>
          <a:xfrm>
            <a:off x="798454" y="4035430"/>
            <a:ext cx="177028" cy="177028"/>
          </a:xfrm>
          <a:prstGeom prst="rect">
            <a:avLst/>
          </a:prstGeom>
        </p:spPr>
      </p:pic>
      <p:sp>
        <p:nvSpPr>
          <p:cNvPr id="20" name="Text 13"/>
          <p:cNvSpPr txBox="1"/>
          <p:nvPr/>
        </p:nvSpPr>
        <p:spPr>
          <a:xfrm>
            <a:off x="1280160" y="3849624"/>
            <a:ext cx="4297680" cy="548640"/>
          </a:xfrm>
          <a:prstGeom prst="rect">
            <a:avLst/>
          </a:prstGeom>
          <a:noFill/>
          <a:ln/>
        </p:spPr>
        <p:txBody>
          <a:bodyPr wrap="square" lIns="0" tIns="0" rIns="0" bIns="0" rtlCol="0" anchor="ctr"/>
          <a:lstStyle/>
          <a:p>
            <a:pPr algn="l" indent="0" marL="0">
              <a:buNone/>
            </a:pPr>
            <a:r>
              <a:rPr lang="en-US" sz="1600" dirty="0">
                <a:solidFill>
                  <a:schemeClr val="tx1"/>
                </a:solidFill>
              </a:rPr>
              <a:t>IGST not with CGST/SGST</a:t>
            </a:r>
            <a:endParaRPr lang="en-US" sz="1600" dirty="0"/>
          </a:p>
        </p:txBody>
      </p:sp>
      <p:sp>
        <p:nvSpPr>
          <p:cNvPr id="21" name="Check Taxable + tax = total"/>
          <p:cNvSpPr/>
          <p:nvPr/>
        </p:nvSpPr>
        <p:spPr>
          <a:xfrm>
            <a:off x="548640" y="4507992"/>
            <a:ext cx="5120640" cy="548640"/>
          </a:xfrm>
          <a:prstGeom prst="roundRect">
            <a:avLst>
              <a:gd name="adj" fmla="val 13333"/>
            </a:avLst>
          </a:prstGeom>
          <a:solidFill>
            <a:schemeClr val="bg2"/>
          </a:solidFill>
          <a:ln/>
        </p:spPr>
      </p:sp>
      <p:sp>
        <p:nvSpPr>
          <p:cNvPr id="22" name="Shape 15"/>
          <p:cNvSpPr/>
          <p:nvPr/>
        </p:nvSpPr>
        <p:spPr>
          <a:xfrm>
            <a:off x="685800" y="4581144"/>
            <a:ext cx="402336" cy="402336"/>
          </a:xfrm>
          <a:prstGeom prst="ellipse">
            <a:avLst/>
          </a:prstGeom>
          <a:solidFill>
            <a:schemeClr val="accent1"/>
          </a:solidFill>
          <a:ln/>
        </p:spPr>
      </p:sp>
      <p:pic>
        <p:nvPicPr>
          <p:cNvPr id="23" name="Image 4" descr="preencoded.png">    </p:cNvPr>
          <p:cNvPicPr>
            <a:picLocks noChangeAspect="1"/>
          </p:cNvPicPr>
          <p:nvPr/>
        </p:nvPicPr>
        <p:blipFill>
          <a:blip r:embed="rId5"/>
          <a:stretch>
            <a:fillRect/>
          </a:stretch>
        </p:blipFill>
        <p:spPr>
          <a:xfrm>
            <a:off x="798454" y="4693798"/>
            <a:ext cx="177028" cy="177028"/>
          </a:xfrm>
          <a:prstGeom prst="rect">
            <a:avLst/>
          </a:prstGeom>
        </p:spPr>
      </p:pic>
      <p:sp>
        <p:nvSpPr>
          <p:cNvPr id="24" name="Text 16"/>
          <p:cNvSpPr txBox="1"/>
          <p:nvPr/>
        </p:nvSpPr>
        <p:spPr>
          <a:xfrm>
            <a:off x="1280160" y="4507992"/>
            <a:ext cx="4297680" cy="548640"/>
          </a:xfrm>
          <a:prstGeom prst="rect">
            <a:avLst/>
          </a:prstGeom>
          <a:noFill/>
          <a:ln/>
        </p:spPr>
        <p:txBody>
          <a:bodyPr wrap="square" lIns="0" tIns="0" rIns="0" bIns="0" rtlCol="0" anchor="ctr"/>
          <a:lstStyle/>
          <a:p>
            <a:pPr algn="l" indent="0" marL="0">
              <a:buNone/>
            </a:pPr>
            <a:r>
              <a:rPr lang="en-US" sz="1600" dirty="0">
                <a:solidFill>
                  <a:schemeClr val="tx1"/>
                </a:solidFill>
              </a:rPr>
              <a:t>Taxable + tax = total</a:t>
            </a:r>
            <a:endParaRPr lang="en-US" sz="1600" dirty="0"/>
          </a:p>
        </p:txBody>
      </p:sp>
      <p:sp>
        <p:nvSpPr>
          <p:cNvPr id="25" name="Stat tampered invoices caught"/>
          <p:cNvSpPr/>
          <p:nvPr/>
        </p:nvSpPr>
        <p:spPr>
          <a:xfrm>
            <a:off x="6035040" y="1600200"/>
            <a:ext cx="2697480" cy="1737360"/>
          </a:xfrm>
          <a:prstGeom prst="roundRect">
            <a:avLst>
              <a:gd name="adj" fmla="val 4211"/>
            </a:avLst>
          </a:prstGeom>
          <a:solidFill>
            <a:schemeClr val="bg2"/>
          </a:solidFill>
          <a:ln/>
        </p:spPr>
      </p:sp>
      <p:sp>
        <p:nvSpPr>
          <p:cNvPr id="26" name="Text 18"/>
          <p:cNvSpPr txBox="1"/>
          <p:nvPr/>
        </p:nvSpPr>
        <p:spPr>
          <a:xfrm>
            <a:off x="6217920" y="1783080"/>
            <a:ext cx="2331720" cy="777240"/>
          </a:xfrm>
          <a:prstGeom prst="rect">
            <a:avLst/>
          </a:prstGeom>
          <a:noFill/>
          <a:ln/>
        </p:spPr>
        <p:txBody>
          <a:bodyPr wrap="square" lIns="0" tIns="0" rIns="0" bIns="0" rtlCol="0" anchor="ctr"/>
          <a:lstStyle/>
          <a:p>
            <a:pPr algn="l" indent="0" marL="0">
              <a:buNone/>
            </a:pPr>
            <a:r>
              <a:rPr lang="en-US" sz="3600" b="1" dirty="0">
                <a:solidFill>
                  <a:schemeClr val="accent1"/>
                </a:solidFill>
                <a:latin typeface="Cambria" pitchFamily="34" charset="0"/>
                <a:ea typeface="Cambria" pitchFamily="34" charset="-122"/>
                <a:cs typeface="Cambria" pitchFamily="34" charset="-120"/>
              </a:rPr>
              <a:t>59 of 60</a:t>
            </a:r>
            <a:endParaRPr lang="en-US" sz="3600" dirty="0"/>
          </a:p>
        </p:txBody>
      </p:sp>
      <p:sp>
        <p:nvSpPr>
          <p:cNvPr id="27" name="Text 19"/>
          <p:cNvSpPr txBox="1"/>
          <p:nvPr/>
        </p:nvSpPr>
        <p:spPr>
          <a:xfrm>
            <a:off x="6217920" y="2606040"/>
            <a:ext cx="2331720" cy="640080"/>
          </a:xfrm>
          <a:prstGeom prst="rect">
            <a:avLst/>
          </a:prstGeom>
          <a:noFill/>
          <a:ln/>
        </p:spPr>
        <p:txBody>
          <a:bodyPr wrap="square" lIns="0" tIns="0" rIns="0" bIns="0" rtlCol="0" anchor="t"/>
          <a:lstStyle/>
          <a:p>
            <a:pPr algn="l" indent="0" marL="0">
              <a:buNone/>
            </a:pPr>
            <a:r>
              <a:rPr lang="en-US" sz="1400" dirty="0">
                <a:solidFill>
                  <a:schemeClr val="tx1"/>
                </a:solidFill>
              </a:rPr>
              <a:t>tampered invoices caught</a:t>
            </a:r>
            <a:endParaRPr lang="en-US" sz="1400" dirty="0"/>
          </a:p>
        </p:txBody>
      </p:sp>
      <p:sp>
        <p:nvSpPr>
          <p:cNvPr id="28" name="Stat genuine invoices passed"/>
          <p:cNvSpPr/>
          <p:nvPr/>
        </p:nvSpPr>
        <p:spPr>
          <a:xfrm>
            <a:off x="8942832" y="1600200"/>
            <a:ext cx="2697480" cy="1737360"/>
          </a:xfrm>
          <a:prstGeom prst="roundRect">
            <a:avLst>
              <a:gd name="adj" fmla="val 4211"/>
            </a:avLst>
          </a:prstGeom>
          <a:solidFill>
            <a:schemeClr val="bg2"/>
          </a:solidFill>
          <a:ln/>
        </p:spPr>
      </p:sp>
      <p:sp>
        <p:nvSpPr>
          <p:cNvPr id="29" name="Text 21"/>
          <p:cNvSpPr txBox="1"/>
          <p:nvPr/>
        </p:nvSpPr>
        <p:spPr>
          <a:xfrm>
            <a:off x="9125712" y="1783080"/>
            <a:ext cx="2331720" cy="777240"/>
          </a:xfrm>
          <a:prstGeom prst="rect">
            <a:avLst/>
          </a:prstGeom>
          <a:noFill/>
          <a:ln/>
        </p:spPr>
        <p:txBody>
          <a:bodyPr wrap="square" lIns="0" tIns="0" rIns="0" bIns="0" rtlCol="0" anchor="ctr"/>
          <a:lstStyle/>
          <a:p>
            <a:pPr algn="l" indent="0" marL="0">
              <a:buNone/>
            </a:pPr>
            <a:r>
              <a:rPr lang="en-US" sz="3600" b="1" dirty="0">
                <a:solidFill>
                  <a:schemeClr val="accent1"/>
                </a:solidFill>
                <a:latin typeface="Cambria" pitchFamily="34" charset="0"/>
                <a:ea typeface="Cambria" pitchFamily="34" charset="-122"/>
                <a:cs typeface="Cambria" pitchFamily="34" charset="-120"/>
              </a:rPr>
              <a:t>110 of 110</a:t>
            </a:r>
            <a:endParaRPr lang="en-US" sz="3600" dirty="0"/>
          </a:p>
        </p:txBody>
      </p:sp>
      <p:sp>
        <p:nvSpPr>
          <p:cNvPr id="30" name="Text 22"/>
          <p:cNvSpPr txBox="1"/>
          <p:nvPr/>
        </p:nvSpPr>
        <p:spPr>
          <a:xfrm>
            <a:off x="9125712" y="2606040"/>
            <a:ext cx="2331720" cy="640080"/>
          </a:xfrm>
          <a:prstGeom prst="rect">
            <a:avLst/>
          </a:prstGeom>
          <a:noFill/>
          <a:ln/>
        </p:spPr>
        <p:txBody>
          <a:bodyPr wrap="square" lIns="0" tIns="0" rIns="0" bIns="0" rtlCol="0" anchor="t"/>
          <a:lstStyle/>
          <a:p>
            <a:pPr algn="l" indent="0" marL="0">
              <a:buNone/>
            </a:pPr>
            <a:r>
              <a:rPr lang="en-US" sz="1400" dirty="0">
                <a:solidFill>
                  <a:schemeClr val="tx1"/>
                </a:solidFill>
              </a:rPr>
              <a:t>genuine invoices passed</a:t>
            </a:r>
            <a:endParaRPr lang="en-US" sz="1400" dirty="0"/>
          </a:p>
        </p:txBody>
      </p:sp>
      <p:sp>
        <p:nvSpPr>
          <p:cNvPr id="31" name="Stat re-shot duplicates caught"/>
          <p:cNvSpPr/>
          <p:nvPr/>
        </p:nvSpPr>
        <p:spPr>
          <a:xfrm>
            <a:off x="6035040" y="3566160"/>
            <a:ext cx="2697480" cy="1737360"/>
          </a:xfrm>
          <a:prstGeom prst="roundRect">
            <a:avLst>
              <a:gd name="adj" fmla="val 4211"/>
            </a:avLst>
          </a:prstGeom>
          <a:solidFill>
            <a:schemeClr val="bg2"/>
          </a:solidFill>
          <a:ln/>
        </p:spPr>
      </p:sp>
      <p:sp>
        <p:nvSpPr>
          <p:cNvPr id="32" name="Text 24"/>
          <p:cNvSpPr txBox="1"/>
          <p:nvPr/>
        </p:nvSpPr>
        <p:spPr>
          <a:xfrm>
            <a:off x="6217920" y="3749040"/>
            <a:ext cx="2331720" cy="777240"/>
          </a:xfrm>
          <a:prstGeom prst="rect">
            <a:avLst/>
          </a:prstGeom>
          <a:noFill/>
          <a:ln/>
        </p:spPr>
        <p:txBody>
          <a:bodyPr wrap="square" lIns="0" tIns="0" rIns="0" bIns="0" rtlCol="0" anchor="ctr"/>
          <a:lstStyle/>
          <a:p>
            <a:pPr algn="l" indent="0" marL="0">
              <a:buNone/>
            </a:pPr>
            <a:r>
              <a:rPr lang="en-US" sz="3600" b="1" dirty="0">
                <a:solidFill>
                  <a:schemeClr val="accent2"/>
                </a:solidFill>
                <a:latin typeface="Cambria" pitchFamily="34" charset="0"/>
                <a:ea typeface="Cambria" pitchFamily="34" charset="-122"/>
                <a:cs typeface="Cambria" pitchFamily="34" charset="-120"/>
              </a:rPr>
              <a:t>10 of 10</a:t>
            </a:r>
            <a:endParaRPr lang="en-US" sz="3600" dirty="0"/>
          </a:p>
        </p:txBody>
      </p:sp>
      <p:sp>
        <p:nvSpPr>
          <p:cNvPr id="33" name="Text 25"/>
          <p:cNvSpPr txBox="1"/>
          <p:nvPr/>
        </p:nvSpPr>
        <p:spPr>
          <a:xfrm>
            <a:off x="6217920" y="4572000"/>
            <a:ext cx="2331720" cy="640080"/>
          </a:xfrm>
          <a:prstGeom prst="rect">
            <a:avLst/>
          </a:prstGeom>
          <a:noFill/>
          <a:ln/>
        </p:spPr>
        <p:txBody>
          <a:bodyPr wrap="square" lIns="0" tIns="0" rIns="0" bIns="0" rtlCol="0" anchor="t"/>
          <a:lstStyle/>
          <a:p>
            <a:pPr algn="l" indent="0" marL="0">
              <a:buNone/>
            </a:pPr>
            <a:r>
              <a:rPr lang="en-US" sz="1400" dirty="0">
                <a:solidFill>
                  <a:schemeClr val="tx1"/>
                </a:solidFill>
              </a:rPr>
              <a:t>re-shot duplicates caught</a:t>
            </a:r>
            <a:endParaRPr lang="en-US" sz="1400" dirty="0"/>
          </a:p>
        </p:txBody>
      </p:sp>
      <p:sp>
        <p:nvSpPr>
          <p:cNvPr id="34" name="Stat non-Indian receipts flagged by mistake"/>
          <p:cNvSpPr/>
          <p:nvPr/>
        </p:nvSpPr>
        <p:spPr>
          <a:xfrm>
            <a:off x="8942832" y="3566160"/>
            <a:ext cx="2697480" cy="1737360"/>
          </a:xfrm>
          <a:prstGeom prst="roundRect">
            <a:avLst>
              <a:gd name="adj" fmla="val 4211"/>
            </a:avLst>
          </a:prstGeom>
          <a:solidFill>
            <a:schemeClr val="accent6"/>
          </a:solidFill>
          <a:ln/>
        </p:spPr>
      </p:sp>
      <p:sp>
        <p:nvSpPr>
          <p:cNvPr id="35" name="Text 27"/>
          <p:cNvSpPr txBox="1"/>
          <p:nvPr/>
        </p:nvSpPr>
        <p:spPr>
          <a:xfrm>
            <a:off x="9125712" y="3749040"/>
            <a:ext cx="2331720" cy="77724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3 of 626</a:t>
            </a:r>
            <a:endParaRPr lang="en-US" sz="3600" dirty="0"/>
          </a:p>
        </p:txBody>
      </p:sp>
      <p:sp>
        <p:nvSpPr>
          <p:cNvPr id="36" name="Text 28"/>
          <p:cNvSpPr txBox="1"/>
          <p:nvPr/>
        </p:nvSpPr>
        <p:spPr>
          <a:xfrm>
            <a:off x="9125712" y="4572000"/>
            <a:ext cx="2331720" cy="640080"/>
          </a:xfrm>
          <a:prstGeom prst="rect">
            <a:avLst/>
          </a:prstGeom>
          <a:noFill/>
          <a:ln/>
        </p:spPr>
        <p:txBody>
          <a:bodyPr wrap="square" lIns="0" tIns="0" rIns="0" bIns="0" rtlCol="0" anchor="t"/>
          <a:lstStyle/>
          <a:p>
            <a:pPr algn="l" indent="0" marL="0">
              <a:buNone/>
            </a:pPr>
            <a:r>
              <a:rPr lang="en-US" sz="1400" dirty="0">
                <a:solidFill>
                  <a:schemeClr val="tx1"/>
                </a:solidFill>
              </a:rPr>
              <a:t>non-Indian receipts flagged by mistake</a:t>
            </a:r>
            <a:endParaRPr lang="en-US" sz="1400" dirty="0"/>
          </a:p>
        </p:txBody>
      </p:sp>
      <p:sp>
        <p:nvSpPr>
          <p:cNvPr id="37" name="Takeaway"/>
          <p:cNvSpPr/>
          <p:nvPr/>
        </p:nvSpPr>
        <p:spPr>
          <a:xfrm>
            <a:off x="548640" y="5532120"/>
            <a:ext cx="11091672" cy="640080"/>
          </a:xfrm>
          <a:prstGeom prst="roundRect">
            <a:avLst>
              <a:gd name="adj" fmla="val 11429"/>
            </a:avLst>
          </a:prstGeom>
          <a:solidFill>
            <a:schemeClr val="accent6"/>
          </a:solidFill>
          <a:ln/>
        </p:spPr>
      </p:sp>
      <p:sp>
        <p:nvSpPr>
          <p:cNvPr id="38" name="Text 30"/>
          <p:cNvSpPr txBox="1"/>
          <p:nvPr/>
        </p:nvSpPr>
        <p:spPr>
          <a:xfrm>
            <a:off x="777240" y="5532120"/>
            <a:ext cx="10607040" cy="640080"/>
          </a:xfrm>
          <a:prstGeom prst="rect">
            <a:avLst/>
          </a:prstGeom>
          <a:noFill/>
          <a:ln/>
        </p:spPr>
        <p:txBody>
          <a:bodyPr wrap="square" lIns="0" tIns="0" rIns="0" bIns="0" rtlCol="0" anchor="ctr"/>
          <a:lstStyle/>
          <a:p>
            <a:pPr algn="l" indent="0" marL="0">
              <a:buNone/>
            </a:pPr>
            <a:r>
              <a:rPr lang="en-US" sz="1500" b="1" dirty="0">
                <a:solidFill>
                  <a:schemeClr val="tx1"/>
                </a:solidFill>
              </a:rPr>
              <a:t>One tampered invoice passed: its changed check character matches an OCR repair rule. The invoices are computer-generated.</a:t>
            </a:r>
            <a:endParaRPr lang="en-US" sz="150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68680"/>
          </a:xfrm>
          <a:prstGeom prst="rect">
            <a:avLst/>
          </a:prstGeom>
          <a:noFill/>
          <a:ln/>
        </p:spPr>
        <p:txBody>
          <a:bodyPr wrap="square" lIns="0" tIns="0" rIns="0" bIns="0" rtlCol="0" anchor="ctr"/>
          <a:lstStyle/>
          <a:p>
            <a:pPr algn="l" indent="0" marL="0">
              <a:buNone/>
            </a:pPr>
            <a:r>
              <a:rPr lang="en-US" sz="3400" b="1" dirty="0">
                <a:solidFill>
                  <a:schemeClr val="tx2"/>
                </a:solidFill>
              </a:rPr>
              <a:t>What the 117 imperfect receipts looked like</a:t>
            </a:r>
            <a:endParaRPr lang="en-US" sz="3400" dirty="0"/>
          </a:p>
        </p:txBody>
      </p:sp>
      <p:sp>
        <p:nvSpPr>
          <p:cNvPr id="4" name="Miss Vendor"/>
          <p:cNvSpPr/>
          <p:nvPr/>
        </p:nvSpPr>
        <p:spPr>
          <a:xfrm>
            <a:off x="548640" y="1600200"/>
            <a:ext cx="11091672" cy="658368"/>
          </a:xfrm>
          <a:prstGeom prst="roundRect">
            <a:avLst>
              <a:gd name="adj" fmla="val 11111"/>
            </a:avLst>
          </a:prstGeom>
          <a:solidFill>
            <a:schemeClr val="bg2"/>
          </a:solidFill>
          <a:ln/>
        </p:spPr>
      </p:sp>
      <p:sp>
        <p:nvSpPr>
          <p:cNvPr id="5" name="Text 2"/>
          <p:cNvSpPr txBox="1"/>
          <p:nvPr/>
        </p:nvSpPr>
        <p:spPr>
          <a:xfrm>
            <a:off x="731520" y="1737360"/>
            <a:ext cx="1280160" cy="384048"/>
          </a:xfrm>
          <a:prstGeom prst="roundRect">
            <a:avLst>
              <a:gd name="adj" fmla="val 47619"/>
            </a:avLst>
          </a:prstGeom>
          <a:solidFill>
            <a:schemeClr val="accent6"/>
          </a:solidFill>
          <a:ln/>
        </p:spPr>
        <p:txBody>
          <a:bodyPr wrap="square" lIns="0" tIns="0" rIns="0" bIns="0" rtlCol="0" anchor="ctr"/>
          <a:lstStyle/>
          <a:p>
            <a:pPr algn="ctr" indent="0" marL="0">
              <a:buNone/>
            </a:pPr>
            <a:r>
              <a:rPr lang="en-US" sz="1300" b="1" dirty="0">
                <a:solidFill>
                  <a:schemeClr val="tx1"/>
                </a:solidFill>
              </a:rPr>
              <a:t>Vendor</a:t>
            </a:r>
            <a:endParaRPr lang="en-US" sz="1300" dirty="0"/>
          </a:p>
        </p:txBody>
      </p:sp>
      <p:sp>
        <p:nvSpPr>
          <p:cNvPr id="6" name="Text 3"/>
          <p:cNvSpPr txBox="1"/>
          <p:nvPr/>
        </p:nvSpPr>
        <p:spPr>
          <a:xfrm>
            <a:off x="2240280" y="1600200"/>
            <a:ext cx="9235440" cy="658368"/>
          </a:xfrm>
          <a:prstGeom prst="rect">
            <a:avLst/>
          </a:prstGeom>
          <a:noFill/>
          <a:ln/>
        </p:spPr>
        <p:txBody>
          <a:bodyPr wrap="square" lIns="0" tIns="0" rIns="0" bIns="0" rtlCol="0" anchor="ctr"/>
          <a:lstStyle/>
          <a:p>
            <a:pPr algn="l" indent="0" marL="0">
              <a:buNone/>
            </a:pPr>
            <a:r>
              <a:rPr lang="en-US" sz="1500" dirty="0">
                <a:solidFill>
                  <a:schemeClr val="tx1"/>
                </a:solidFill>
              </a:rPr>
              <a:t>58 wrong: a cashier name, footer line or town read instead of the shop, or part of a long legal name</a:t>
            </a:r>
            <a:endParaRPr lang="en-US" sz="1500" dirty="0"/>
          </a:p>
        </p:txBody>
      </p:sp>
      <p:sp>
        <p:nvSpPr>
          <p:cNvPr id="7" name="Miss Total"/>
          <p:cNvSpPr/>
          <p:nvPr/>
        </p:nvSpPr>
        <p:spPr>
          <a:xfrm>
            <a:off x="548640" y="2377440"/>
            <a:ext cx="11091672" cy="658368"/>
          </a:xfrm>
          <a:prstGeom prst="roundRect">
            <a:avLst>
              <a:gd name="adj" fmla="val 11111"/>
            </a:avLst>
          </a:prstGeom>
          <a:solidFill>
            <a:schemeClr val="bg2"/>
          </a:solidFill>
          <a:ln/>
        </p:spPr>
      </p:sp>
      <p:sp>
        <p:nvSpPr>
          <p:cNvPr id="8" name="Text 5"/>
          <p:cNvSpPr txBox="1"/>
          <p:nvPr/>
        </p:nvSpPr>
        <p:spPr>
          <a:xfrm>
            <a:off x="731520" y="2514600"/>
            <a:ext cx="1280160" cy="384048"/>
          </a:xfrm>
          <a:prstGeom prst="roundRect">
            <a:avLst>
              <a:gd name="adj" fmla="val 47619"/>
            </a:avLst>
          </a:prstGeom>
          <a:solidFill>
            <a:schemeClr val="accent6"/>
          </a:solidFill>
          <a:ln/>
        </p:spPr>
        <p:txBody>
          <a:bodyPr wrap="square" lIns="0" tIns="0" rIns="0" bIns="0" rtlCol="0" anchor="ctr"/>
          <a:lstStyle/>
          <a:p>
            <a:pPr algn="ctr" indent="0" marL="0">
              <a:buNone/>
            </a:pPr>
            <a:r>
              <a:rPr lang="en-US" sz="1300" b="1" dirty="0">
                <a:solidFill>
                  <a:schemeClr val="tx1"/>
                </a:solidFill>
              </a:rPr>
              <a:t>Total</a:t>
            </a:r>
            <a:endParaRPr lang="en-US" sz="1300" dirty="0"/>
          </a:p>
        </p:txBody>
      </p:sp>
      <p:sp>
        <p:nvSpPr>
          <p:cNvPr id="9" name="Text 6"/>
          <p:cNvSpPr txBox="1"/>
          <p:nvPr/>
        </p:nvSpPr>
        <p:spPr>
          <a:xfrm>
            <a:off x="2240280" y="2377440"/>
            <a:ext cx="9235440" cy="658368"/>
          </a:xfrm>
          <a:prstGeom prst="rect">
            <a:avLst/>
          </a:prstGeom>
          <a:noFill/>
          <a:ln/>
        </p:spPr>
        <p:txBody>
          <a:bodyPr wrap="square" lIns="0" tIns="0" rIns="0" bIns="0" rtlCol="0" anchor="ctr"/>
          <a:lstStyle/>
          <a:p>
            <a:pPr algn="l" indent="0" marL="0">
              <a:buNone/>
            </a:pPr>
            <a:r>
              <a:rPr lang="en-US" sz="1500" dirty="0">
                <a:solidFill>
                  <a:schemeClr val="tx1"/>
                </a:solidFill>
              </a:rPr>
              <a:t>65 wrong: 28 flagged for review, 37 not flagged; a total not found or another number taken</a:t>
            </a:r>
            <a:endParaRPr lang="en-US" sz="1500" dirty="0"/>
          </a:p>
        </p:txBody>
      </p:sp>
      <p:sp>
        <p:nvSpPr>
          <p:cNvPr id="10" name="Miss Date"/>
          <p:cNvSpPr/>
          <p:nvPr/>
        </p:nvSpPr>
        <p:spPr>
          <a:xfrm>
            <a:off x="548640" y="3154680"/>
            <a:ext cx="11091672" cy="658368"/>
          </a:xfrm>
          <a:prstGeom prst="roundRect">
            <a:avLst>
              <a:gd name="adj" fmla="val 11111"/>
            </a:avLst>
          </a:prstGeom>
          <a:solidFill>
            <a:schemeClr val="bg2"/>
          </a:solidFill>
          <a:ln/>
        </p:spPr>
      </p:sp>
      <p:sp>
        <p:nvSpPr>
          <p:cNvPr id="11" name="Text 8"/>
          <p:cNvSpPr txBox="1"/>
          <p:nvPr/>
        </p:nvSpPr>
        <p:spPr>
          <a:xfrm>
            <a:off x="731520" y="3291840"/>
            <a:ext cx="1280160" cy="384048"/>
          </a:xfrm>
          <a:prstGeom prst="roundRect">
            <a:avLst>
              <a:gd name="adj" fmla="val 47619"/>
            </a:avLst>
          </a:prstGeom>
          <a:solidFill>
            <a:schemeClr val="accent6"/>
          </a:solidFill>
          <a:ln/>
        </p:spPr>
        <p:txBody>
          <a:bodyPr wrap="square" lIns="0" tIns="0" rIns="0" bIns="0" rtlCol="0" anchor="ctr"/>
          <a:lstStyle/>
          <a:p>
            <a:pPr algn="ctr" indent="0" marL="0">
              <a:buNone/>
            </a:pPr>
            <a:r>
              <a:rPr lang="en-US" sz="1300" b="1" dirty="0">
                <a:solidFill>
                  <a:schemeClr val="tx1"/>
                </a:solidFill>
              </a:rPr>
              <a:t>Date</a:t>
            </a:r>
            <a:endParaRPr lang="en-US" sz="1300" dirty="0"/>
          </a:p>
        </p:txBody>
      </p:sp>
      <p:sp>
        <p:nvSpPr>
          <p:cNvPr id="12" name="Text 9"/>
          <p:cNvSpPr txBox="1"/>
          <p:nvPr/>
        </p:nvSpPr>
        <p:spPr>
          <a:xfrm>
            <a:off x="2240280" y="3154680"/>
            <a:ext cx="9235440" cy="658368"/>
          </a:xfrm>
          <a:prstGeom prst="rect">
            <a:avLst/>
          </a:prstGeom>
          <a:noFill/>
          <a:ln/>
        </p:spPr>
        <p:txBody>
          <a:bodyPr wrap="square" lIns="0" tIns="0" rIns="0" bIns="0" rtlCol="0" anchor="ctr"/>
          <a:lstStyle/>
          <a:p>
            <a:pPr algn="l" indent="0" marL="0">
              <a:buNone/>
            </a:pPr>
            <a:r>
              <a:rPr lang="en-US" sz="1500" dirty="0">
                <a:solidFill>
                  <a:schemeClr val="tx1"/>
                </a:solidFill>
              </a:rPr>
              <a:t>9 wrong: no date found, or a digit misread (2012 for 2017)</a:t>
            </a:r>
            <a:endParaRPr lang="en-US" sz="1500" dirty="0"/>
          </a:p>
        </p:txBody>
      </p:sp>
      <p:sp>
        <p:nvSpPr>
          <p:cNvPr id="13" name="Stat flagged / not flagged, of the 117"/>
          <p:cNvSpPr/>
          <p:nvPr/>
        </p:nvSpPr>
        <p:spPr>
          <a:xfrm>
            <a:off x="548640" y="4023360"/>
            <a:ext cx="3520440" cy="1371600"/>
          </a:xfrm>
          <a:prstGeom prst="roundRect">
            <a:avLst>
              <a:gd name="adj" fmla="val 5333"/>
            </a:avLst>
          </a:prstGeom>
          <a:solidFill>
            <a:schemeClr val="accent6"/>
          </a:solidFill>
          <a:ln/>
        </p:spPr>
      </p:sp>
      <p:sp>
        <p:nvSpPr>
          <p:cNvPr id="14" name="Text 11"/>
          <p:cNvSpPr txBox="1"/>
          <p:nvPr/>
        </p:nvSpPr>
        <p:spPr>
          <a:xfrm>
            <a:off x="731520" y="4206240"/>
            <a:ext cx="3154680" cy="77724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33 / 84</a:t>
            </a:r>
            <a:endParaRPr lang="en-US" sz="3600" dirty="0"/>
          </a:p>
        </p:txBody>
      </p:sp>
      <p:sp>
        <p:nvSpPr>
          <p:cNvPr id="15" name="Text 12"/>
          <p:cNvSpPr txBox="1"/>
          <p:nvPr/>
        </p:nvSpPr>
        <p:spPr>
          <a:xfrm>
            <a:off x="731520" y="5029200"/>
            <a:ext cx="3154680" cy="640080"/>
          </a:xfrm>
          <a:prstGeom prst="rect">
            <a:avLst/>
          </a:prstGeom>
          <a:noFill/>
          <a:ln/>
        </p:spPr>
        <p:txBody>
          <a:bodyPr wrap="square" lIns="0" tIns="0" rIns="0" bIns="0" rtlCol="0" anchor="t"/>
          <a:lstStyle/>
          <a:p>
            <a:pPr algn="l" indent="0" marL="0">
              <a:buNone/>
            </a:pPr>
            <a:r>
              <a:rPr lang="en-US" sz="1400" dirty="0">
                <a:solidFill>
                  <a:schemeClr val="tx1"/>
                </a:solidFill>
              </a:rPr>
              <a:t>flagged / not flagged, of the 117</a:t>
            </a:r>
            <a:endParaRPr lang="en-US" sz="1400" dirty="0"/>
          </a:p>
        </p:txBody>
      </p:sp>
      <p:sp>
        <p:nvSpPr>
          <p:cNvPr id="16" name="Stat median time to read a receipt, 40 at once"/>
          <p:cNvSpPr/>
          <p:nvPr/>
        </p:nvSpPr>
        <p:spPr>
          <a:xfrm>
            <a:off x="4334256" y="4023360"/>
            <a:ext cx="3520440" cy="1371600"/>
          </a:xfrm>
          <a:prstGeom prst="roundRect">
            <a:avLst>
              <a:gd name="adj" fmla="val 5333"/>
            </a:avLst>
          </a:prstGeom>
          <a:solidFill>
            <a:schemeClr val="bg2"/>
          </a:solidFill>
          <a:ln/>
        </p:spPr>
      </p:sp>
      <p:sp>
        <p:nvSpPr>
          <p:cNvPr id="17" name="Text 14"/>
          <p:cNvSpPr txBox="1"/>
          <p:nvPr/>
        </p:nvSpPr>
        <p:spPr>
          <a:xfrm>
            <a:off x="4517136" y="4206240"/>
            <a:ext cx="3154680" cy="777240"/>
          </a:xfrm>
          <a:prstGeom prst="rect">
            <a:avLst/>
          </a:prstGeom>
          <a:noFill/>
          <a:ln/>
        </p:spPr>
        <p:txBody>
          <a:bodyPr wrap="square" lIns="0" tIns="0" rIns="0" bIns="0" rtlCol="0" anchor="ctr"/>
          <a:lstStyle/>
          <a:p>
            <a:pPr algn="l" indent="0" marL="0">
              <a:buNone/>
            </a:pPr>
            <a:r>
              <a:rPr lang="en-US" sz="3600" b="1" dirty="0">
                <a:solidFill>
                  <a:schemeClr val="accent1"/>
                </a:solidFill>
                <a:latin typeface="Cambria" pitchFamily="34" charset="0"/>
                <a:ea typeface="Cambria" pitchFamily="34" charset="-122"/>
                <a:cs typeface="Cambria" pitchFamily="34" charset="-120"/>
              </a:rPr>
              <a:t>2.7 s</a:t>
            </a:r>
            <a:endParaRPr lang="en-US" sz="3600" dirty="0"/>
          </a:p>
        </p:txBody>
      </p:sp>
      <p:sp>
        <p:nvSpPr>
          <p:cNvPr id="18" name="Text 15"/>
          <p:cNvSpPr txBox="1"/>
          <p:nvPr/>
        </p:nvSpPr>
        <p:spPr>
          <a:xfrm>
            <a:off x="4517136" y="5029200"/>
            <a:ext cx="3154680" cy="640080"/>
          </a:xfrm>
          <a:prstGeom prst="rect">
            <a:avLst/>
          </a:prstGeom>
          <a:noFill/>
          <a:ln/>
        </p:spPr>
        <p:txBody>
          <a:bodyPr wrap="square" lIns="0" tIns="0" rIns="0" bIns="0" rtlCol="0" anchor="t"/>
          <a:lstStyle/>
          <a:p>
            <a:pPr algn="l" indent="0" marL="0">
              <a:buNone/>
            </a:pPr>
            <a:r>
              <a:rPr lang="en-US" sz="1400" dirty="0">
                <a:solidFill>
                  <a:schemeClr val="tx1"/>
                </a:solidFill>
              </a:rPr>
              <a:t>median time to read a receipt, 40 at once</a:t>
            </a:r>
            <a:endParaRPr lang="en-US" sz="1400" dirty="0"/>
          </a:p>
        </p:txBody>
      </p:sp>
      <p:sp>
        <p:nvSpPr>
          <p:cNvPr id="19" name="Stat slowest read; the Lambda limit is 30 s"/>
          <p:cNvSpPr/>
          <p:nvPr/>
        </p:nvSpPr>
        <p:spPr>
          <a:xfrm>
            <a:off x="8119872" y="4023360"/>
            <a:ext cx="3520440" cy="1371600"/>
          </a:xfrm>
          <a:prstGeom prst="roundRect">
            <a:avLst>
              <a:gd name="adj" fmla="val 5333"/>
            </a:avLst>
          </a:prstGeom>
          <a:solidFill>
            <a:schemeClr val="bg2"/>
          </a:solidFill>
          <a:ln/>
        </p:spPr>
      </p:sp>
      <p:sp>
        <p:nvSpPr>
          <p:cNvPr id="20" name="Text 17"/>
          <p:cNvSpPr txBox="1"/>
          <p:nvPr/>
        </p:nvSpPr>
        <p:spPr>
          <a:xfrm>
            <a:off x="8302752" y="4206240"/>
            <a:ext cx="3154680" cy="777240"/>
          </a:xfrm>
          <a:prstGeom prst="rect">
            <a:avLst/>
          </a:prstGeom>
          <a:noFill/>
          <a:ln/>
        </p:spPr>
        <p:txBody>
          <a:bodyPr wrap="square" lIns="0" tIns="0" rIns="0" bIns="0" rtlCol="0" anchor="ctr"/>
          <a:lstStyle/>
          <a:p>
            <a:pPr algn="l" indent="0" marL="0">
              <a:buNone/>
            </a:pPr>
            <a:r>
              <a:rPr lang="en-US" sz="3600" b="1" dirty="0">
                <a:solidFill>
                  <a:schemeClr val="accent2"/>
                </a:solidFill>
                <a:latin typeface="Cambria" pitchFamily="34" charset="0"/>
                <a:ea typeface="Cambria" pitchFamily="34" charset="-122"/>
                <a:cs typeface="Cambria" pitchFamily="34" charset="-120"/>
              </a:rPr>
              <a:t>25.2 s</a:t>
            </a:r>
            <a:endParaRPr lang="en-US" sz="3600" dirty="0"/>
          </a:p>
        </p:txBody>
      </p:sp>
      <p:sp>
        <p:nvSpPr>
          <p:cNvPr id="21" name="Text 18"/>
          <p:cNvSpPr txBox="1"/>
          <p:nvPr/>
        </p:nvSpPr>
        <p:spPr>
          <a:xfrm>
            <a:off x="8302752" y="5029200"/>
            <a:ext cx="3154680" cy="640080"/>
          </a:xfrm>
          <a:prstGeom prst="rect">
            <a:avLst/>
          </a:prstGeom>
          <a:noFill/>
          <a:ln/>
        </p:spPr>
        <p:txBody>
          <a:bodyPr wrap="square" lIns="0" tIns="0" rIns="0" bIns="0" rtlCol="0" anchor="t"/>
          <a:lstStyle/>
          <a:p>
            <a:pPr algn="l" indent="0" marL="0">
              <a:buNone/>
            </a:pPr>
            <a:r>
              <a:rPr lang="en-US" sz="1400" dirty="0">
                <a:solidFill>
                  <a:schemeClr val="tx1"/>
                </a:solidFill>
              </a:rPr>
              <a:t>slowest read; the Lambda limit is 30 s</a:t>
            </a:r>
            <a:endParaRPr lang="en-US" sz="1400" dirty="0"/>
          </a:p>
        </p:txBody>
      </p:sp>
      <p:sp>
        <p:nvSpPr>
          <p:cNvPr id="22" name="Takeaway"/>
          <p:cNvSpPr/>
          <p:nvPr/>
        </p:nvSpPr>
        <p:spPr>
          <a:xfrm>
            <a:off x="548640" y="5532120"/>
            <a:ext cx="11091672" cy="640080"/>
          </a:xfrm>
          <a:prstGeom prst="roundRect">
            <a:avLst>
              <a:gd name="adj" fmla="val 11429"/>
            </a:avLst>
          </a:prstGeom>
          <a:solidFill>
            <a:schemeClr val="accent6"/>
          </a:solidFill>
          <a:ln/>
        </p:spPr>
      </p:sp>
      <p:sp>
        <p:nvSpPr>
          <p:cNvPr id="23" name="Text 20"/>
          <p:cNvSpPr txBox="1"/>
          <p:nvPr/>
        </p:nvSpPr>
        <p:spPr>
          <a:xfrm>
            <a:off x="777240" y="5532120"/>
            <a:ext cx="10607040" cy="640080"/>
          </a:xfrm>
          <a:prstGeom prst="rect">
            <a:avLst/>
          </a:prstGeom>
          <a:noFill/>
          <a:ln/>
        </p:spPr>
        <p:txBody>
          <a:bodyPr wrap="square" lIns="0" tIns="0" rIns="0" bIns="0" rtlCol="0" anchor="ctr"/>
          <a:lstStyle/>
          <a:p>
            <a:pPr algn="l" indent="0" marL="0">
              <a:buNone/>
            </a:pPr>
            <a:r>
              <a:rPr lang="en-US" sz="1500" b="1" dirty="0">
                <a:solidFill>
                  <a:schemeClr val="tx1"/>
                </a:solidFill>
              </a:rPr>
              <a:t>Some misses come from the dataset's answer key, and heavy bursts slow OCR but nothing failed to save.</a:t>
            </a:r>
            <a:endParaRPr lang="en-US" sz="150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68680"/>
          </a:xfrm>
          <a:prstGeom prst="rect">
            <a:avLst/>
          </a:prstGeom>
          <a:noFill/>
          <a:ln/>
        </p:spPr>
        <p:txBody>
          <a:bodyPr wrap="square" lIns="0" tIns="0" rIns="0" bIns="0" rtlCol="0" anchor="ctr"/>
          <a:lstStyle/>
          <a:p>
            <a:pPr algn="l" indent="0" marL="0">
              <a:buNone/>
            </a:pPr>
            <a:r>
              <a:rPr lang="en-US" sz="3400" b="1" dirty="0">
                <a:solidFill>
                  <a:schemeClr val="tx2"/>
                </a:solidFill>
              </a:rPr>
              <a:t>A tempting optimisation turned out to be 3.8x slower</a:t>
            </a:r>
            <a:endParaRPr lang="en-US" sz="3400" dirty="0"/>
          </a:p>
        </p:txBody>
      </p:sp>
      <p:graphicFrame>
        <p:nvGraphicFramePr>
          <p:cNvPr id="4" name="Chart 0" descr=""/>
          <p:cNvGraphicFramePr/>
          <p:nvPr/>
        </p:nvGraphicFramePr>
        <p:xfrm>
          <a:off x="548640" y="1508760"/>
          <a:ext cx="6949440" cy="3931920"/>
        </p:xfrm>
        <a:graphic xmlns:a="http://schemas.openxmlformats.org/drawingml/2006/main">
          <a:graphicData uri="http://schemas.openxmlformats.org/drawingml/2006/chart">
            <c:chart xmlns:c="http://schemas.openxmlformats.org/drawingml/2006/chart" r:id="rId1"/>
          </a:graphicData>
        </a:graphic>
      </p:graphicFrame>
      <p:sp>
        <p:nvSpPr>
          <p:cNvPr id="5" name="Stat first PDF, lazy loading vs load at start-up"/>
          <p:cNvSpPr/>
          <p:nvPr/>
        </p:nvSpPr>
        <p:spPr>
          <a:xfrm>
            <a:off x="7863840" y="1600200"/>
            <a:ext cx="3776472" cy="1737360"/>
          </a:xfrm>
          <a:prstGeom prst="roundRect">
            <a:avLst>
              <a:gd name="adj" fmla="val 4211"/>
            </a:avLst>
          </a:prstGeom>
          <a:solidFill>
            <a:schemeClr val="accent6"/>
          </a:solidFill>
          <a:ln/>
        </p:spPr>
      </p:sp>
      <p:sp>
        <p:nvSpPr>
          <p:cNvPr id="6" name="Text 2"/>
          <p:cNvSpPr txBox="1"/>
          <p:nvPr/>
        </p:nvSpPr>
        <p:spPr>
          <a:xfrm>
            <a:off x="8046720" y="1783080"/>
            <a:ext cx="3410712" cy="77724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4.16 s vs 1.10 s</a:t>
            </a:r>
            <a:endParaRPr lang="en-US" sz="3600" dirty="0"/>
          </a:p>
        </p:txBody>
      </p:sp>
      <p:sp>
        <p:nvSpPr>
          <p:cNvPr id="7" name="Text 3"/>
          <p:cNvSpPr txBox="1"/>
          <p:nvPr/>
        </p:nvSpPr>
        <p:spPr>
          <a:xfrm>
            <a:off x="8046720" y="2606040"/>
            <a:ext cx="3410712" cy="640080"/>
          </a:xfrm>
          <a:prstGeom prst="rect">
            <a:avLst/>
          </a:prstGeom>
          <a:noFill/>
          <a:ln/>
        </p:spPr>
        <p:txBody>
          <a:bodyPr wrap="square" lIns="0" tIns="0" rIns="0" bIns="0" rtlCol="0" anchor="t"/>
          <a:lstStyle/>
          <a:p>
            <a:pPr algn="l" indent="0" marL="0">
              <a:buNone/>
            </a:pPr>
            <a:r>
              <a:rPr lang="en-US" sz="1400" dirty="0">
                <a:solidFill>
                  <a:schemeClr val="tx1"/>
                </a:solidFill>
              </a:rPr>
              <a:t>first PDF, lazy loading vs load at start-up</a:t>
            </a:r>
            <a:endParaRPr lang="en-US" sz="1400" dirty="0"/>
          </a:p>
        </p:txBody>
      </p:sp>
      <p:sp>
        <p:nvSpPr>
          <p:cNvPr id="8" name="Text 4"/>
          <p:cNvSpPr txBox="1"/>
          <p:nvPr/>
        </p:nvSpPr>
        <p:spPr>
          <a:xfrm>
            <a:off x="7863840" y="3611880"/>
            <a:ext cx="3776472" cy="1737360"/>
          </a:xfrm>
          <a:prstGeom prst="rect">
            <a:avLst/>
          </a:prstGeom>
          <a:noFill/>
          <a:ln/>
        </p:spPr>
        <p:txBody>
          <a:bodyPr wrap="square" lIns="0" tIns="0" rIns="0" bIns="0" rtlCol="0" anchor="t"/>
          <a:lstStyle/>
          <a:p>
            <a:pPr algn="l" indent="0" marL="0">
              <a:buNone/>
            </a:pPr>
            <a:r>
              <a:rPr lang="en-US" sz="1500" dirty="0">
                <a:solidFill>
                  <a:schemeClr val="tx1"/>
                </a:solidFill>
              </a:rPr>
              <a:t>Why: the start-up phase gets more CPU than a 256 MB request does, so loading libraries there is faster.</a:t>
            </a:r>
            <a:endParaRPr lang="en-US" sz="1500" dirty="0"/>
          </a:p>
        </p:txBody>
      </p:sp>
      <p:sp>
        <p:nvSpPr>
          <p:cNvPr id="9" name="Takeaway"/>
          <p:cNvSpPr/>
          <p:nvPr/>
        </p:nvSpPr>
        <p:spPr>
          <a:xfrm>
            <a:off x="548640" y="5532120"/>
            <a:ext cx="11091672" cy="640080"/>
          </a:xfrm>
          <a:prstGeom prst="roundRect">
            <a:avLst>
              <a:gd name="adj" fmla="val 11429"/>
            </a:avLst>
          </a:prstGeom>
          <a:solidFill>
            <a:schemeClr val="accent6"/>
          </a:solidFill>
          <a:ln/>
        </p:spPr>
      </p:sp>
      <p:sp>
        <p:nvSpPr>
          <p:cNvPr id="10" name="Text 6"/>
          <p:cNvSpPr txBox="1"/>
          <p:nvPr/>
        </p:nvSpPr>
        <p:spPr>
          <a:xfrm>
            <a:off x="777240" y="5532120"/>
            <a:ext cx="10607040" cy="640080"/>
          </a:xfrm>
          <a:prstGeom prst="rect">
            <a:avLst/>
          </a:prstGeom>
          <a:noFill/>
          <a:ln/>
        </p:spPr>
        <p:txBody>
          <a:bodyPr wrap="square" lIns="0" tIns="0" rIns="0" bIns="0" rtlCol="0" anchor="ctr"/>
          <a:lstStyle/>
          <a:p>
            <a:pPr algn="l" indent="0" marL="0">
              <a:buNone/>
            </a:pPr>
            <a:r>
              <a:rPr lang="en-US" sz="1500" b="1" dirty="0">
                <a:solidFill>
                  <a:schemeClr val="tx1"/>
                </a:solidFill>
              </a:rPr>
              <a:t>We reverted the change and kept the faster default.</a:t>
            </a:r>
            <a:endParaRPr lang="en-US" sz="150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68680"/>
          </a:xfrm>
          <a:prstGeom prst="rect">
            <a:avLst/>
          </a:prstGeom>
          <a:noFill/>
          <a:ln/>
        </p:spPr>
        <p:txBody>
          <a:bodyPr wrap="square" lIns="0" tIns="0" rIns="0" bIns="0" rtlCol="0" anchor="ctr"/>
          <a:lstStyle/>
          <a:p>
            <a:pPr algn="l" indent="0" marL="0">
              <a:buNone/>
            </a:pPr>
            <a:r>
              <a:rPr lang="en-US" sz="3400" b="1" dirty="0">
                <a:solidFill>
                  <a:schemeClr val="tx2"/>
                </a:solidFill>
              </a:rPr>
              <a:t>Smallest memory is not cheapest: 256 MB on ARM wins</a:t>
            </a:r>
            <a:endParaRPr lang="en-US" sz="3400" dirty="0"/>
          </a:p>
        </p:txBody>
      </p:sp>
      <p:graphicFrame>
        <p:nvGraphicFramePr>
          <p:cNvPr id="4" name="Chart 0" descr=""/>
          <p:cNvGraphicFramePr/>
          <p:nvPr/>
        </p:nvGraphicFramePr>
        <p:xfrm>
          <a:off x="548640" y="1508760"/>
          <a:ext cx="6949440" cy="3931920"/>
        </p:xfrm>
        <a:graphic xmlns:a="http://schemas.openxmlformats.org/drawingml/2006/main">
          <a:graphicData uri="http://schemas.openxmlformats.org/drawingml/2006/chart">
            <c:chart xmlns:c="http://schemas.openxmlformats.org/drawingml/2006/chart" r:id="rId1"/>
          </a:graphicData>
        </a:graphic>
      </p:graphicFrame>
      <p:sp>
        <p:nvSpPr>
          <p:cNvPr id="5" name="Stat Lambda compute per million receipts, ARM at 256 MB"/>
          <p:cNvSpPr/>
          <p:nvPr/>
        </p:nvSpPr>
        <p:spPr>
          <a:xfrm>
            <a:off x="7863840" y="1600200"/>
            <a:ext cx="3776472" cy="1737360"/>
          </a:xfrm>
          <a:prstGeom prst="roundRect">
            <a:avLst>
              <a:gd name="adj" fmla="val 4211"/>
            </a:avLst>
          </a:prstGeom>
          <a:solidFill>
            <a:schemeClr val="accent6"/>
          </a:solidFill>
          <a:ln/>
        </p:spPr>
      </p:sp>
      <p:sp>
        <p:nvSpPr>
          <p:cNvPr id="6" name="Text 2"/>
          <p:cNvSpPr txBox="1"/>
          <p:nvPr/>
        </p:nvSpPr>
        <p:spPr>
          <a:xfrm>
            <a:off x="8046720" y="1783080"/>
            <a:ext cx="3410712" cy="77724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$0.88</a:t>
            </a:r>
            <a:endParaRPr lang="en-US" sz="3600" dirty="0"/>
          </a:p>
        </p:txBody>
      </p:sp>
      <p:sp>
        <p:nvSpPr>
          <p:cNvPr id="7" name="Text 3"/>
          <p:cNvSpPr txBox="1"/>
          <p:nvPr/>
        </p:nvSpPr>
        <p:spPr>
          <a:xfrm>
            <a:off x="8046720" y="2606040"/>
            <a:ext cx="3410712" cy="640080"/>
          </a:xfrm>
          <a:prstGeom prst="rect">
            <a:avLst/>
          </a:prstGeom>
          <a:noFill/>
          <a:ln/>
        </p:spPr>
        <p:txBody>
          <a:bodyPr wrap="square" lIns="0" tIns="0" rIns="0" bIns="0" rtlCol="0" anchor="t"/>
          <a:lstStyle/>
          <a:p>
            <a:pPr algn="l" indent="0" marL="0">
              <a:buNone/>
            </a:pPr>
            <a:r>
              <a:rPr lang="en-US" sz="1400" dirty="0">
                <a:solidFill>
                  <a:schemeClr val="tx1"/>
                </a:solidFill>
              </a:rPr>
              <a:t>Lambda compute per million receipts, ARM at 256 MB</a:t>
            </a:r>
            <a:endParaRPr lang="en-US" sz="1400" dirty="0"/>
          </a:p>
        </p:txBody>
      </p:sp>
      <p:sp>
        <p:nvSpPr>
          <p:cNvPr id="8" name="Stat cheaper than Intel at the same memory"/>
          <p:cNvSpPr/>
          <p:nvPr/>
        </p:nvSpPr>
        <p:spPr>
          <a:xfrm>
            <a:off x="7863840" y="3520440"/>
            <a:ext cx="3776472" cy="1737360"/>
          </a:xfrm>
          <a:prstGeom prst="roundRect">
            <a:avLst>
              <a:gd name="adj" fmla="val 4211"/>
            </a:avLst>
          </a:prstGeom>
          <a:solidFill>
            <a:schemeClr val="bg2"/>
          </a:solidFill>
          <a:ln/>
        </p:spPr>
      </p:sp>
      <p:sp>
        <p:nvSpPr>
          <p:cNvPr id="9" name="Text 5"/>
          <p:cNvSpPr txBox="1"/>
          <p:nvPr/>
        </p:nvSpPr>
        <p:spPr>
          <a:xfrm>
            <a:off x="8046720" y="3703320"/>
            <a:ext cx="3410712" cy="777240"/>
          </a:xfrm>
          <a:prstGeom prst="rect">
            <a:avLst/>
          </a:prstGeom>
          <a:noFill/>
          <a:ln/>
        </p:spPr>
        <p:txBody>
          <a:bodyPr wrap="square" lIns="0" tIns="0" rIns="0" bIns="0" rtlCol="0" anchor="ctr"/>
          <a:lstStyle/>
          <a:p>
            <a:pPr algn="l" indent="0" marL="0">
              <a:buNone/>
            </a:pPr>
            <a:r>
              <a:rPr lang="en-US" sz="3600" b="1" dirty="0">
                <a:solidFill>
                  <a:schemeClr val="accent1"/>
                </a:solidFill>
                <a:latin typeface="Cambria" pitchFamily="34" charset="0"/>
                <a:ea typeface="Cambria" pitchFamily="34" charset="-122"/>
                <a:cs typeface="Cambria" pitchFamily="34" charset="-120"/>
              </a:rPr>
              <a:t>14%</a:t>
            </a:r>
            <a:endParaRPr lang="en-US" sz="3600" dirty="0"/>
          </a:p>
        </p:txBody>
      </p:sp>
      <p:sp>
        <p:nvSpPr>
          <p:cNvPr id="10" name="Text 6"/>
          <p:cNvSpPr txBox="1"/>
          <p:nvPr/>
        </p:nvSpPr>
        <p:spPr>
          <a:xfrm>
            <a:off x="8046720" y="4526280"/>
            <a:ext cx="3410712" cy="640080"/>
          </a:xfrm>
          <a:prstGeom prst="rect">
            <a:avLst/>
          </a:prstGeom>
          <a:noFill/>
          <a:ln/>
        </p:spPr>
        <p:txBody>
          <a:bodyPr wrap="square" lIns="0" tIns="0" rIns="0" bIns="0" rtlCol="0" anchor="t"/>
          <a:lstStyle/>
          <a:p>
            <a:pPr algn="l" indent="0" marL="0">
              <a:buNone/>
            </a:pPr>
            <a:r>
              <a:rPr lang="en-US" sz="1400" dirty="0">
                <a:solidFill>
                  <a:schemeClr val="tx1"/>
                </a:solidFill>
              </a:rPr>
              <a:t>cheaper than Intel at the same memory</a:t>
            </a:r>
            <a:endParaRPr lang="en-US" sz="1400" dirty="0"/>
          </a:p>
        </p:txBody>
      </p:sp>
      <p:sp>
        <p:nvSpPr>
          <p:cNvPr id="11" name="Takeaway"/>
          <p:cNvSpPr/>
          <p:nvPr/>
        </p:nvSpPr>
        <p:spPr>
          <a:xfrm>
            <a:off x="548640" y="5532120"/>
            <a:ext cx="11091672" cy="640080"/>
          </a:xfrm>
          <a:prstGeom prst="roundRect">
            <a:avLst>
              <a:gd name="adj" fmla="val 11429"/>
            </a:avLst>
          </a:prstGeom>
          <a:solidFill>
            <a:schemeClr val="accent6"/>
          </a:solidFill>
          <a:ln/>
        </p:spPr>
      </p:sp>
      <p:sp>
        <p:nvSpPr>
          <p:cNvPr id="12" name="Text 8"/>
          <p:cNvSpPr txBox="1"/>
          <p:nvPr/>
        </p:nvSpPr>
        <p:spPr>
          <a:xfrm>
            <a:off x="777240" y="5532120"/>
            <a:ext cx="10607040" cy="640080"/>
          </a:xfrm>
          <a:prstGeom prst="rect">
            <a:avLst/>
          </a:prstGeom>
          <a:noFill/>
          <a:ln/>
        </p:spPr>
        <p:txBody>
          <a:bodyPr wrap="square" lIns="0" tIns="0" rIns="0" bIns="0" rtlCol="0" anchor="ctr"/>
          <a:lstStyle/>
          <a:p>
            <a:pPr algn="l" indent="0" marL="0">
              <a:buNone/>
            </a:pPr>
            <a:r>
              <a:rPr lang="en-US" sz="1500" b="1" dirty="0">
                <a:solidFill>
                  <a:schemeClr val="tx1"/>
                </a:solidFill>
              </a:rPr>
              <a:t>Above 1024 MB the function is no faster, so extra memory only adds cost.</a:t>
            </a:r>
            <a:endParaRPr lang="en-US" sz="150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68680"/>
          </a:xfrm>
          <a:prstGeom prst="rect">
            <a:avLst/>
          </a:prstGeom>
          <a:noFill/>
          <a:ln/>
        </p:spPr>
        <p:txBody>
          <a:bodyPr wrap="square" lIns="0" tIns="0" rIns="0" bIns="0" rtlCol="0" anchor="ctr"/>
          <a:lstStyle/>
          <a:p>
            <a:pPr algn="l" indent="0" marL="0">
              <a:buNone/>
            </a:pPr>
            <a:r>
              <a:rPr lang="en-US" sz="3400" b="1" dirty="0">
                <a:solidFill>
                  <a:schemeClr val="tx2"/>
                </a:solidFill>
              </a:rPr>
              <a:t>Lambda answers in about 1 second without any tuning</a:t>
            </a:r>
            <a:endParaRPr lang="en-US" sz="3400" dirty="0"/>
          </a:p>
        </p:txBody>
      </p:sp>
      <p:graphicFrame>
        <p:nvGraphicFramePr>
          <p:cNvPr id="4" name="Chart 0" descr=""/>
          <p:cNvGraphicFramePr/>
          <p:nvPr/>
        </p:nvGraphicFramePr>
        <p:xfrm>
          <a:off x="548640" y="1508760"/>
          <a:ext cx="6949440" cy="3931920"/>
        </p:xfrm>
        <a:graphic xmlns:a="http://schemas.openxmlformats.org/drawingml/2006/main">
          <a:graphicData uri="http://schemas.openxmlformats.org/drawingml/2006/chart">
            <c:chart xmlns:c="http://schemas.openxmlformats.org/drawingml/2006/chart" r:id="rId1"/>
          </a:graphicData>
        </a:graphic>
      </p:graphicFrame>
      <p:sp>
        <p:nvSpPr>
          <p:cNvPr id="5" name="Stat Lambda monthly cost when no receipts arrive"/>
          <p:cNvSpPr/>
          <p:nvPr/>
        </p:nvSpPr>
        <p:spPr>
          <a:xfrm>
            <a:off x="7863840" y="1600200"/>
            <a:ext cx="3776472" cy="1737360"/>
          </a:xfrm>
          <a:prstGeom prst="roundRect">
            <a:avLst>
              <a:gd name="adj" fmla="val 4211"/>
            </a:avLst>
          </a:prstGeom>
          <a:solidFill>
            <a:schemeClr val="bg2"/>
          </a:solidFill>
          <a:ln/>
        </p:spPr>
      </p:sp>
      <p:sp>
        <p:nvSpPr>
          <p:cNvPr id="6" name="Text 2"/>
          <p:cNvSpPr txBox="1"/>
          <p:nvPr/>
        </p:nvSpPr>
        <p:spPr>
          <a:xfrm>
            <a:off x="8046720" y="1783080"/>
            <a:ext cx="3410712" cy="777240"/>
          </a:xfrm>
          <a:prstGeom prst="rect">
            <a:avLst/>
          </a:prstGeom>
          <a:noFill/>
          <a:ln/>
        </p:spPr>
        <p:txBody>
          <a:bodyPr wrap="square" lIns="0" tIns="0" rIns="0" bIns="0" rtlCol="0" anchor="ctr"/>
          <a:lstStyle/>
          <a:p>
            <a:pPr algn="l" indent="0" marL="0">
              <a:buNone/>
            </a:pPr>
            <a:r>
              <a:rPr lang="en-US" sz="3600" b="1" dirty="0">
                <a:solidFill>
                  <a:schemeClr val="accent1"/>
                </a:solidFill>
                <a:latin typeface="Cambria" pitchFamily="34" charset="0"/>
                <a:ea typeface="Cambria" pitchFamily="34" charset="-122"/>
                <a:cs typeface="Cambria" pitchFamily="34" charset="-120"/>
              </a:rPr>
              <a:t>$0 idle</a:t>
            </a:r>
            <a:endParaRPr lang="en-US" sz="3600" dirty="0"/>
          </a:p>
        </p:txBody>
      </p:sp>
      <p:sp>
        <p:nvSpPr>
          <p:cNvPr id="7" name="Text 3"/>
          <p:cNvSpPr txBox="1"/>
          <p:nvPr/>
        </p:nvSpPr>
        <p:spPr>
          <a:xfrm>
            <a:off x="8046720" y="2606040"/>
            <a:ext cx="3410712" cy="640080"/>
          </a:xfrm>
          <a:prstGeom prst="rect">
            <a:avLst/>
          </a:prstGeom>
          <a:noFill/>
          <a:ln/>
        </p:spPr>
        <p:txBody>
          <a:bodyPr wrap="square" lIns="0" tIns="0" rIns="0" bIns="0" rtlCol="0" anchor="t"/>
          <a:lstStyle/>
          <a:p>
            <a:pPr algn="l" indent="0" marL="0">
              <a:buNone/>
            </a:pPr>
            <a:r>
              <a:rPr lang="en-US" sz="1400" dirty="0">
                <a:solidFill>
                  <a:schemeClr val="tx1"/>
                </a:solidFill>
              </a:rPr>
              <a:t>Lambda monthly cost when no receipts arrive</a:t>
            </a:r>
            <a:endParaRPr lang="en-US" sz="1400" dirty="0"/>
          </a:p>
        </p:txBody>
      </p:sp>
      <p:sp>
        <p:nvSpPr>
          <p:cNvPr id="8" name="Stat EC2 per month at a 2 s check, to match Lambda's speed ($15.37 at 10 s)"/>
          <p:cNvSpPr/>
          <p:nvPr/>
        </p:nvSpPr>
        <p:spPr>
          <a:xfrm>
            <a:off x="7863840" y="3520440"/>
            <a:ext cx="3776472" cy="1737360"/>
          </a:xfrm>
          <a:prstGeom prst="roundRect">
            <a:avLst>
              <a:gd name="adj" fmla="val 4211"/>
            </a:avLst>
          </a:prstGeom>
          <a:solidFill>
            <a:schemeClr val="accent6"/>
          </a:solidFill>
          <a:ln/>
        </p:spPr>
      </p:sp>
      <p:sp>
        <p:nvSpPr>
          <p:cNvPr id="9" name="Text 5"/>
          <p:cNvSpPr txBox="1"/>
          <p:nvPr/>
        </p:nvSpPr>
        <p:spPr>
          <a:xfrm>
            <a:off x="8046720" y="3703320"/>
            <a:ext cx="3410712" cy="77724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$20.62</a:t>
            </a:r>
            <a:endParaRPr lang="en-US" sz="3600" dirty="0"/>
          </a:p>
        </p:txBody>
      </p:sp>
      <p:sp>
        <p:nvSpPr>
          <p:cNvPr id="10" name="Text 6"/>
          <p:cNvSpPr txBox="1"/>
          <p:nvPr/>
        </p:nvSpPr>
        <p:spPr>
          <a:xfrm>
            <a:off x="8046720" y="4526280"/>
            <a:ext cx="3410712" cy="640080"/>
          </a:xfrm>
          <a:prstGeom prst="rect">
            <a:avLst/>
          </a:prstGeom>
          <a:noFill/>
          <a:ln/>
        </p:spPr>
        <p:txBody>
          <a:bodyPr wrap="square" lIns="0" tIns="0" rIns="0" bIns="0" rtlCol="0" anchor="t"/>
          <a:lstStyle/>
          <a:p>
            <a:pPr algn="l" indent="0" marL="0">
              <a:buNone/>
            </a:pPr>
            <a:r>
              <a:rPr lang="en-US" sz="1400" dirty="0">
                <a:solidFill>
                  <a:schemeClr val="tx1"/>
                </a:solidFill>
              </a:rPr>
              <a:t>EC2 per month at a 2 s check, to match Lambda's speed ($15.37 at 10 s)</a:t>
            </a:r>
            <a:endParaRPr lang="en-US" sz="1400" dirty="0"/>
          </a:p>
        </p:txBody>
      </p:sp>
      <p:sp>
        <p:nvSpPr>
          <p:cNvPr id="11" name="Takeaway"/>
          <p:cNvSpPr/>
          <p:nvPr/>
        </p:nvSpPr>
        <p:spPr>
          <a:xfrm>
            <a:off x="548640" y="5532120"/>
            <a:ext cx="11091672" cy="640080"/>
          </a:xfrm>
          <a:prstGeom prst="roundRect">
            <a:avLst>
              <a:gd name="adj" fmla="val 11429"/>
            </a:avLst>
          </a:prstGeom>
          <a:solidFill>
            <a:schemeClr val="accent6"/>
          </a:solidFill>
          <a:ln/>
        </p:spPr>
      </p:sp>
      <p:sp>
        <p:nvSpPr>
          <p:cNvPr id="12" name="Text 8"/>
          <p:cNvSpPr txBox="1"/>
          <p:nvPr/>
        </p:nvSpPr>
        <p:spPr>
          <a:xfrm>
            <a:off x="777240" y="5532120"/>
            <a:ext cx="10607040" cy="640080"/>
          </a:xfrm>
          <a:prstGeom prst="rect">
            <a:avLst/>
          </a:prstGeom>
          <a:noFill/>
          <a:ln/>
        </p:spPr>
        <p:txBody>
          <a:bodyPr wrap="square" lIns="0" tIns="0" rIns="0" bIns="0" rtlCol="0" anchor="ctr"/>
          <a:lstStyle/>
          <a:p>
            <a:pPr algn="l" indent="0" marL="0">
              <a:buNone/>
            </a:pPr>
            <a:r>
              <a:rPr lang="en-US" sz="1500" b="1" dirty="0">
                <a:solidFill>
                  <a:schemeClr val="tx1"/>
                </a:solidFill>
              </a:rPr>
              <a:t>Lambda reaches about 1 s with no tuning and no idle cost; EC2 needs a faster poll, which costs more.</a:t>
            </a:r>
            <a:endParaRPr lang="en-US" sz="150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68680"/>
          </a:xfrm>
          <a:prstGeom prst="rect">
            <a:avLst/>
          </a:prstGeom>
          <a:noFill/>
          <a:ln/>
        </p:spPr>
        <p:txBody>
          <a:bodyPr wrap="square" lIns="0" tIns="0" rIns="0" bIns="0" rtlCol="0" anchor="ctr"/>
          <a:lstStyle/>
          <a:p>
            <a:pPr algn="l" indent="0" marL="0">
              <a:buNone/>
            </a:pPr>
            <a:r>
              <a:rPr lang="en-US" sz="3400" b="1" dirty="0">
                <a:solidFill>
                  <a:schemeClr val="tx2"/>
                </a:solidFill>
              </a:rPr>
              <a:t>In a 200-receipt burst, Lambda finished first</a:t>
            </a:r>
            <a:endParaRPr lang="en-US" sz="3400" dirty="0"/>
          </a:p>
        </p:txBody>
      </p:sp>
      <p:graphicFrame>
        <p:nvGraphicFramePr>
          <p:cNvPr id="4" name="Chart 0" descr=""/>
          <p:cNvGraphicFramePr/>
          <p:nvPr/>
        </p:nvGraphicFramePr>
        <p:xfrm>
          <a:off x="548640" y="1508760"/>
          <a:ext cx="6949440" cy="3931920"/>
        </p:xfrm>
        <a:graphic xmlns:a="http://schemas.openxmlformats.org/drawingml/2006/main">
          <a:graphicData uri="http://schemas.openxmlformats.org/drawingml/2006/chart">
            <c:chart xmlns:c="http://schemas.openxmlformats.org/drawingml/2006/chart" r:id="rId1"/>
          </a:graphicData>
        </a:graphic>
      </p:graphicFrame>
      <p:sp>
        <p:nvSpPr>
          <p:cNvPr id="5" name="Stat Lambda: all 200 saved (peak 17 copies, none throttled)"/>
          <p:cNvSpPr/>
          <p:nvPr/>
        </p:nvSpPr>
        <p:spPr>
          <a:xfrm>
            <a:off x="7863840" y="1600200"/>
            <a:ext cx="3776472" cy="1737360"/>
          </a:xfrm>
          <a:prstGeom prst="roundRect">
            <a:avLst>
              <a:gd name="adj" fmla="val 4211"/>
            </a:avLst>
          </a:prstGeom>
          <a:solidFill>
            <a:schemeClr val="bg2"/>
          </a:solidFill>
          <a:ln/>
        </p:spPr>
      </p:sp>
      <p:sp>
        <p:nvSpPr>
          <p:cNvPr id="6" name="Text 2"/>
          <p:cNvSpPr txBox="1"/>
          <p:nvPr/>
        </p:nvSpPr>
        <p:spPr>
          <a:xfrm>
            <a:off x="8046720" y="1783080"/>
            <a:ext cx="3410712" cy="777240"/>
          </a:xfrm>
          <a:prstGeom prst="rect">
            <a:avLst/>
          </a:prstGeom>
          <a:noFill/>
          <a:ln/>
        </p:spPr>
        <p:txBody>
          <a:bodyPr wrap="square" lIns="0" tIns="0" rIns="0" bIns="0" rtlCol="0" anchor="ctr"/>
          <a:lstStyle/>
          <a:p>
            <a:pPr algn="l" indent="0" marL="0">
              <a:buNone/>
            </a:pPr>
            <a:r>
              <a:rPr lang="en-US" sz="3600" b="1" dirty="0">
                <a:solidFill>
                  <a:schemeClr val="accent1"/>
                </a:solidFill>
                <a:latin typeface="Cambria" pitchFamily="34" charset="0"/>
                <a:ea typeface="Cambria" pitchFamily="34" charset="-122"/>
                <a:cs typeface="Cambria" pitchFamily="34" charset="-120"/>
              </a:rPr>
              <a:t>14.8 s</a:t>
            </a:r>
            <a:endParaRPr lang="en-US" sz="3600" dirty="0"/>
          </a:p>
        </p:txBody>
      </p:sp>
      <p:sp>
        <p:nvSpPr>
          <p:cNvPr id="7" name="Text 3"/>
          <p:cNvSpPr txBox="1"/>
          <p:nvPr/>
        </p:nvSpPr>
        <p:spPr>
          <a:xfrm>
            <a:off x="8046720" y="2606040"/>
            <a:ext cx="3410712" cy="640080"/>
          </a:xfrm>
          <a:prstGeom prst="rect">
            <a:avLst/>
          </a:prstGeom>
          <a:noFill/>
          <a:ln/>
        </p:spPr>
        <p:txBody>
          <a:bodyPr wrap="square" lIns="0" tIns="0" rIns="0" bIns="0" rtlCol="0" anchor="t"/>
          <a:lstStyle/>
          <a:p>
            <a:pPr algn="l" indent="0" marL="0">
              <a:buNone/>
            </a:pPr>
            <a:r>
              <a:rPr lang="en-US" sz="1400" dirty="0">
                <a:solidFill>
                  <a:schemeClr val="tx1"/>
                </a:solidFill>
              </a:rPr>
              <a:t>Lambda: all 200 saved (peak 17 copies, none throttled)</a:t>
            </a:r>
            <a:endParaRPr lang="en-US" sz="1400" dirty="0"/>
          </a:p>
        </p:txBody>
      </p:sp>
      <p:sp>
        <p:nvSpPr>
          <p:cNvPr id="8" name="Stat EC2: all 200 saved; worst single delay 16.5 s"/>
          <p:cNvSpPr/>
          <p:nvPr/>
        </p:nvSpPr>
        <p:spPr>
          <a:xfrm>
            <a:off x="7863840" y="3520440"/>
            <a:ext cx="3776472" cy="1737360"/>
          </a:xfrm>
          <a:prstGeom prst="roundRect">
            <a:avLst>
              <a:gd name="adj" fmla="val 4211"/>
            </a:avLst>
          </a:prstGeom>
          <a:solidFill>
            <a:schemeClr val="accent6"/>
          </a:solidFill>
          <a:ln/>
        </p:spPr>
      </p:sp>
      <p:sp>
        <p:nvSpPr>
          <p:cNvPr id="9" name="Text 5"/>
          <p:cNvSpPr txBox="1"/>
          <p:nvPr/>
        </p:nvSpPr>
        <p:spPr>
          <a:xfrm>
            <a:off x="8046720" y="3703320"/>
            <a:ext cx="3410712" cy="77724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27.6 s</a:t>
            </a:r>
            <a:endParaRPr lang="en-US" sz="3600" dirty="0"/>
          </a:p>
        </p:txBody>
      </p:sp>
      <p:sp>
        <p:nvSpPr>
          <p:cNvPr id="10" name="Text 6"/>
          <p:cNvSpPr txBox="1"/>
          <p:nvPr/>
        </p:nvSpPr>
        <p:spPr>
          <a:xfrm>
            <a:off x="8046720" y="4526280"/>
            <a:ext cx="3410712" cy="640080"/>
          </a:xfrm>
          <a:prstGeom prst="rect">
            <a:avLst/>
          </a:prstGeom>
          <a:noFill/>
          <a:ln/>
        </p:spPr>
        <p:txBody>
          <a:bodyPr wrap="square" lIns="0" tIns="0" rIns="0" bIns="0" rtlCol="0" anchor="t"/>
          <a:lstStyle/>
          <a:p>
            <a:pPr algn="l" indent="0" marL="0">
              <a:buNone/>
            </a:pPr>
            <a:r>
              <a:rPr lang="en-US" sz="1400" dirty="0">
                <a:solidFill>
                  <a:schemeClr val="tx1"/>
                </a:solidFill>
              </a:rPr>
              <a:t>EC2: all 200 saved; worst single delay 16.5 s</a:t>
            </a:r>
            <a:endParaRPr lang="en-US" sz="1400" dirty="0"/>
          </a:p>
        </p:txBody>
      </p:sp>
      <p:sp>
        <p:nvSpPr>
          <p:cNvPr id="11" name="Takeaway"/>
          <p:cNvSpPr/>
          <p:nvPr/>
        </p:nvSpPr>
        <p:spPr>
          <a:xfrm>
            <a:off x="548640" y="5532120"/>
            <a:ext cx="11091672" cy="640080"/>
          </a:xfrm>
          <a:prstGeom prst="roundRect">
            <a:avLst>
              <a:gd name="adj" fmla="val 11429"/>
            </a:avLst>
          </a:prstGeom>
          <a:solidFill>
            <a:schemeClr val="accent6"/>
          </a:solidFill>
          <a:ln/>
        </p:spPr>
      </p:sp>
      <p:sp>
        <p:nvSpPr>
          <p:cNvPr id="12" name="Text 8"/>
          <p:cNvSpPr txBox="1"/>
          <p:nvPr/>
        </p:nvSpPr>
        <p:spPr>
          <a:xfrm>
            <a:off x="777240" y="5532120"/>
            <a:ext cx="10607040" cy="640080"/>
          </a:xfrm>
          <a:prstGeom prst="rect">
            <a:avLst/>
          </a:prstGeom>
          <a:noFill/>
          <a:ln/>
        </p:spPr>
        <p:txBody>
          <a:bodyPr wrap="square" lIns="0" tIns="0" rIns="0" bIns="0" rtlCol="0" anchor="ctr"/>
          <a:lstStyle/>
          <a:p>
            <a:pPr algn="l" indent="0" marL="0">
              <a:buNone/>
            </a:pPr>
            <a:r>
              <a:rPr lang="en-US" sz="1500" b="1" dirty="0">
                <a:solidFill>
                  <a:schemeClr val="tx1"/>
                </a:solidFill>
              </a:rPr>
              <a:t>Only one run achieved a true burst, so treat this as one measurement, not a benchmark.</a:t>
            </a:r>
            <a:endParaRPr lang="en-US" sz="150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68680"/>
          </a:xfrm>
          <a:prstGeom prst="rect">
            <a:avLst/>
          </a:prstGeom>
          <a:noFill/>
          <a:ln/>
        </p:spPr>
        <p:txBody>
          <a:bodyPr wrap="square" lIns="0" tIns="0" rIns="0" bIns="0" rtlCol="0" anchor="ctr"/>
          <a:lstStyle/>
          <a:p>
            <a:pPr algn="l" indent="0" marL="0">
              <a:buNone/>
            </a:pPr>
            <a:r>
              <a:rPr lang="en-US" sz="3400" b="1" dirty="0">
                <a:solidFill>
                  <a:schemeClr val="tx2"/>
                </a:solidFill>
              </a:rPr>
              <a:t>Serverless is cheaper until traffic is very high</a:t>
            </a:r>
            <a:endParaRPr lang="en-US" sz="3400" dirty="0"/>
          </a:p>
        </p:txBody>
      </p:sp>
      <p:sp>
        <p:nvSpPr>
          <p:cNvPr id="4" name="Stat EC2 per month, 10 s check (always on)"/>
          <p:cNvSpPr/>
          <p:nvPr/>
        </p:nvSpPr>
        <p:spPr>
          <a:xfrm>
            <a:off x="548640" y="1600200"/>
            <a:ext cx="3520440" cy="1737360"/>
          </a:xfrm>
          <a:prstGeom prst="roundRect">
            <a:avLst>
              <a:gd name="adj" fmla="val 4211"/>
            </a:avLst>
          </a:prstGeom>
          <a:solidFill>
            <a:schemeClr val="bg2"/>
          </a:solidFill>
          <a:ln/>
        </p:spPr>
      </p:sp>
      <p:sp>
        <p:nvSpPr>
          <p:cNvPr id="5" name="Text 2"/>
          <p:cNvSpPr txBox="1"/>
          <p:nvPr/>
        </p:nvSpPr>
        <p:spPr>
          <a:xfrm>
            <a:off x="731520" y="1783080"/>
            <a:ext cx="3154680" cy="777240"/>
          </a:xfrm>
          <a:prstGeom prst="rect">
            <a:avLst/>
          </a:prstGeom>
          <a:noFill/>
          <a:ln/>
        </p:spPr>
        <p:txBody>
          <a:bodyPr wrap="square" lIns="0" tIns="0" rIns="0" bIns="0" rtlCol="0" anchor="ctr"/>
          <a:lstStyle/>
          <a:p>
            <a:pPr algn="l" indent="0" marL="0">
              <a:buNone/>
            </a:pPr>
            <a:r>
              <a:rPr lang="en-US" sz="3600" b="1" dirty="0">
                <a:solidFill>
                  <a:schemeClr val="accent1"/>
                </a:solidFill>
                <a:latin typeface="Cambria" pitchFamily="34" charset="0"/>
                <a:ea typeface="Cambria" pitchFamily="34" charset="-122"/>
                <a:cs typeface="Cambria" pitchFamily="34" charset="-120"/>
              </a:rPr>
              <a:t>$15.37</a:t>
            </a:r>
            <a:endParaRPr lang="en-US" sz="3600" dirty="0"/>
          </a:p>
        </p:txBody>
      </p:sp>
      <p:sp>
        <p:nvSpPr>
          <p:cNvPr id="6" name="Text 3"/>
          <p:cNvSpPr txBox="1"/>
          <p:nvPr/>
        </p:nvSpPr>
        <p:spPr>
          <a:xfrm>
            <a:off x="731520" y="2606040"/>
            <a:ext cx="3154680" cy="640080"/>
          </a:xfrm>
          <a:prstGeom prst="rect">
            <a:avLst/>
          </a:prstGeom>
          <a:noFill/>
          <a:ln/>
        </p:spPr>
        <p:txBody>
          <a:bodyPr wrap="square" lIns="0" tIns="0" rIns="0" bIns="0" rtlCol="0" anchor="t"/>
          <a:lstStyle/>
          <a:p>
            <a:pPr algn="l" indent="0" marL="0">
              <a:buNone/>
            </a:pPr>
            <a:r>
              <a:rPr lang="en-US" sz="1400" dirty="0">
                <a:solidFill>
                  <a:schemeClr val="tx1"/>
                </a:solidFill>
              </a:rPr>
              <a:t>EC2 per month, 10 s check (always on)</a:t>
            </a:r>
            <a:endParaRPr lang="en-US" sz="1400" dirty="0"/>
          </a:p>
        </p:txBody>
      </p:sp>
      <p:sp>
        <p:nvSpPr>
          <p:cNvPr id="7" name="Stat Lambda per million warm receipts"/>
          <p:cNvSpPr/>
          <p:nvPr/>
        </p:nvSpPr>
        <p:spPr>
          <a:xfrm>
            <a:off x="4334256" y="1600200"/>
            <a:ext cx="3520440" cy="1737360"/>
          </a:xfrm>
          <a:prstGeom prst="roundRect">
            <a:avLst>
              <a:gd name="adj" fmla="val 4211"/>
            </a:avLst>
          </a:prstGeom>
          <a:solidFill>
            <a:schemeClr val="bg2"/>
          </a:solidFill>
          <a:ln/>
        </p:spPr>
      </p:sp>
      <p:sp>
        <p:nvSpPr>
          <p:cNvPr id="8" name="Text 5"/>
          <p:cNvSpPr txBox="1"/>
          <p:nvPr/>
        </p:nvSpPr>
        <p:spPr>
          <a:xfrm>
            <a:off x="4517136" y="1783080"/>
            <a:ext cx="3154680" cy="777240"/>
          </a:xfrm>
          <a:prstGeom prst="rect">
            <a:avLst/>
          </a:prstGeom>
          <a:noFill/>
          <a:ln/>
        </p:spPr>
        <p:txBody>
          <a:bodyPr wrap="square" lIns="0" tIns="0" rIns="0" bIns="0" rtlCol="0" anchor="ctr"/>
          <a:lstStyle/>
          <a:p>
            <a:pPr algn="l" indent="0" marL="0">
              <a:buNone/>
            </a:pPr>
            <a:r>
              <a:rPr lang="en-US" sz="3600" b="1" dirty="0">
                <a:solidFill>
                  <a:schemeClr val="accent1"/>
                </a:solidFill>
                <a:latin typeface="Cambria" pitchFamily="34" charset="0"/>
                <a:ea typeface="Cambria" pitchFamily="34" charset="-122"/>
                <a:cs typeface="Cambria" pitchFamily="34" charset="-120"/>
              </a:rPr>
              <a:t>$0.88</a:t>
            </a:r>
            <a:endParaRPr lang="en-US" sz="3600" dirty="0"/>
          </a:p>
        </p:txBody>
      </p:sp>
      <p:sp>
        <p:nvSpPr>
          <p:cNvPr id="9" name="Text 6"/>
          <p:cNvSpPr txBox="1"/>
          <p:nvPr/>
        </p:nvSpPr>
        <p:spPr>
          <a:xfrm>
            <a:off x="4517136" y="2606040"/>
            <a:ext cx="3154680" cy="640080"/>
          </a:xfrm>
          <a:prstGeom prst="rect">
            <a:avLst/>
          </a:prstGeom>
          <a:noFill/>
          <a:ln/>
        </p:spPr>
        <p:txBody>
          <a:bodyPr wrap="square" lIns="0" tIns="0" rIns="0" bIns="0" rtlCol="0" anchor="t"/>
          <a:lstStyle/>
          <a:p>
            <a:pPr algn="l" indent="0" marL="0">
              <a:buNone/>
            </a:pPr>
            <a:r>
              <a:rPr lang="en-US" sz="1400" dirty="0">
                <a:solidFill>
                  <a:schemeClr val="tx1"/>
                </a:solidFill>
              </a:rPr>
              <a:t>Lambda per million warm receipts</a:t>
            </a:r>
            <a:endParaRPr lang="en-US" sz="1400" dirty="0"/>
          </a:p>
        </p:txBody>
      </p:sp>
      <p:sp>
        <p:nvSpPr>
          <p:cNvPr id="10" name="Stat Rekognition per photo read, paid by both builds"/>
          <p:cNvSpPr/>
          <p:nvPr/>
        </p:nvSpPr>
        <p:spPr>
          <a:xfrm>
            <a:off x="8119872" y="1600200"/>
            <a:ext cx="3520440" cy="1737360"/>
          </a:xfrm>
          <a:prstGeom prst="roundRect">
            <a:avLst>
              <a:gd name="adj" fmla="val 4211"/>
            </a:avLst>
          </a:prstGeom>
          <a:solidFill>
            <a:schemeClr val="accent6"/>
          </a:solidFill>
          <a:ln/>
        </p:spPr>
      </p:sp>
      <p:sp>
        <p:nvSpPr>
          <p:cNvPr id="11" name="Text 8"/>
          <p:cNvSpPr txBox="1"/>
          <p:nvPr/>
        </p:nvSpPr>
        <p:spPr>
          <a:xfrm>
            <a:off x="8302752" y="1783080"/>
            <a:ext cx="3154680" cy="77724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~$0.001</a:t>
            </a:r>
            <a:endParaRPr lang="en-US" sz="3600" dirty="0"/>
          </a:p>
        </p:txBody>
      </p:sp>
      <p:sp>
        <p:nvSpPr>
          <p:cNvPr id="12" name="Text 9"/>
          <p:cNvSpPr txBox="1"/>
          <p:nvPr/>
        </p:nvSpPr>
        <p:spPr>
          <a:xfrm>
            <a:off x="8302752" y="2606040"/>
            <a:ext cx="3154680" cy="640080"/>
          </a:xfrm>
          <a:prstGeom prst="rect">
            <a:avLst/>
          </a:prstGeom>
          <a:noFill/>
          <a:ln/>
        </p:spPr>
        <p:txBody>
          <a:bodyPr wrap="square" lIns="0" tIns="0" rIns="0" bIns="0" rtlCol="0" anchor="t"/>
          <a:lstStyle/>
          <a:p>
            <a:pPr algn="l" indent="0" marL="0">
              <a:buNone/>
            </a:pPr>
            <a:r>
              <a:rPr lang="en-US" sz="1400" dirty="0">
                <a:solidFill>
                  <a:schemeClr val="tx1"/>
                </a:solidFill>
              </a:rPr>
              <a:t>Rekognition per photo read, paid by both builds</a:t>
            </a:r>
            <a:endParaRPr lang="en-US" sz="1400" dirty="0"/>
          </a:p>
        </p:txBody>
      </p:sp>
      <p:sp>
        <p:nvSpPr>
          <p:cNvPr id="13" name="Text 10"/>
          <p:cNvSpPr txBox="1"/>
          <p:nvPr/>
        </p:nvSpPr>
        <p:spPr>
          <a:xfrm>
            <a:off x="548640" y="3611880"/>
            <a:ext cx="9144000" cy="274320"/>
          </a:xfrm>
          <a:prstGeom prst="rect">
            <a:avLst/>
          </a:prstGeom>
          <a:noFill/>
          <a:ln/>
        </p:spPr>
        <p:txBody>
          <a:bodyPr wrap="square" lIns="0" tIns="0" rIns="0" bIns="0" rtlCol="0" anchor="t"/>
          <a:lstStyle/>
          <a:p>
            <a:pPr algn="l" indent="0" marL="0">
              <a:buNone/>
            </a:pPr>
            <a:r>
              <a:rPr lang="en-US" sz="1200" b="1" spc="200" kern="0" dirty="0">
                <a:solidFill>
                  <a:schemeClr val="accent4"/>
                </a:solidFill>
              </a:rPr>
              <a:t>BREAK-EVEN: RECEIPTS PER MONTH WHERE EC2 BECOMES CHEAPER</a:t>
            </a:r>
            <a:endParaRPr lang="en-US" sz="1200" dirty="0"/>
          </a:p>
        </p:txBody>
      </p:sp>
      <p:graphicFrame>
        <p:nvGraphicFramePr>
          <p:cNvPr id="14" name="Chart 0" descr=""/>
          <p:cNvGraphicFramePr/>
          <p:nvPr/>
        </p:nvGraphicFramePr>
        <p:xfrm>
          <a:off x="548640" y="3840480"/>
          <a:ext cx="11091672" cy="1600200"/>
        </p:xfrm>
        <a:graphic xmlns:a="http://schemas.openxmlformats.org/drawingml/2006/main">
          <a:graphicData uri="http://schemas.openxmlformats.org/drawingml/2006/chart">
            <c:chart xmlns:c="http://schemas.openxmlformats.org/drawingml/2006/chart" r:id="rId1"/>
          </a:graphicData>
        </a:graphic>
      </p:graphicFrame>
      <p:sp>
        <p:nvSpPr>
          <p:cNvPr id="15" name="Takeaway"/>
          <p:cNvSpPr/>
          <p:nvPr/>
        </p:nvSpPr>
        <p:spPr>
          <a:xfrm>
            <a:off x="548640" y="5532120"/>
            <a:ext cx="11091672" cy="640080"/>
          </a:xfrm>
          <a:prstGeom prst="roundRect">
            <a:avLst>
              <a:gd name="adj" fmla="val 11429"/>
            </a:avLst>
          </a:prstGeom>
          <a:solidFill>
            <a:schemeClr val="accent6"/>
          </a:solidFill>
          <a:ln/>
        </p:spPr>
      </p:sp>
      <p:sp>
        <p:nvSpPr>
          <p:cNvPr id="16" name="Text 12"/>
          <p:cNvSpPr txBox="1"/>
          <p:nvPr/>
        </p:nvSpPr>
        <p:spPr>
          <a:xfrm>
            <a:off x="777240" y="5532120"/>
            <a:ext cx="10607040" cy="640080"/>
          </a:xfrm>
          <a:prstGeom prst="rect">
            <a:avLst/>
          </a:prstGeom>
          <a:noFill/>
          <a:ln/>
        </p:spPr>
        <p:txBody>
          <a:bodyPr wrap="square" lIns="0" tIns="0" rIns="0" bIns="0" rtlCol="0" anchor="ctr"/>
          <a:lstStyle/>
          <a:p>
            <a:pPr algn="l" indent="0" marL="0">
              <a:buNone/>
            </a:pPr>
            <a:r>
              <a:rPr lang="en-US" sz="1500" b="1" dirty="0">
                <a:solidFill>
                  <a:schemeClr val="tx1"/>
                </a:solidFill>
              </a:rPr>
              <a:t>Below these volumes serverless costs less; above them an always-on server can.</a:t>
            </a:r>
            <a:endParaRPr lang="en-US" sz="150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68680"/>
          </a:xfrm>
          <a:prstGeom prst="rect">
            <a:avLst/>
          </a:prstGeom>
          <a:noFill/>
          <a:ln/>
        </p:spPr>
        <p:txBody>
          <a:bodyPr wrap="square" lIns="0" tIns="0" rIns="0" bIns="0" rtlCol="0" anchor="ctr"/>
          <a:lstStyle/>
          <a:p>
            <a:pPr algn="l" indent="0" marL="0">
              <a:buNone/>
            </a:pPr>
            <a:r>
              <a:rPr lang="en-US" sz="3400" b="1" dirty="0">
                <a:solidFill>
                  <a:schemeClr val="tx2"/>
                </a:solidFill>
              </a:rPr>
              <a:t>Limits we are open about, and what could come next</a:t>
            </a:r>
            <a:endParaRPr lang="en-US" sz="3400" dirty="0"/>
          </a:p>
        </p:txBody>
      </p:sp>
      <p:sp>
        <p:nvSpPr>
          <p:cNvPr id="4" name="Text 1"/>
          <p:cNvSpPr txBox="1"/>
          <p:nvPr/>
        </p:nvSpPr>
        <p:spPr>
          <a:xfrm>
            <a:off x="548640" y="1508760"/>
            <a:ext cx="4572000" cy="274320"/>
          </a:xfrm>
          <a:prstGeom prst="rect">
            <a:avLst/>
          </a:prstGeom>
          <a:noFill/>
          <a:ln/>
        </p:spPr>
        <p:txBody>
          <a:bodyPr wrap="square" lIns="0" tIns="0" rIns="0" bIns="0" rtlCol="0" anchor="t"/>
          <a:lstStyle/>
          <a:p>
            <a:pPr algn="l" indent="0" marL="0">
              <a:buNone/>
            </a:pPr>
            <a:r>
              <a:rPr lang="en-US" sz="1200" b="1" spc="200" kern="0" dirty="0">
                <a:solidFill>
                  <a:schemeClr val="accent4"/>
                </a:solidFill>
              </a:rPr>
              <a:t>KNOWN LIMITS</a:t>
            </a:r>
            <a:endParaRPr lang="en-US" sz="1200" dirty="0"/>
          </a:p>
        </p:txBody>
      </p:sp>
      <p:sp>
        <p:nvSpPr>
          <p:cNvPr id="5" name="Limit 1"/>
          <p:cNvSpPr/>
          <p:nvPr/>
        </p:nvSpPr>
        <p:spPr>
          <a:xfrm>
            <a:off x="548640" y="1828800"/>
            <a:ext cx="5394960" cy="694944"/>
          </a:xfrm>
          <a:prstGeom prst="roundRect">
            <a:avLst>
              <a:gd name="adj" fmla="val 10526"/>
            </a:avLst>
          </a:prstGeom>
          <a:solidFill>
            <a:schemeClr val="accent6"/>
          </a:solidFill>
          <a:ln/>
        </p:spPr>
      </p:sp>
      <p:pic>
        <p:nvPicPr>
          <p:cNvPr id="6" name="Image 0" descr="preencoded.png">    </p:cNvPr>
          <p:cNvPicPr>
            <a:picLocks noChangeAspect="1"/>
          </p:cNvPicPr>
          <p:nvPr/>
        </p:nvPicPr>
        <p:blipFill>
          <a:blip r:embed="rId1"/>
          <a:stretch>
            <a:fillRect/>
          </a:stretch>
        </p:blipFill>
        <p:spPr>
          <a:xfrm>
            <a:off x="731520" y="2011680"/>
            <a:ext cx="329184" cy="329184"/>
          </a:xfrm>
          <a:prstGeom prst="rect">
            <a:avLst/>
          </a:prstGeom>
        </p:spPr>
      </p:pic>
      <p:sp>
        <p:nvSpPr>
          <p:cNvPr id="7" name="Text 3"/>
          <p:cNvSpPr txBox="1"/>
          <p:nvPr/>
        </p:nvSpPr>
        <p:spPr>
          <a:xfrm>
            <a:off x="1280160" y="1828800"/>
            <a:ext cx="4526280" cy="694944"/>
          </a:xfrm>
          <a:prstGeom prst="rect">
            <a:avLst/>
          </a:prstGeom>
          <a:noFill/>
          <a:ln/>
        </p:spPr>
        <p:txBody>
          <a:bodyPr wrap="square" lIns="0" tIns="0" rIns="0" bIns="0" rtlCol="0" anchor="ctr"/>
          <a:lstStyle/>
          <a:p>
            <a:pPr algn="l" indent="0" marL="0">
              <a:buNone/>
            </a:pPr>
            <a:r>
              <a:rPr lang="en-US" sz="1300" dirty="0">
                <a:solidFill>
                  <a:schemeClr val="tx1"/>
                </a:solidFill>
              </a:rPr>
              <a:t>No public set of real Indian GST bills found: the 170 GST invoices are computer-generated</a:t>
            </a:r>
            <a:endParaRPr lang="en-US" sz="1300" dirty="0"/>
          </a:p>
        </p:txBody>
      </p:sp>
      <p:sp>
        <p:nvSpPr>
          <p:cNvPr id="8" name="Limit 2"/>
          <p:cNvSpPr/>
          <p:nvPr/>
        </p:nvSpPr>
        <p:spPr>
          <a:xfrm>
            <a:off x="548640" y="2633472"/>
            <a:ext cx="5394960" cy="694944"/>
          </a:xfrm>
          <a:prstGeom prst="roundRect">
            <a:avLst>
              <a:gd name="adj" fmla="val 10526"/>
            </a:avLst>
          </a:prstGeom>
          <a:solidFill>
            <a:schemeClr val="accent6"/>
          </a:solidFill>
          <a:ln/>
        </p:spPr>
      </p:sp>
      <p:pic>
        <p:nvPicPr>
          <p:cNvPr id="9" name="Image 1" descr="preencoded.png">    </p:cNvPr>
          <p:cNvPicPr>
            <a:picLocks noChangeAspect="1"/>
          </p:cNvPicPr>
          <p:nvPr/>
        </p:nvPicPr>
        <p:blipFill>
          <a:blip r:embed="rId2"/>
          <a:stretch>
            <a:fillRect/>
          </a:stretch>
        </p:blipFill>
        <p:spPr>
          <a:xfrm>
            <a:off x="731520" y="2816352"/>
            <a:ext cx="329184" cy="329184"/>
          </a:xfrm>
          <a:prstGeom prst="rect">
            <a:avLst/>
          </a:prstGeom>
        </p:spPr>
      </p:pic>
      <p:sp>
        <p:nvSpPr>
          <p:cNvPr id="10" name="Text 5"/>
          <p:cNvSpPr txBox="1"/>
          <p:nvPr/>
        </p:nvSpPr>
        <p:spPr>
          <a:xfrm>
            <a:off x="1280160" y="2633472"/>
            <a:ext cx="4526280" cy="694944"/>
          </a:xfrm>
          <a:prstGeom prst="rect">
            <a:avLst/>
          </a:prstGeom>
          <a:noFill/>
          <a:ln/>
        </p:spPr>
        <p:txBody>
          <a:bodyPr wrap="square" lIns="0" tIns="0" rIns="0" bIns="0" rtlCol="0" anchor="ctr"/>
          <a:lstStyle/>
          <a:p>
            <a:pPr algn="l" indent="0" marL="0">
              <a:buNone/>
            </a:pPr>
            <a:r>
              <a:rPr lang="en-US" sz="1300" dirty="0">
                <a:solidFill>
                  <a:schemeClr val="tx1"/>
                </a:solidFill>
              </a:rPr>
              <a:t>The 626 real receipts are Malaysian, not Indian</a:t>
            </a:r>
            <a:endParaRPr lang="en-US" sz="1300" dirty="0"/>
          </a:p>
        </p:txBody>
      </p:sp>
      <p:sp>
        <p:nvSpPr>
          <p:cNvPr id="11" name="Limit 3"/>
          <p:cNvSpPr/>
          <p:nvPr/>
        </p:nvSpPr>
        <p:spPr>
          <a:xfrm>
            <a:off x="548640" y="3438144"/>
            <a:ext cx="5394960" cy="694944"/>
          </a:xfrm>
          <a:prstGeom prst="roundRect">
            <a:avLst>
              <a:gd name="adj" fmla="val 10526"/>
            </a:avLst>
          </a:prstGeom>
          <a:solidFill>
            <a:schemeClr val="accent6"/>
          </a:solidFill>
          <a:ln/>
        </p:spPr>
      </p:sp>
      <p:pic>
        <p:nvPicPr>
          <p:cNvPr id="12" name="Image 2" descr="preencoded.png">    </p:cNvPr>
          <p:cNvPicPr>
            <a:picLocks noChangeAspect="1"/>
          </p:cNvPicPr>
          <p:nvPr/>
        </p:nvPicPr>
        <p:blipFill>
          <a:blip r:embed="rId3"/>
          <a:stretch>
            <a:fillRect/>
          </a:stretch>
        </p:blipFill>
        <p:spPr>
          <a:xfrm>
            <a:off x="731520" y="3621024"/>
            <a:ext cx="329184" cy="329184"/>
          </a:xfrm>
          <a:prstGeom prst="rect">
            <a:avLst/>
          </a:prstGeom>
        </p:spPr>
      </p:pic>
      <p:sp>
        <p:nvSpPr>
          <p:cNvPr id="13" name="Text 7"/>
          <p:cNvSpPr txBox="1"/>
          <p:nvPr/>
        </p:nvSpPr>
        <p:spPr>
          <a:xfrm>
            <a:off x="1280160" y="3438144"/>
            <a:ext cx="4526280" cy="694944"/>
          </a:xfrm>
          <a:prstGeom prst="rect">
            <a:avLst/>
          </a:prstGeom>
          <a:noFill/>
          <a:ln/>
        </p:spPr>
        <p:txBody>
          <a:bodyPr wrap="square" lIns="0" tIns="0" rIns="0" bIns="0" rtlCol="0" anchor="ctr"/>
          <a:lstStyle/>
          <a:p>
            <a:pPr algn="l" indent="0" marL="0">
              <a:buNone/>
            </a:pPr>
            <a:r>
              <a:rPr lang="en-US" sz="1300" dirty="0">
                <a:solidFill>
                  <a:schemeClr val="tx1"/>
                </a:solidFill>
              </a:rPr>
              <a:t>One tampered invoice passes the GST check; 3 of 626 other receipts were flagged by mistake</a:t>
            </a:r>
            <a:endParaRPr lang="en-US" sz="1300" dirty="0"/>
          </a:p>
        </p:txBody>
      </p:sp>
      <p:sp>
        <p:nvSpPr>
          <p:cNvPr id="14" name="Limit 4"/>
          <p:cNvSpPr/>
          <p:nvPr/>
        </p:nvSpPr>
        <p:spPr>
          <a:xfrm>
            <a:off x="548640" y="4242816"/>
            <a:ext cx="5394960" cy="694944"/>
          </a:xfrm>
          <a:prstGeom prst="roundRect">
            <a:avLst>
              <a:gd name="adj" fmla="val 10526"/>
            </a:avLst>
          </a:prstGeom>
          <a:solidFill>
            <a:schemeClr val="accent6"/>
          </a:solidFill>
          <a:ln/>
        </p:spPr>
      </p:sp>
      <p:pic>
        <p:nvPicPr>
          <p:cNvPr id="15" name="Image 3" descr="preencoded.png">    </p:cNvPr>
          <p:cNvPicPr>
            <a:picLocks noChangeAspect="1"/>
          </p:cNvPicPr>
          <p:nvPr/>
        </p:nvPicPr>
        <p:blipFill>
          <a:blip r:embed="rId4"/>
          <a:stretch>
            <a:fillRect/>
          </a:stretch>
        </p:blipFill>
        <p:spPr>
          <a:xfrm>
            <a:off x="731520" y="4425696"/>
            <a:ext cx="329184" cy="329184"/>
          </a:xfrm>
          <a:prstGeom prst="rect">
            <a:avLst/>
          </a:prstGeom>
        </p:spPr>
      </p:pic>
      <p:sp>
        <p:nvSpPr>
          <p:cNvPr id="16" name="Text 9"/>
          <p:cNvSpPr txBox="1"/>
          <p:nvPr/>
        </p:nvSpPr>
        <p:spPr>
          <a:xfrm>
            <a:off x="1280160" y="4242816"/>
            <a:ext cx="4526280" cy="694944"/>
          </a:xfrm>
          <a:prstGeom prst="rect">
            <a:avLst/>
          </a:prstGeom>
          <a:noFill/>
          <a:ln/>
        </p:spPr>
        <p:txBody>
          <a:bodyPr wrap="square" lIns="0" tIns="0" rIns="0" bIns="0" rtlCol="0" anchor="ctr"/>
          <a:lstStyle/>
          <a:p>
            <a:pPr algn="l" indent="0" marL="0">
              <a:buNone/>
            </a:pPr>
            <a:r>
              <a:rPr lang="en-US" sz="1300" dirty="0">
                <a:solidFill>
                  <a:schemeClr val="tx1"/>
                </a:solidFill>
              </a:rPr>
              <a:t>37 wrong totals (5.9%) are saved without a review flag</a:t>
            </a:r>
            <a:endParaRPr lang="en-US" sz="1300" dirty="0"/>
          </a:p>
        </p:txBody>
      </p:sp>
      <p:sp>
        <p:nvSpPr>
          <p:cNvPr id="17" name="Limit 5"/>
          <p:cNvSpPr/>
          <p:nvPr/>
        </p:nvSpPr>
        <p:spPr>
          <a:xfrm>
            <a:off x="548640" y="5047488"/>
            <a:ext cx="5394960" cy="694944"/>
          </a:xfrm>
          <a:prstGeom prst="roundRect">
            <a:avLst>
              <a:gd name="adj" fmla="val 10526"/>
            </a:avLst>
          </a:prstGeom>
          <a:solidFill>
            <a:schemeClr val="accent6"/>
          </a:solidFill>
          <a:ln/>
        </p:spPr>
      </p:sp>
      <p:pic>
        <p:nvPicPr>
          <p:cNvPr id="18" name="Image 4" descr="preencoded.png">    </p:cNvPr>
          <p:cNvPicPr>
            <a:picLocks noChangeAspect="1"/>
          </p:cNvPicPr>
          <p:nvPr/>
        </p:nvPicPr>
        <p:blipFill>
          <a:blip r:embed="rId5"/>
          <a:stretch>
            <a:fillRect/>
          </a:stretch>
        </p:blipFill>
        <p:spPr>
          <a:xfrm>
            <a:off x="731520" y="5230368"/>
            <a:ext cx="329184" cy="329184"/>
          </a:xfrm>
          <a:prstGeom prst="rect">
            <a:avLst/>
          </a:prstGeom>
        </p:spPr>
      </p:pic>
      <p:sp>
        <p:nvSpPr>
          <p:cNvPr id="19" name="Text 11"/>
          <p:cNvSpPr txBox="1"/>
          <p:nvPr/>
        </p:nvSpPr>
        <p:spPr>
          <a:xfrm>
            <a:off x="1280160" y="5047488"/>
            <a:ext cx="4526280" cy="694944"/>
          </a:xfrm>
          <a:prstGeom prst="rect">
            <a:avLst/>
          </a:prstGeom>
          <a:noFill/>
          <a:ln/>
        </p:spPr>
        <p:txBody>
          <a:bodyPr wrap="square" lIns="0" tIns="0" rIns="0" bIns="0" rtlCol="0" anchor="ctr"/>
          <a:lstStyle/>
          <a:p>
            <a:pPr algn="l" indent="0" marL="0">
              <a:buNone/>
            </a:pPr>
            <a:r>
              <a:rPr lang="en-US" sz="1300" dirty="0">
                <a:solidFill>
                  <a:schemeClr val="tx1"/>
                </a:solidFill>
              </a:rPr>
              <a:t>Only one run was a true burst; EC2 at 2 s not tested in a burst</a:t>
            </a:r>
            <a:endParaRPr lang="en-US" sz="1300" dirty="0"/>
          </a:p>
        </p:txBody>
      </p:sp>
      <p:sp>
        <p:nvSpPr>
          <p:cNvPr id="20" name="Text 12"/>
          <p:cNvSpPr txBox="1"/>
          <p:nvPr/>
        </p:nvSpPr>
        <p:spPr>
          <a:xfrm>
            <a:off x="6263640" y="1508760"/>
            <a:ext cx="4572000" cy="274320"/>
          </a:xfrm>
          <a:prstGeom prst="rect">
            <a:avLst/>
          </a:prstGeom>
          <a:noFill/>
          <a:ln/>
        </p:spPr>
        <p:txBody>
          <a:bodyPr wrap="square" lIns="0" tIns="0" rIns="0" bIns="0" rtlCol="0" anchor="t"/>
          <a:lstStyle/>
          <a:p>
            <a:pPr algn="l" indent="0" marL="0">
              <a:buNone/>
            </a:pPr>
            <a:r>
              <a:rPr lang="en-US" sz="1200" b="1" spc="200" kern="0" dirty="0">
                <a:solidFill>
                  <a:schemeClr val="accent4"/>
                </a:solidFill>
              </a:rPr>
              <a:t>POSSIBLE NEXT STEPS</a:t>
            </a:r>
            <a:endParaRPr lang="en-US" sz="1200" dirty="0"/>
          </a:p>
        </p:txBody>
      </p:sp>
      <p:sp>
        <p:nvSpPr>
          <p:cNvPr id="21" name="Next 1"/>
          <p:cNvSpPr/>
          <p:nvPr/>
        </p:nvSpPr>
        <p:spPr>
          <a:xfrm>
            <a:off x="6263640" y="1828800"/>
            <a:ext cx="5376672" cy="694944"/>
          </a:xfrm>
          <a:prstGeom prst="roundRect">
            <a:avLst>
              <a:gd name="adj" fmla="val 10526"/>
            </a:avLst>
          </a:prstGeom>
          <a:solidFill>
            <a:schemeClr val="bg2"/>
          </a:solidFill>
          <a:ln/>
        </p:spPr>
      </p:sp>
      <p:sp>
        <p:nvSpPr>
          <p:cNvPr id="22" name="Shape 14"/>
          <p:cNvSpPr/>
          <p:nvPr/>
        </p:nvSpPr>
        <p:spPr>
          <a:xfrm>
            <a:off x="6446520" y="1956816"/>
            <a:ext cx="438912" cy="438912"/>
          </a:xfrm>
          <a:prstGeom prst="ellipse">
            <a:avLst/>
          </a:prstGeom>
          <a:solidFill>
            <a:schemeClr val="accent1"/>
          </a:solidFill>
          <a:ln/>
        </p:spPr>
      </p:sp>
      <p:pic>
        <p:nvPicPr>
          <p:cNvPr id="23" name="Image 5" descr="preencoded.png">    </p:cNvPr>
          <p:cNvPicPr>
            <a:picLocks noChangeAspect="1"/>
          </p:cNvPicPr>
          <p:nvPr/>
        </p:nvPicPr>
        <p:blipFill>
          <a:blip r:embed="rId6"/>
          <a:stretch>
            <a:fillRect/>
          </a:stretch>
        </p:blipFill>
        <p:spPr>
          <a:xfrm>
            <a:off x="6569415" y="2079711"/>
            <a:ext cx="193121" cy="193121"/>
          </a:xfrm>
          <a:prstGeom prst="rect">
            <a:avLst/>
          </a:prstGeom>
        </p:spPr>
      </p:pic>
      <p:sp>
        <p:nvSpPr>
          <p:cNvPr id="24" name="Text 15"/>
          <p:cNvSpPr txBox="1"/>
          <p:nvPr/>
        </p:nvSpPr>
        <p:spPr>
          <a:xfrm>
            <a:off x="7086600" y="1828800"/>
            <a:ext cx="4389120" cy="694944"/>
          </a:xfrm>
          <a:prstGeom prst="rect">
            <a:avLst/>
          </a:prstGeom>
          <a:noFill/>
          <a:ln/>
        </p:spPr>
        <p:txBody>
          <a:bodyPr wrap="square" lIns="0" tIns="0" rIns="0" bIns="0" rtlCol="0" anchor="ctr"/>
          <a:lstStyle/>
          <a:p>
            <a:pPr algn="l" indent="0" marL="0">
              <a:buNone/>
            </a:pPr>
            <a:r>
              <a:rPr lang="en-US" sz="1400" dirty="0">
                <a:solidFill>
                  <a:schemeClr val="tx1"/>
                </a:solidFill>
              </a:rPr>
              <a:t>Add photos of real Indian bills as a third test group</a:t>
            </a:r>
            <a:endParaRPr lang="en-US" sz="1400" dirty="0"/>
          </a:p>
        </p:txBody>
      </p:sp>
      <p:sp>
        <p:nvSpPr>
          <p:cNvPr id="25" name="Next 2"/>
          <p:cNvSpPr/>
          <p:nvPr/>
        </p:nvSpPr>
        <p:spPr>
          <a:xfrm>
            <a:off x="6263640" y="2633472"/>
            <a:ext cx="5376672" cy="694944"/>
          </a:xfrm>
          <a:prstGeom prst="roundRect">
            <a:avLst>
              <a:gd name="adj" fmla="val 10526"/>
            </a:avLst>
          </a:prstGeom>
          <a:solidFill>
            <a:schemeClr val="bg2"/>
          </a:solidFill>
          <a:ln/>
        </p:spPr>
      </p:sp>
      <p:sp>
        <p:nvSpPr>
          <p:cNvPr id="26" name="Shape 17"/>
          <p:cNvSpPr/>
          <p:nvPr/>
        </p:nvSpPr>
        <p:spPr>
          <a:xfrm>
            <a:off x="6446520" y="2761488"/>
            <a:ext cx="438912" cy="438912"/>
          </a:xfrm>
          <a:prstGeom prst="ellipse">
            <a:avLst/>
          </a:prstGeom>
          <a:solidFill>
            <a:schemeClr val="accent1"/>
          </a:solidFill>
          <a:ln/>
        </p:spPr>
      </p:sp>
      <p:pic>
        <p:nvPicPr>
          <p:cNvPr id="27" name="Image 6" descr="preencoded.png">    </p:cNvPr>
          <p:cNvPicPr>
            <a:picLocks noChangeAspect="1"/>
          </p:cNvPicPr>
          <p:nvPr/>
        </p:nvPicPr>
        <p:blipFill>
          <a:blip r:embed="rId7"/>
          <a:stretch>
            <a:fillRect/>
          </a:stretch>
        </p:blipFill>
        <p:spPr>
          <a:xfrm>
            <a:off x="6569415" y="2884383"/>
            <a:ext cx="193121" cy="193121"/>
          </a:xfrm>
          <a:prstGeom prst="rect">
            <a:avLst/>
          </a:prstGeom>
        </p:spPr>
      </p:pic>
      <p:sp>
        <p:nvSpPr>
          <p:cNvPr id="28" name="Text 18"/>
          <p:cNvSpPr txBox="1"/>
          <p:nvPr/>
        </p:nvSpPr>
        <p:spPr>
          <a:xfrm>
            <a:off x="7086600" y="2633472"/>
            <a:ext cx="4389120" cy="694944"/>
          </a:xfrm>
          <a:prstGeom prst="rect">
            <a:avLst/>
          </a:prstGeom>
          <a:noFill/>
          <a:ln/>
        </p:spPr>
        <p:txBody>
          <a:bodyPr wrap="square" lIns="0" tIns="0" rIns="0" bIns="0" rtlCol="0" anchor="ctr"/>
          <a:lstStyle/>
          <a:p>
            <a:pPr algn="l" indent="0" marL="0">
              <a:buNone/>
            </a:pPr>
            <a:r>
              <a:rPr lang="en-US" sz="1400" dirty="0">
                <a:solidFill>
                  <a:schemeClr val="tx1"/>
                </a:solidFill>
              </a:rPr>
              <a:t>Cap concurrent uploads and clear old experiment files on the public site</a:t>
            </a:r>
            <a:endParaRPr lang="en-US" sz="1400" dirty="0"/>
          </a:p>
        </p:txBody>
      </p:sp>
      <p:sp>
        <p:nvSpPr>
          <p:cNvPr id="29" name="Next 3"/>
          <p:cNvSpPr/>
          <p:nvPr/>
        </p:nvSpPr>
        <p:spPr>
          <a:xfrm>
            <a:off x="6263640" y="3438144"/>
            <a:ext cx="5376672" cy="694944"/>
          </a:xfrm>
          <a:prstGeom prst="roundRect">
            <a:avLst>
              <a:gd name="adj" fmla="val 10526"/>
            </a:avLst>
          </a:prstGeom>
          <a:solidFill>
            <a:schemeClr val="bg2"/>
          </a:solidFill>
          <a:ln/>
        </p:spPr>
      </p:sp>
      <p:sp>
        <p:nvSpPr>
          <p:cNvPr id="30" name="Shape 20"/>
          <p:cNvSpPr/>
          <p:nvPr/>
        </p:nvSpPr>
        <p:spPr>
          <a:xfrm>
            <a:off x="6446520" y="3566160"/>
            <a:ext cx="438912" cy="438912"/>
          </a:xfrm>
          <a:prstGeom prst="ellipse">
            <a:avLst/>
          </a:prstGeom>
          <a:solidFill>
            <a:schemeClr val="accent1"/>
          </a:solidFill>
          <a:ln/>
        </p:spPr>
      </p:sp>
      <p:pic>
        <p:nvPicPr>
          <p:cNvPr id="31" name="Image 7" descr="preencoded.png">    </p:cNvPr>
          <p:cNvPicPr>
            <a:picLocks noChangeAspect="1"/>
          </p:cNvPicPr>
          <p:nvPr/>
        </p:nvPicPr>
        <p:blipFill>
          <a:blip r:embed="rId8"/>
          <a:stretch>
            <a:fillRect/>
          </a:stretch>
        </p:blipFill>
        <p:spPr>
          <a:xfrm>
            <a:off x="6569415" y="3689055"/>
            <a:ext cx="193121" cy="193121"/>
          </a:xfrm>
          <a:prstGeom prst="rect">
            <a:avLst/>
          </a:prstGeom>
        </p:spPr>
      </p:pic>
      <p:sp>
        <p:nvSpPr>
          <p:cNvPr id="32" name="Text 21"/>
          <p:cNvSpPr txBox="1"/>
          <p:nvPr/>
        </p:nvSpPr>
        <p:spPr>
          <a:xfrm>
            <a:off x="7086600" y="3438144"/>
            <a:ext cx="4389120" cy="694944"/>
          </a:xfrm>
          <a:prstGeom prst="rect">
            <a:avLst/>
          </a:prstGeom>
          <a:noFill/>
          <a:ln/>
        </p:spPr>
        <p:txBody>
          <a:bodyPr wrap="square" lIns="0" tIns="0" rIns="0" bIns="0" rtlCol="0" anchor="ctr"/>
          <a:lstStyle/>
          <a:p>
            <a:pPr algn="l" indent="0" marL="0">
              <a:buNone/>
            </a:pPr>
            <a:r>
              <a:rPr lang="en-US" sz="1400" dirty="0">
                <a:solidFill>
                  <a:schemeClr val="tx1"/>
                </a:solidFill>
              </a:rPr>
              <a:t>Add a queue (SQS) so the EC2 build is event-driven too</a:t>
            </a:r>
            <a:endParaRPr lang="en-US" sz="140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731520" y="548640"/>
            <a:ext cx="10698480" cy="868680"/>
          </a:xfrm>
          <a:prstGeom prst="rect">
            <a:avLst/>
          </a:prstGeom>
          <a:noFill/>
          <a:ln/>
        </p:spPr>
        <p:txBody>
          <a:bodyPr wrap="square" lIns="0" tIns="0" rIns="0" bIns="0" rtlCol="0" anchor="ctr"/>
          <a:lstStyle/>
          <a:p>
            <a:pPr algn="l" indent="0" marL="0">
              <a:buNone/>
            </a:pPr>
            <a:r>
              <a:rPr lang="en-US" sz="3600" b="1" dirty="0">
                <a:solidFill>
                  <a:schemeClr val="bg1"/>
                </a:solidFill>
              </a:rPr>
              <a:t>What we found</a:t>
            </a:r>
            <a:endParaRPr lang="en-US" sz="3600" dirty="0"/>
          </a:p>
        </p:txBody>
      </p:sp>
      <p:sp>
        <p:nvSpPr>
          <p:cNvPr id="3" name="Text 1"/>
          <p:cNvSpPr txBox="1"/>
          <p:nvPr/>
        </p:nvSpPr>
        <p:spPr>
          <a:xfrm>
            <a:off x="731520" y="1737360"/>
            <a:ext cx="548640" cy="548640"/>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tx1"/>
                </a:solidFill>
              </a:rPr>
              <a:t>1</a:t>
            </a:r>
            <a:endParaRPr lang="en-US" sz="1600" dirty="0"/>
          </a:p>
        </p:txBody>
      </p:sp>
      <p:sp>
        <p:nvSpPr>
          <p:cNvPr id="4" name="Text 2"/>
          <p:cNvSpPr txBox="1"/>
          <p:nvPr/>
        </p:nvSpPr>
        <p:spPr>
          <a:xfrm>
            <a:off x="1554480" y="1645920"/>
            <a:ext cx="9875520" cy="731520"/>
          </a:xfrm>
          <a:prstGeom prst="rect">
            <a:avLst/>
          </a:prstGeom>
          <a:noFill/>
          <a:ln/>
        </p:spPr>
        <p:txBody>
          <a:bodyPr wrap="square" lIns="0" tIns="0" rIns="0" bIns="0" rtlCol="0" anchor="ctr"/>
          <a:lstStyle/>
          <a:p>
            <a:pPr algn="l" indent="0" marL="0">
              <a:buNone/>
            </a:pPr>
            <a:r>
              <a:rPr lang="en-US" sz="1800" dirty="0">
                <a:solidFill>
                  <a:schemeClr val="bg1"/>
                </a:solidFill>
              </a:rPr>
              <a:t>Serverless is the better fit here: about 1 s per receipt, $0 when idle, and it adds copies by itself during a burst</a:t>
            </a:r>
            <a:endParaRPr lang="en-US" sz="1800" dirty="0"/>
          </a:p>
        </p:txBody>
      </p:sp>
      <p:sp>
        <p:nvSpPr>
          <p:cNvPr id="5" name="Text 3"/>
          <p:cNvSpPr txBox="1"/>
          <p:nvPr/>
        </p:nvSpPr>
        <p:spPr>
          <a:xfrm>
            <a:off x="731520" y="2697480"/>
            <a:ext cx="548640" cy="548640"/>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tx1"/>
                </a:solidFill>
              </a:rPr>
              <a:t>2</a:t>
            </a:r>
            <a:endParaRPr lang="en-US" sz="1600" dirty="0"/>
          </a:p>
        </p:txBody>
      </p:sp>
      <p:sp>
        <p:nvSpPr>
          <p:cNvPr id="6" name="Text 4"/>
          <p:cNvSpPr txBox="1"/>
          <p:nvPr/>
        </p:nvSpPr>
        <p:spPr>
          <a:xfrm>
            <a:off x="1554480" y="2606040"/>
            <a:ext cx="9875520" cy="731520"/>
          </a:xfrm>
          <a:prstGeom prst="rect">
            <a:avLst/>
          </a:prstGeom>
          <a:noFill/>
          <a:ln/>
        </p:spPr>
        <p:txBody>
          <a:bodyPr wrap="square" lIns="0" tIns="0" rIns="0" bIns="0" rtlCol="0" anchor="ctr"/>
          <a:lstStyle/>
          <a:p>
            <a:pPr algn="l" indent="0" marL="0">
              <a:buNone/>
            </a:pPr>
            <a:r>
              <a:rPr lang="en-US" sz="1800" dirty="0">
                <a:solidFill>
                  <a:schemeClr val="bg1"/>
                </a:solidFill>
              </a:rPr>
              <a:t>EC2 can match the speed with a 2 s check, but costs $20.62 a month whether or not receipts arrive</a:t>
            </a:r>
            <a:endParaRPr lang="en-US" sz="1800" dirty="0"/>
          </a:p>
        </p:txBody>
      </p:sp>
      <p:sp>
        <p:nvSpPr>
          <p:cNvPr id="7" name="Text 5"/>
          <p:cNvSpPr txBox="1"/>
          <p:nvPr/>
        </p:nvSpPr>
        <p:spPr>
          <a:xfrm>
            <a:off x="731520" y="3657600"/>
            <a:ext cx="548640" cy="548640"/>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tx1"/>
                </a:solidFill>
              </a:rPr>
              <a:t>3</a:t>
            </a:r>
            <a:endParaRPr lang="en-US" sz="1600" dirty="0"/>
          </a:p>
        </p:txBody>
      </p:sp>
      <p:sp>
        <p:nvSpPr>
          <p:cNvPr id="8" name="Text 6"/>
          <p:cNvSpPr txBox="1"/>
          <p:nvPr/>
        </p:nvSpPr>
        <p:spPr>
          <a:xfrm>
            <a:off x="1554480" y="3566160"/>
            <a:ext cx="9875520" cy="731520"/>
          </a:xfrm>
          <a:prstGeom prst="rect">
            <a:avLst/>
          </a:prstGeom>
          <a:noFill/>
          <a:ln/>
        </p:spPr>
        <p:txBody>
          <a:bodyPr wrap="square" lIns="0" tIns="0" rIns="0" bIns="0" rtlCol="0" anchor="ctr"/>
          <a:lstStyle/>
          <a:p>
            <a:pPr algn="l" indent="0" marL="0">
              <a:buNone/>
            </a:pPr>
            <a:r>
              <a:rPr lang="en-US" sz="1800" dirty="0">
                <a:solidFill>
                  <a:schemeClr val="bg1"/>
                </a:solidFill>
              </a:rPr>
              <a:t>Testing beat assumptions: lazy loading was 3.8x slower. Live on 626 real receipts, 81% were fully right and 55 were sent for review</a:t>
            </a:r>
            <a:endParaRPr lang="en-US" sz="1800" dirty="0"/>
          </a:p>
        </p:txBody>
      </p:sp>
      <p:sp>
        <p:nvSpPr>
          <p:cNvPr id="9" name="Text 7"/>
          <p:cNvSpPr txBox="1"/>
          <p:nvPr/>
        </p:nvSpPr>
        <p:spPr>
          <a:xfrm>
            <a:off x="731520" y="4617720"/>
            <a:ext cx="548640" cy="548640"/>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tx1"/>
                </a:solidFill>
              </a:rPr>
              <a:t>4</a:t>
            </a:r>
            <a:endParaRPr lang="en-US" sz="1600" dirty="0"/>
          </a:p>
        </p:txBody>
      </p:sp>
      <p:sp>
        <p:nvSpPr>
          <p:cNvPr id="10" name="Text 8"/>
          <p:cNvSpPr txBox="1"/>
          <p:nvPr/>
        </p:nvSpPr>
        <p:spPr>
          <a:xfrm>
            <a:off x="1554480" y="4526280"/>
            <a:ext cx="9875520" cy="731520"/>
          </a:xfrm>
          <a:prstGeom prst="rect">
            <a:avLst/>
          </a:prstGeom>
          <a:noFill/>
          <a:ln/>
        </p:spPr>
        <p:txBody>
          <a:bodyPr wrap="square" lIns="0" tIns="0" rIns="0" bIns="0" rtlCol="0" anchor="ctr"/>
          <a:lstStyle/>
          <a:p>
            <a:pPr algn="l" indent="0" marL="0">
              <a:buNone/>
            </a:pPr>
            <a:r>
              <a:rPr lang="en-US" sz="1800" dirty="0">
                <a:solidFill>
                  <a:schemeClr val="bg1"/>
                </a:solidFill>
              </a:rPr>
              <a:t>Doubtful results are flagged for review, but 37 wrong totals still slipped through unflagged</a:t>
            </a:r>
            <a:endParaRPr lang="en-US" sz="1800" dirty="0"/>
          </a:p>
        </p:txBody>
      </p:sp>
      <p:sp>
        <p:nvSpPr>
          <p:cNvPr id="11" name="Text 9"/>
          <p:cNvSpPr txBox="1"/>
          <p:nvPr/>
        </p:nvSpPr>
        <p:spPr>
          <a:xfrm>
            <a:off x="731520" y="5760720"/>
            <a:ext cx="9144000" cy="365760"/>
          </a:xfrm>
          <a:prstGeom prst="rect">
            <a:avLst/>
          </a:prstGeom>
          <a:noFill/>
          <a:ln/>
        </p:spPr>
        <p:txBody>
          <a:bodyPr wrap="square" lIns="0" tIns="0" rIns="0" bIns="0" rtlCol="0" anchor="t"/>
          <a:lstStyle/>
          <a:p>
            <a:pPr algn="l" indent="0" marL="0">
              <a:buNone/>
            </a:pPr>
            <a:r>
              <a:rPr lang="en-US" sz="1600" dirty="0">
                <a:solidFill>
                  <a:schemeClr val="accent3"/>
                </a:solidFill>
              </a:rPr>
              <a:t>Thank you. Questions are welcome.</a:t>
            </a:r>
            <a:endParaRPr lang="en-US" sz="1600" dirty="0"/>
          </a:p>
        </p:txBody>
      </p:sp>
    </p:spTree>
  </p:cSld>
  <p:clrMapOvr>
    <a:masterClrMapping/>
  </p:clrMapOvr>
</p:sld>
</file>

<file path=ppt/theme/theme1.xml><?xml version="1.0" encoding="utf-8"?>
<a:theme xmlns:a="http://schemas.openxmlformats.org/drawingml/2006/main" name="Receipt Pipeline">
  <a:themeElements>
    <a:clrScheme name="Receipt Pipeline">
      <a:dk1>
        <a:srgbClr val="14252B"/>
      </a:dk1>
      <a:lt1>
        <a:srgbClr val="FFFFFF"/>
      </a:lt1>
      <a:dk2>
        <a:srgbClr val="0F3D3E"/>
      </a:dk2>
      <a:lt2>
        <a:srgbClr val="EDF5F2"/>
      </a:lt2>
      <a:accent1>
        <a:srgbClr val="1B7F79"/>
      </a:accent1>
      <a:accent2>
        <a:srgbClr val="E8892B"/>
      </a:accent2>
      <a:accent3>
        <a:srgbClr val="9BD0C0"/>
      </a:accent3>
      <a:accent4>
        <a:srgbClr val="5B6B73"/>
      </a:accent4>
      <a:accent5>
        <a:srgbClr val="C0483B"/>
      </a:accent5>
      <a:accent6>
        <a:srgbClr val="FBE9D2"/>
      </a:accent6>
      <a:hlink>
        <a:srgbClr val="1B7F79"/>
      </a:hlink>
      <a:folHlink>
        <a:srgbClr val="5B6B73"/>
      </a:folHlink>
    </a:clrScheme>
    <a:fontScheme name="Receipt Pipelin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Serverless Receipt Digitization Pipeline on AWS - Final Review</dc:title>
  <dc:subject>PptxGenJS Presentation</dc:subject>
  <dc:creator>PptxGenJS</dc:creator>
  <cp:lastModifiedBy>PptxGenJS</cp:lastModifiedBy>
  <cp:revision>1</cp:revision>
  <dcterms:created xsi:type="dcterms:W3CDTF">2026-10-27T21:35:49Z</dcterms:created>
  <dcterms:modified xsi:type="dcterms:W3CDTF">2026-10-27T21:35:49Z</dcterms:modified>
</cp:coreProperties>
</file>